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3" r:id="rId4"/>
  </p:sldMasterIdLst>
  <p:notesMasterIdLst>
    <p:notesMasterId r:id="rId43"/>
  </p:notesMasterIdLst>
  <p:sldIdLst>
    <p:sldId id="2147483143" r:id="rId5"/>
    <p:sldId id="2147483177" r:id="rId6"/>
    <p:sldId id="2147483173" r:id="rId7"/>
    <p:sldId id="2147483175" r:id="rId8"/>
    <p:sldId id="2147483603" r:id="rId9"/>
    <p:sldId id="2147483170" r:id="rId10"/>
    <p:sldId id="2147483604" r:id="rId11"/>
    <p:sldId id="2147483174" r:id="rId12"/>
    <p:sldId id="2147483118" r:id="rId13"/>
    <p:sldId id="2147483171" r:id="rId14"/>
    <p:sldId id="2147483152" r:id="rId15"/>
    <p:sldId id="2147483138" r:id="rId16"/>
    <p:sldId id="2147483131" r:id="rId17"/>
    <p:sldId id="2147483142" r:id="rId18"/>
    <p:sldId id="2147483146" r:id="rId19"/>
    <p:sldId id="2147483148" r:id="rId20"/>
    <p:sldId id="2147483149" r:id="rId21"/>
    <p:sldId id="2147483150" r:id="rId22"/>
    <p:sldId id="2147483163" r:id="rId23"/>
    <p:sldId id="281" r:id="rId24"/>
    <p:sldId id="2147483164" r:id="rId25"/>
    <p:sldId id="2147483165" r:id="rId26"/>
    <p:sldId id="2147483155" r:id="rId27"/>
    <p:sldId id="2147483166" r:id="rId28"/>
    <p:sldId id="2147483167" r:id="rId29"/>
    <p:sldId id="2147483136" r:id="rId30"/>
    <p:sldId id="2147483145" r:id="rId31"/>
    <p:sldId id="2147483144" r:id="rId32"/>
    <p:sldId id="2147483141" r:id="rId33"/>
    <p:sldId id="2147483147" r:id="rId34"/>
    <p:sldId id="2147483158" r:id="rId35"/>
    <p:sldId id="2147483159" r:id="rId36"/>
    <p:sldId id="2147483160" r:id="rId37"/>
    <p:sldId id="2147483161" r:id="rId38"/>
    <p:sldId id="2147483162" r:id="rId39"/>
    <p:sldId id="2147483168" r:id="rId40"/>
    <p:sldId id="2147483169" r:id="rId41"/>
    <p:sldId id="214748312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11AE800-FF44-2313-BB18-EB52AAFFA88F}" name="Crews, Carey Leigh" initials="CL" userId="S::careyleigh.crews@lumen.com::e0353bbb-3f79-4618-9d89-e2e81942b16c" providerId="AD"/>
  <p188:author id="{93003D2A-A76E-1EAD-4A07-509D8E86ECDC}" name="Haynes-Gaspar, Ashley" initials="HGA" userId="S::Ashley.Haynes-Gaspar@lumen.com::3935d576-38d4-4921-be3b-e67bd449b806" providerId="AD"/>
  <p188:author id="{D22B5A2F-FDCC-19B7-38FA-DC421E3E9DA6}" name="Zahn, Tracy" initials="ZT" userId="S::tracy.zahn@lumen.com::92e6ecbb-e32b-4459-abe1-1821f06269df" providerId="AD"/>
  <p188:author id="{E789B843-9D5B-8C77-FEA8-DE250AF39394}" name="Crews, Carey Leigh" initials="CC" userId="S::CareyLeigh.Crews@lumen.com::e0353bbb-3f79-4618-9d89-e2e81942b16c" providerId="AD"/>
  <p188:author id="{2D78287E-4BBC-032E-4F87-1E1D4C68EC2C}" name="Koretz, Phil" initials="PK" userId="S::Phil.Koretz@lumen.com::0037e820-ad81-406b-9d31-9482b195afb0" providerId="AD"/>
  <p188:author id="{D8F75496-2063-DA13-F7B2-99C76C11BD3A}" name="Hendrickson, Brady" initials="" userId="S::brady.hendrickson@lumen.com::0064b1e8-6ec1-48f5-927a-21faad9035df" providerId="AD"/>
  <p188:author id="{51B6DEA0-4DF2-C0D3-D69D-E7437639BFAC}" name="Bandar, Anne" initials="BA" userId="S::anne.bandar@lumen.com::083af7f8-36cb-4ec0-bea2-79abead6b9cd" providerId="AD"/>
  <p188:author id="{E5801DA8-2779-700D-50C0-2C2C251E5497}" name="Cole, Autumn" initials="" userId="S::autumn.cole@lumen.com::98576606-8555-4498-a6ba-1d8359c9b675" providerId="AD"/>
  <p188:author id="{3871BCAD-19C9-5DC2-1DEE-9C270CFA087A}" name="Ortiz, Nerelys M" initials="NO" userId="S::nerelys.ortiz@lumen.com::ad3d8129-4061-47bd-b020-985564298e0e" providerId="AD"/>
  <p188:author id="{7EED05B7-69EA-C2BA-B3E8-6647832057DB}" name="Ortiz, Nerelys M" initials="ONM" userId="S::Nerelys.Ortiz@lumen.com::ad3d8129-4061-47bd-b020-985564298e0e" providerId="AD"/>
  <p188:author id="{A5C8A7BA-A99E-176F-8009-CDC27EF4D5EE}" name="Bandar, Anne" initials="AB" userId="S::Anne.Bandar@Lumen.com::083af7f8-36cb-4ec0-bea2-79abead6b9cd" providerId="AD"/>
  <p188:author id="{7E578BD2-9A1A-A7C6-7752-E78549E8718D}" name="Labbe, Andrew" initials="LA" userId="S::andrew.labbe@lumen.com::635668bd-d49f-47f1-8e97-7f81d96d8fbc" providerId="AD"/>
  <p188:author id="{82E488D4-FF12-D590-576A-8CAE984C1C8B}" name="Davis, Kerrie" initials="DK" userId="S::kerrie.davis@lumen.com::c51bb37d-4087-48d9-abf4-70f9632f786f" providerId="AD"/>
  <p188:author id="{923AE3D7-4C08-8483-C937-381B29ABC9B3}" name="Shazab, Shanil" initials="SS" userId="S::shanil.shazab@lumen.com::cd58badb-8d9f-4256-8aea-2f71f86d4111" providerId="AD"/>
  <p188:author id="{DC973EE0-F418-032B-4015-8F6D3A4B40CC}" name="Redding, Erin" initials="RE" userId="S::Erin.Redding@lumen.com::f420f557-5baf-4642-adf3-184d0241539a" providerId="AD"/>
  <p188:author id="{D8B632E2-7337-E3CF-C11E-EA28A90DE88D}" name="Regnier, Amy" initials="RA" userId="S::Amy.Regnier@lumen.com::3e877262-368d-4b30-baef-b349696c8e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582F"/>
    <a:srgbClr val="DD695B"/>
    <a:srgbClr val="DA8600"/>
    <a:srgbClr val="8AC9A4"/>
    <a:srgbClr val="8CC9A7"/>
    <a:srgbClr val="7381CD"/>
    <a:srgbClr val="2AEDE5"/>
    <a:srgbClr val="003233"/>
    <a:srgbClr val="FB8328"/>
    <a:srgbClr val="007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324334-B493-554F-AFD1-F6ABD72C857C}" v="47" dt="2026-01-27T15:31:33.140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37"/>
    <p:restoredTop sz="72351" autoAdjust="0"/>
  </p:normalViewPr>
  <p:slideViewPr>
    <p:cSldViewPr>
      <p:cViewPr>
        <p:scale>
          <a:sx n="100" d="100"/>
          <a:sy n="100" d="100"/>
        </p:scale>
        <p:origin x="1528" y="464"/>
      </p:cViewPr>
      <p:guideLst>
        <p:guide orient="horz" pos="864"/>
        <p:guide pos="288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../embeddings/oleObject1.bin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../embeddings/oleObject2.bin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../embeddings/oleObject3.bin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3818868716549486E-2"/>
          <c:y val="6.9568794763020539E-2"/>
          <c:w val="0.89627939548577529"/>
          <c:h val="0.784617684756450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'[2023 Actuals - 2024 Budget Comparisons.xlsx]Prod Chart by Segment'!$A$38</c:f>
              <c:strCache>
                <c:ptCount val="1"/>
                <c:pt idx="0">
                  <c:v>Public Sector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B832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BBC-B945-BAAC-F8E4DB5FB319}"/>
              </c:ext>
            </c:extLst>
          </c:dPt>
          <c:dPt>
            <c:idx val="1"/>
            <c:invertIfNegative val="0"/>
            <c:bubble3D val="0"/>
            <c:spPr>
              <a:solidFill>
                <a:srgbClr val="FB832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BBC-B945-BAAC-F8E4DB5FB319}"/>
              </c:ext>
            </c:extLst>
          </c:dPt>
          <c:dPt>
            <c:idx val="2"/>
            <c:invertIfNegative val="0"/>
            <c:bubble3D val="0"/>
            <c:spPr>
              <a:solidFill>
                <a:srgbClr val="FB832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BBC-B945-BAAC-F8E4DB5FB319}"/>
              </c:ext>
            </c:extLst>
          </c:dPt>
          <c:dPt>
            <c:idx val="3"/>
            <c:invertIfNegative val="0"/>
            <c:bubble3D val="0"/>
            <c:spPr>
              <a:solidFill>
                <a:srgbClr val="FB832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BBC-B945-BAAC-F8E4DB5FB319}"/>
              </c:ext>
            </c:extLst>
          </c:dPt>
          <c:dPt>
            <c:idx val="4"/>
            <c:invertIfNegative val="0"/>
            <c:bubble3D val="0"/>
            <c:spPr>
              <a:solidFill>
                <a:srgbClr val="8E9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BBC-B945-BAAC-F8E4DB5FB319}"/>
              </c:ext>
            </c:extLst>
          </c:dPt>
          <c:dPt>
            <c:idx val="5"/>
            <c:invertIfNegative val="0"/>
            <c:bubble3D val="0"/>
            <c:spPr>
              <a:solidFill>
                <a:srgbClr val="8E9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BBC-B945-BAAC-F8E4DB5FB319}"/>
              </c:ext>
            </c:extLst>
          </c:dPt>
          <c:dPt>
            <c:idx val="6"/>
            <c:invertIfNegative val="0"/>
            <c:bubble3D val="0"/>
            <c:spPr>
              <a:solidFill>
                <a:srgbClr val="8E9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BBC-B945-BAAC-F8E4DB5FB319}"/>
              </c:ext>
            </c:extLst>
          </c:dPt>
          <c:dPt>
            <c:idx val="7"/>
            <c:invertIfNegative val="0"/>
            <c:bubble3D val="0"/>
            <c:spPr>
              <a:solidFill>
                <a:srgbClr val="8E9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BBC-B945-BAAC-F8E4DB5FB319}"/>
              </c:ext>
            </c:extLst>
          </c:dPt>
          <c:cat>
            <c:strRef>
              <c:f>'[2023 Actuals - 2024 Budget Comparisons.xlsx]Prod Chart by Segment'!$B$37:$I$37</c:f>
              <c:strCache>
                <c:ptCount val="8"/>
                <c:pt idx="0">
                  <c:v>1Q23</c:v>
                </c:pt>
                <c:pt idx="1">
                  <c:v>2Q23</c:v>
                </c:pt>
                <c:pt idx="2">
                  <c:v>3Q23</c:v>
                </c:pt>
                <c:pt idx="3">
                  <c:v>4Q23</c:v>
                </c:pt>
                <c:pt idx="4">
                  <c:v>1Q24</c:v>
                </c:pt>
                <c:pt idx="5">
                  <c:v>2Q24</c:v>
                </c:pt>
                <c:pt idx="6">
                  <c:v>3Q24</c:v>
                </c:pt>
                <c:pt idx="7">
                  <c:v>4Q24</c:v>
                </c:pt>
              </c:strCache>
            </c:strRef>
          </c:cat>
          <c:val>
            <c:numRef>
              <c:f>'[2023 Actuals - 2024 Budget Comparisons.xlsx]Prod Chart by Segment'!$B$38:$I$38</c:f>
              <c:numCache>
                <c:formatCode>_(* #,##0_);_(* \(#,##0\);_(* "-"??_);_(@_)</c:formatCode>
                <c:ptCount val="8"/>
                <c:pt idx="0">
                  <c:v>13394.628477157361</c:v>
                </c:pt>
                <c:pt idx="1">
                  <c:v>14832.286072351419</c:v>
                </c:pt>
                <c:pt idx="2">
                  <c:v>41665.274139784946</c:v>
                </c:pt>
                <c:pt idx="3">
                  <c:v>19057.36091537133</c:v>
                </c:pt>
                <c:pt idx="4">
                  <c:v>9411.9456790123459</c:v>
                </c:pt>
                <c:pt idx="5">
                  <c:v>14706.596618357487</c:v>
                </c:pt>
                <c:pt idx="6">
                  <c:v>20838.884057971016</c:v>
                </c:pt>
                <c:pt idx="7">
                  <c:v>14276.603864734299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BBC-B945-BAAC-F8E4DB5FB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3261295"/>
        <c:axId val="255366064"/>
      </c:barChart>
      <c:catAx>
        <c:axId val="383261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venir Next LT Pro" panose="020B05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55366064"/>
        <c:crosses val="autoZero"/>
        <c:auto val="1"/>
        <c:lblAlgn val="ctr"/>
        <c:lblOffset val="100"/>
        <c:noMultiLvlLbl val="0"/>
      </c:catAx>
      <c:valAx>
        <c:axId val="255366064"/>
        <c:scaling>
          <c:orientation val="minMax"/>
          <c:max val="4500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383261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Avenir Next LT Pro" panose="020B0504020202020204" pitchFamily="34" charset="0"/>
          <a:ea typeface="+mn-ea"/>
          <a:cs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461613255838712E-2"/>
          <c:y val="8.2816338966789194E-2"/>
          <c:w val="0.90538386744161292"/>
          <c:h val="0.7296954845720866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B832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8A-E842-9225-C6A8546FE434}"/>
              </c:ext>
            </c:extLst>
          </c:dPt>
          <c:dPt>
            <c:idx val="1"/>
            <c:invertIfNegative val="0"/>
            <c:bubble3D val="0"/>
            <c:spPr>
              <a:solidFill>
                <a:srgbClr val="FB832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8A-E842-9225-C6A8546FE434}"/>
              </c:ext>
            </c:extLst>
          </c:dPt>
          <c:dPt>
            <c:idx val="2"/>
            <c:invertIfNegative val="0"/>
            <c:bubble3D val="0"/>
            <c:spPr>
              <a:solidFill>
                <a:srgbClr val="FB832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58A-E842-9225-C6A8546FE434}"/>
              </c:ext>
            </c:extLst>
          </c:dPt>
          <c:dPt>
            <c:idx val="3"/>
            <c:invertIfNegative val="0"/>
            <c:bubble3D val="0"/>
            <c:spPr>
              <a:solidFill>
                <a:srgbClr val="FB832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58A-E842-9225-C6A8546FE434}"/>
              </c:ext>
            </c:extLst>
          </c:dPt>
          <c:dPt>
            <c:idx val="4"/>
            <c:invertIfNegative val="0"/>
            <c:bubble3D val="0"/>
            <c:spPr>
              <a:solidFill>
                <a:srgbClr val="8E9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58A-E842-9225-C6A8546FE434}"/>
              </c:ext>
            </c:extLst>
          </c:dPt>
          <c:dPt>
            <c:idx val="5"/>
            <c:invertIfNegative val="0"/>
            <c:bubble3D val="0"/>
            <c:spPr>
              <a:solidFill>
                <a:srgbClr val="8E9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A58A-E842-9225-C6A8546FE434}"/>
              </c:ext>
            </c:extLst>
          </c:dPt>
          <c:dPt>
            <c:idx val="6"/>
            <c:invertIfNegative val="0"/>
            <c:bubble3D val="0"/>
            <c:spPr>
              <a:solidFill>
                <a:srgbClr val="8E9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A58A-E842-9225-C6A8546FE434}"/>
              </c:ext>
            </c:extLst>
          </c:dPt>
          <c:dPt>
            <c:idx val="7"/>
            <c:invertIfNegative val="0"/>
            <c:bubble3D val="0"/>
            <c:spPr>
              <a:solidFill>
                <a:srgbClr val="8E9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A58A-E842-9225-C6A8546FE434}"/>
              </c:ext>
            </c:extLst>
          </c:dPt>
          <c:cat>
            <c:strRef>
              <c:f>'[2023 Actuals - 2024 Budget Comparisons.xlsx]Prod Chart by Segment'!$B$24:$I$24</c:f>
              <c:strCache>
                <c:ptCount val="8"/>
                <c:pt idx="0">
                  <c:v>1Q23</c:v>
                </c:pt>
                <c:pt idx="1">
                  <c:v>2Q23</c:v>
                </c:pt>
                <c:pt idx="2">
                  <c:v>3Q23</c:v>
                </c:pt>
                <c:pt idx="3">
                  <c:v>4Q23</c:v>
                </c:pt>
                <c:pt idx="4">
                  <c:v>1Q24</c:v>
                </c:pt>
                <c:pt idx="5">
                  <c:v>2Q24</c:v>
                </c:pt>
                <c:pt idx="6">
                  <c:v>3Q24</c:v>
                </c:pt>
                <c:pt idx="7">
                  <c:v>4Q24</c:v>
                </c:pt>
              </c:strCache>
            </c:strRef>
          </c:cat>
          <c:val>
            <c:numRef>
              <c:f>'[2023 Actuals - 2024 Budget Comparisons.xlsx]Prod Chart by Segment'!$B$25:$I$25</c:f>
              <c:numCache>
                <c:formatCode>_(* #,##0_);_(* \(#,##0\);_(* "-"??_);_(@_)</c:formatCode>
                <c:ptCount val="8"/>
                <c:pt idx="0">
                  <c:v>3312.9473846491228</c:v>
                </c:pt>
                <c:pt idx="1">
                  <c:v>3162.0516446414176</c:v>
                </c:pt>
                <c:pt idx="2">
                  <c:v>3039.6750863863144</c:v>
                </c:pt>
                <c:pt idx="3">
                  <c:v>2756.9126057845742</c:v>
                </c:pt>
                <c:pt idx="4">
                  <c:v>3131.3117843097648</c:v>
                </c:pt>
                <c:pt idx="5">
                  <c:v>3680.3720158488059</c:v>
                </c:pt>
                <c:pt idx="6">
                  <c:v>4003.2070105158732</c:v>
                </c:pt>
                <c:pt idx="7">
                  <c:v>4020.6805556216932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58A-E842-9225-C6A8546FE4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836127"/>
        <c:axId val="90104735"/>
      </c:barChart>
      <c:catAx>
        <c:axId val="78836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venir Next LT Pro" panose="020B05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90104735"/>
        <c:crosses val="autoZero"/>
        <c:auto val="1"/>
        <c:lblAlgn val="ctr"/>
        <c:lblOffset val="100"/>
        <c:noMultiLvlLbl val="0"/>
      </c:catAx>
      <c:valAx>
        <c:axId val="90104735"/>
        <c:scaling>
          <c:orientation val="minMax"/>
          <c:max val="14500"/>
          <c:min val="0"/>
        </c:scaling>
        <c:delete val="0"/>
        <c:axPos val="l"/>
        <c:majorGridlines>
          <c:spPr>
            <a:ln w="0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788361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Avenir Next LT Pro" panose="020B0504020202020204" pitchFamily="34" charset="0"/>
          <a:ea typeface="+mn-ea"/>
          <a:cs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268447339628461"/>
          <c:y val="9.1760594834607606E-2"/>
          <c:w val="0.88758900722565492"/>
          <c:h val="0.714776937022148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'[2023 Actuals - 2024 Budget Comparisons.xlsx]Prod Chart by Segment'!$A$18</c:f>
              <c:strCache>
                <c:ptCount val="1"/>
                <c:pt idx="0">
                  <c:v>Large Enterprise</c:v>
                </c:pt>
              </c:strCache>
            </c:strRef>
          </c:tx>
          <c:spPr>
            <a:solidFill>
              <a:srgbClr val="FB8328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B832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133-3146-BFB1-34E7565E55A8}"/>
              </c:ext>
            </c:extLst>
          </c:dPt>
          <c:dPt>
            <c:idx val="1"/>
            <c:invertIfNegative val="0"/>
            <c:bubble3D val="0"/>
            <c:spPr>
              <a:solidFill>
                <a:srgbClr val="FB832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133-3146-BFB1-34E7565E55A8}"/>
              </c:ext>
            </c:extLst>
          </c:dPt>
          <c:dPt>
            <c:idx val="2"/>
            <c:invertIfNegative val="0"/>
            <c:bubble3D val="0"/>
            <c:spPr>
              <a:solidFill>
                <a:srgbClr val="FB832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133-3146-BFB1-34E7565E55A8}"/>
              </c:ext>
            </c:extLst>
          </c:dPt>
          <c:dPt>
            <c:idx val="3"/>
            <c:invertIfNegative val="0"/>
            <c:bubble3D val="0"/>
            <c:spPr>
              <a:solidFill>
                <a:srgbClr val="FB832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133-3146-BFB1-34E7565E55A8}"/>
              </c:ext>
            </c:extLst>
          </c:dPt>
          <c:dPt>
            <c:idx val="4"/>
            <c:invertIfNegative val="0"/>
            <c:bubble3D val="0"/>
            <c:spPr>
              <a:solidFill>
                <a:srgbClr val="8E9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133-3146-BFB1-34E7565E55A8}"/>
              </c:ext>
            </c:extLst>
          </c:dPt>
          <c:dPt>
            <c:idx val="5"/>
            <c:invertIfNegative val="0"/>
            <c:bubble3D val="0"/>
            <c:spPr>
              <a:solidFill>
                <a:srgbClr val="8E9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133-3146-BFB1-34E7565E55A8}"/>
              </c:ext>
            </c:extLst>
          </c:dPt>
          <c:dPt>
            <c:idx val="6"/>
            <c:invertIfNegative val="0"/>
            <c:bubble3D val="0"/>
            <c:spPr>
              <a:solidFill>
                <a:srgbClr val="8E9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133-3146-BFB1-34E7565E55A8}"/>
              </c:ext>
            </c:extLst>
          </c:dPt>
          <c:dPt>
            <c:idx val="7"/>
            <c:invertIfNegative val="0"/>
            <c:bubble3D val="0"/>
            <c:spPr>
              <a:solidFill>
                <a:srgbClr val="8E93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133-3146-BFB1-34E7565E55A8}"/>
              </c:ext>
            </c:extLst>
          </c:dPt>
          <c:cat>
            <c:strRef>
              <c:f>'[2023 Actuals - 2024 Budget Comparisons.xlsx]Prod Chart by Segment'!$B$17:$I$17</c:f>
              <c:strCache>
                <c:ptCount val="8"/>
                <c:pt idx="0">
                  <c:v>1Q23</c:v>
                </c:pt>
                <c:pt idx="1">
                  <c:v>2Q23</c:v>
                </c:pt>
                <c:pt idx="2">
                  <c:v>3Q23</c:v>
                </c:pt>
                <c:pt idx="3">
                  <c:v>4Q23</c:v>
                </c:pt>
                <c:pt idx="4">
                  <c:v>1Q24</c:v>
                </c:pt>
                <c:pt idx="5">
                  <c:v>2Q24</c:v>
                </c:pt>
                <c:pt idx="6">
                  <c:v>3Q24</c:v>
                </c:pt>
                <c:pt idx="7">
                  <c:v>4Q24</c:v>
                </c:pt>
              </c:strCache>
            </c:strRef>
          </c:cat>
          <c:val>
            <c:numRef>
              <c:f>'[2023 Actuals - 2024 Budget Comparisons.xlsx]Prod Chart by Segment'!$B$18:$I$18</c:f>
              <c:numCache>
                <c:formatCode>_(* #,##0_);_(* \(#,##0\);_(* "-"??_);_(@_)</c:formatCode>
                <c:ptCount val="8"/>
                <c:pt idx="0">
                  <c:v>12288.044506044445</c:v>
                </c:pt>
                <c:pt idx="1">
                  <c:v>12994.579384116902</c:v>
                </c:pt>
                <c:pt idx="2">
                  <c:v>12454.351113085237</c:v>
                </c:pt>
                <c:pt idx="3">
                  <c:v>12757.114913511419</c:v>
                </c:pt>
                <c:pt idx="4">
                  <c:v>12107.628923654707</c:v>
                </c:pt>
                <c:pt idx="5">
                  <c:v>13310.96756118568</c:v>
                </c:pt>
                <c:pt idx="6">
                  <c:v>14161.07270604027</c:v>
                </c:pt>
                <c:pt idx="7">
                  <c:v>14026.847874161074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C133-3146-BFB1-34E7565E55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79126336"/>
        <c:axId val="2075377888"/>
      </c:barChart>
      <c:catAx>
        <c:axId val="2079126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venir Next LT Pro" panose="020B05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075377888"/>
        <c:crosses val="autoZero"/>
        <c:auto val="1"/>
        <c:lblAlgn val="ctr"/>
        <c:lblOffset val="100"/>
        <c:noMultiLvlLbl val="0"/>
      </c:catAx>
      <c:valAx>
        <c:axId val="2075377888"/>
        <c:scaling>
          <c:orientation val="minMax"/>
        </c:scaling>
        <c:delete val="0"/>
        <c:axPos val="l"/>
        <c:majorGridlines>
          <c:spPr>
            <a:ln w="0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079126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Avenir Next LT Pro" panose="020B0504020202020204" pitchFamily="34" charset="0"/>
          <a:cs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CBF-9645-9559-5C96886E4FF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CBF-9645-9559-5C96886E4FF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CBF-9645-9559-5C96886E4FF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CBF-9645-9559-5C96886E4FF9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CBF-9645-9559-5C96886E4F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venir Next LT Pro" panose="020B0504020202020204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venir Next LT Pro" panose="020B0504020202020204" pitchFamily="34" charset="77"/>
              </a:defRPr>
            </a:lvl1pPr>
          </a:lstStyle>
          <a:p>
            <a:fld id="{72A00696-9BD7-5046-8107-6B63D3657C74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venir Next LT Pro" panose="020B0504020202020204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venir Next LT Pro" panose="020B0504020202020204" pitchFamily="34" charset="77"/>
              </a:defRPr>
            </a:lvl1pPr>
          </a:lstStyle>
          <a:p>
            <a:fld id="{503E9FBA-0371-CD46-BFF3-A4601F314E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30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54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AB568-F2E5-CB49-5E18-44820CD8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DED4A-CD1A-21E1-A801-E45F0A5DC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35E7B-B5FA-C9E9-9CDC-6C40EA9D8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62783-6520-274D-0E74-50898B7995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762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think of Ollama as the interface that allows you to interact with an LLM on your machine</a:t>
            </a:r>
            <a:br>
              <a:rPr lang="en-US" dirty="0"/>
            </a:br>
            <a:r>
              <a:rPr lang="en-US" dirty="0"/>
              <a:t>Available across multiple platforms</a:t>
            </a:r>
            <a:br>
              <a:rPr lang="en-US" dirty="0"/>
            </a:br>
            <a:r>
              <a:rPr lang="en-US" dirty="0"/>
              <a:t>With Ollama you can personalize a model to fit your specific 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74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89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C8691-002C-FA9A-134C-2CB236C9B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D45C9-F59C-A353-6966-AFE2259DF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4BB86-8BEA-C312-F854-5AEA525B8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Start with prompts: system prompt sets behavior; tasks prompt set 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Few-shot improves consistency without ‘training’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RAG adds grounding by retrieving internal context with citations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Tools/API add real-time truth safely via an allow-list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Lora is the step where we adapt behavior permanently with an adapter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F9C46-D17F-2952-14F4-16CB36C7C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8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62EE1-3573-0B2B-3318-48535E70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45F63-191C-5770-9719-174BF7A1B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0B326-DD9C-56B7-CA3E-C33760C88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you go on a downloading spree, you want to make sure that you are going to the company’s AI Governance site. </a:t>
            </a:r>
            <a:br>
              <a:rPr lang="en-US" dirty="0"/>
            </a:br>
            <a:r>
              <a:rPr lang="en-US" dirty="0"/>
              <a:t>Check to see if the model is on the approved list and not performing prohibited actions. If you have questions or are unsure, reach out to the AI Governance DL.</a:t>
            </a:r>
            <a:br>
              <a:rPr lang="en-US" dirty="0"/>
            </a:br>
            <a:r>
              <a:rPr lang="en-US" dirty="0"/>
              <a:t>The point of today and presenting Ollama to you, is, if you haven’t already is to see and think about what is possible.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C3632-B363-055D-99DA-5B2283756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04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45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15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26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836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9530" indent="-169530">
              <a:buFont typeface="Symbol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C07414-1BC9-4231-9F4C-618B41DCF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1912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ctangular orange and white rectangle with a white center&#10;&#10;AI-generated content may be incorrect.">
            <a:extLst>
              <a:ext uri="{FF2B5EF4-FFF2-40B4-BE49-F238E27FC236}">
                <a16:creationId xmlns:a16="http://schemas.microsoft.com/office/drawing/2014/main" id="{C802DEA6-C785-FDF2-02D0-E4256EF1F0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Lumen Logo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37044ACC-96FA-F10E-46A7-A53B536AF7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9084" y="6269524"/>
            <a:ext cx="1622323" cy="431960"/>
          </a:xfrm>
          <a:prstGeom prst="rect">
            <a:avLst/>
          </a:prstGeom>
        </p:spPr>
      </p:pic>
      <p:sp>
        <p:nvSpPr>
          <p:cNvPr id="8" name="Subtitle">
            <a:extLst>
              <a:ext uri="{FF2B5EF4-FFF2-40B4-BE49-F238E27FC236}">
                <a16:creationId xmlns:a16="http://schemas.microsoft.com/office/drawing/2014/main" id="{7C58EBB0-F762-6A7E-883A-8CE7523F8C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99406" y="3723172"/>
            <a:ext cx="7270476" cy="783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tx2"/>
                </a:solidFill>
                <a:latin typeface="Avenir Next LT Pro Demi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With two lines of copy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E975D98E-0D00-614F-51AC-8BE572136F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99406" y="2370171"/>
            <a:ext cx="7270476" cy="126523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3600" b="1" i="0">
                <a:solidFill>
                  <a:schemeClr val="tx2"/>
                </a:solidFill>
                <a:latin typeface="Avenir Next LT Pro" panose="020B0504020202020204" pitchFamily="34" charset="77"/>
              </a:defRPr>
            </a:lvl1pPr>
            <a:lvl2pPr marL="457200" indent="0">
              <a:buFontTx/>
              <a:buNone/>
              <a:defRPr sz="6000" b="1" i="0">
                <a:latin typeface="Avenir Next LT Pro" panose="020B0504020202020204" pitchFamily="34" charset="77"/>
              </a:defRPr>
            </a:lvl2pPr>
            <a:lvl3pPr marL="914400" indent="0">
              <a:buFontTx/>
              <a:buNone/>
              <a:defRPr sz="6000" b="1" i="0">
                <a:latin typeface="Avenir Next LT Pro" panose="020B0504020202020204" pitchFamily="34" charset="77"/>
              </a:defRPr>
            </a:lvl3pPr>
            <a:lvl4pPr marL="1371600" indent="0">
              <a:buFontTx/>
              <a:buNone/>
              <a:defRPr sz="6000" b="1" i="0">
                <a:latin typeface="Avenir Next LT Pro" panose="020B0504020202020204" pitchFamily="34" charset="77"/>
              </a:defRPr>
            </a:lvl4pPr>
            <a:lvl5pPr marL="1828800" indent="0">
              <a:buFontTx/>
              <a:buNone/>
              <a:defRPr sz="6000" b="1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93ACFABC-27EF-9C68-A69B-ADE8E15003C8}"/>
              </a:ext>
            </a:extLst>
          </p:cNvPr>
          <p:cNvSpPr txBox="1">
            <a:spLocks/>
          </p:cNvSpPr>
          <p:nvPr userDrawn="1"/>
        </p:nvSpPr>
        <p:spPr>
          <a:xfrm>
            <a:off x="665810" y="6431096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DEF6F00-4B5F-120F-4678-D5B3AC41DE55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bg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04121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ange Gradient">
            <a:extLst>
              <a:ext uri="{FF2B5EF4-FFF2-40B4-BE49-F238E27FC236}">
                <a16:creationId xmlns:a16="http://schemas.microsoft.com/office/drawing/2014/main" id="{CBA46A9A-B796-7A8D-1698-7D3692A5FD89}"/>
              </a:ext>
            </a:extLst>
          </p:cNvPr>
          <p:cNvSpPr/>
          <p:nvPr userDrawn="1"/>
        </p:nvSpPr>
        <p:spPr>
          <a:xfrm>
            <a:off x="-7816" y="0"/>
            <a:ext cx="12199816" cy="5884504"/>
          </a:xfrm>
          <a:prstGeom prst="rect">
            <a:avLst/>
          </a:prstGeom>
          <a:gradFill flip="none" rotWithShape="1">
            <a:gsLst>
              <a:gs pos="0">
                <a:srgbClr val="FB8429"/>
              </a:gs>
              <a:gs pos="100000">
                <a:srgbClr val="F95E4A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68C9B179-27EF-D9F0-527E-DEC0FE67CB5E}"/>
              </a:ext>
            </a:extLst>
          </p:cNvPr>
          <p:cNvSpPr txBox="1">
            <a:spLocks/>
          </p:cNvSpPr>
          <p:nvPr userDrawn="1"/>
        </p:nvSpPr>
        <p:spPr>
          <a:xfrm>
            <a:off x="665810" y="6431096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4" name="E Bar Shape">
            <a:extLst>
              <a:ext uri="{FF2B5EF4-FFF2-40B4-BE49-F238E27FC236}">
                <a16:creationId xmlns:a16="http://schemas.microsoft.com/office/drawing/2014/main" id="{50DBC5FE-FE26-BAE2-93A2-4C688416C8F5}"/>
              </a:ext>
            </a:extLst>
          </p:cNvPr>
          <p:cNvSpPr/>
          <p:nvPr userDrawn="1"/>
        </p:nvSpPr>
        <p:spPr>
          <a:xfrm>
            <a:off x="3167404" y="1376909"/>
            <a:ext cx="8455844" cy="2743199"/>
          </a:xfrm>
          <a:custGeom>
            <a:avLst/>
            <a:gdLst>
              <a:gd name="connsiteX0" fmla="*/ 457210 w 8455844"/>
              <a:gd name="connsiteY0" fmla="*/ 0 h 2743199"/>
              <a:gd name="connsiteX1" fmla="*/ 7998635 w 8455844"/>
              <a:gd name="connsiteY1" fmla="*/ 0 h 2743199"/>
              <a:gd name="connsiteX2" fmla="*/ 8455844 w 8455844"/>
              <a:gd name="connsiteY2" fmla="*/ 457209 h 2743199"/>
              <a:gd name="connsiteX3" fmla="*/ 8455844 w 8455844"/>
              <a:gd name="connsiteY3" fmla="*/ 2285990 h 2743199"/>
              <a:gd name="connsiteX4" fmla="*/ 7998635 w 8455844"/>
              <a:gd name="connsiteY4" fmla="*/ 2743199 h 2743199"/>
              <a:gd name="connsiteX5" fmla="*/ 7721505 w 8455844"/>
              <a:gd name="connsiteY5" fmla="*/ 2743199 h 2743199"/>
              <a:gd name="connsiteX6" fmla="*/ 457210 w 8455844"/>
              <a:gd name="connsiteY6" fmla="*/ 2743199 h 2743199"/>
              <a:gd name="connsiteX7" fmla="*/ 0 w 8455844"/>
              <a:gd name="connsiteY7" fmla="*/ 2743199 h 2743199"/>
              <a:gd name="connsiteX8" fmla="*/ 0 w 8455844"/>
              <a:gd name="connsiteY8" fmla="*/ 561543 h 2743199"/>
              <a:gd name="connsiteX9" fmla="*/ 1 w 8455844"/>
              <a:gd name="connsiteY9" fmla="*/ 561543 h 2743199"/>
              <a:gd name="connsiteX10" fmla="*/ 1 w 8455844"/>
              <a:gd name="connsiteY10" fmla="*/ 457209 h 2743199"/>
              <a:gd name="connsiteX11" fmla="*/ 457210 w 8455844"/>
              <a:gd name="connsiteY11" fmla="*/ 0 h 2743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455844" h="2743199">
                <a:moveTo>
                  <a:pt x="457210" y="0"/>
                </a:moveTo>
                <a:lnTo>
                  <a:pt x="7998635" y="0"/>
                </a:lnTo>
                <a:cubicBezTo>
                  <a:pt x="8251145" y="0"/>
                  <a:pt x="8455844" y="204699"/>
                  <a:pt x="8455844" y="457209"/>
                </a:cubicBezTo>
                <a:lnTo>
                  <a:pt x="8455844" y="2285990"/>
                </a:lnTo>
                <a:cubicBezTo>
                  <a:pt x="8455844" y="2538500"/>
                  <a:pt x="8251145" y="2743199"/>
                  <a:pt x="7998635" y="2743199"/>
                </a:cubicBezTo>
                <a:lnTo>
                  <a:pt x="7721505" y="2743199"/>
                </a:lnTo>
                <a:lnTo>
                  <a:pt x="457210" y="2743199"/>
                </a:lnTo>
                <a:lnTo>
                  <a:pt x="0" y="2743199"/>
                </a:lnTo>
                <a:lnTo>
                  <a:pt x="0" y="561543"/>
                </a:lnTo>
                <a:lnTo>
                  <a:pt x="1" y="561543"/>
                </a:lnTo>
                <a:lnTo>
                  <a:pt x="1" y="457209"/>
                </a:lnTo>
                <a:cubicBezTo>
                  <a:pt x="1" y="204699"/>
                  <a:pt x="204700" y="0"/>
                  <a:pt x="457210" y="0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 panose="020B0504020202020204" pitchFamily="34" charset="77"/>
              <a:ea typeface="+mn-ea"/>
              <a:cs typeface="+mn-cs"/>
            </a:endParaRPr>
          </a:p>
        </p:txBody>
      </p:sp>
      <p:sp>
        <p:nvSpPr>
          <p:cNvPr id="2" name="Blue Bar">
            <a:extLst>
              <a:ext uri="{FF2B5EF4-FFF2-40B4-BE49-F238E27FC236}">
                <a16:creationId xmlns:a16="http://schemas.microsoft.com/office/drawing/2014/main" id="{4FE90A29-32CE-FCE6-3F74-A0FD7E472078}"/>
              </a:ext>
            </a:extLst>
          </p:cNvPr>
          <p:cNvSpPr/>
          <p:nvPr userDrawn="1"/>
        </p:nvSpPr>
        <p:spPr>
          <a:xfrm>
            <a:off x="1036" y="5884505"/>
            <a:ext cx="12198780" cy="457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C3266E9-9311-00FB-8E05-3916218301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8005" y="3027436"/>
            <a:ext cx="7270476" cy="783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venir Next LT Pro Demi" panose="020B0504020202020204" pitchFamily="34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r>
              <a:rPr lang="en-US" dirty="0"/>
              <a:t>With two lines of copy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7C9E512-BF07-C95F-C9E7-4B28F3BEEF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8005" y="1674435"/>
            <a:ext cx="7270476" cy="126523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36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  <a:lvl2pPr marL="457200" indent="0">
              <a:buFontTx/>
              <a:buNone/>
              <a:defRPr sz="6000" b="1" i="0">
                <a:latin typeface="Avenir Next LT Pro" panose="020B0504020202020204" pitchFamily="34" charset="77"/>
              </a:defRPr>
            </a:lvl2pPr>
            <a:lvl3pPr marL="914400" indent="0">
              <a:buFontTx/>
              <a:buNone/>
              <a:defRPr sz="6000" b="1" i="0">
                <a:latin typeface="Avenir Next LT Pro" panose="020B0504020202020204" pitchFamily="34" charset="77"/>
              </a:defRPr>
            </a:lvl3pPr>
            <a:lvl4pPr marL="1371600" indent="0">
              <a:buFontTx/>
              <a:buNone/>
              <a:defRPr sz="6000" b="1" i="0">
                <a:latin typeface="Avenir Next LT Pro" panose="020B0504020202020204" pitchFamily="34" charset="77"/>
              </a:defRPr>
            </a:lvl4pPr>
            <a:lvl5pPr marL="1828800" indent="0">
              <a:buFontTx/>
              <a:buNone/>
              <a:defRPr sz="6000" b="1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3678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Op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Image">
            <a:extLst>
              <a:ext uri="{FF2B5EF4-FFF2-40B4-BE49-F238E27FC236}">
                <a16:creationId xmlns:a16="http://schemas.microsoft.com/office/drawing/2014/main" id="{1899C943-9670-FB21-EC51-415905F5A0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68C9B179-27EF-D9F0-527E-DEC0FE67CB5E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097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C3266E9-9311-00FB-8E05-391621830179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145372" y="4344793"/>
            <a:ext cx="9270836" cy="783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venir Next LT Pro Demi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With two lines of copy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7C9E512-BF07-C95F-C9E7-4B28F3BEEF9E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145371" y="2236299"/>
            <a:ext cx="9270837" cy="202073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36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  <a:lvl2pPr marL="457200" indent="0">
              <a:buFontTx/>
              <a:buNone/>
              <a:defRPr sz="6000" b="1" i="0">
                <a:latin typeface="Avenir Next LT Pro" panose="020B0504020202020204" pitchFamily="34" charset="77"/>
              </a:defRPr>
            </a:lvl2pPr>
            <a:lvl3pPr marL="914400" indent="0">
              <a:buFontTx/>
              <a:buNone/>
              <a:defRPr sz="6000" b="1" i="0">
                <a:latin typeface="Avenir Next LT Pro" panose="020B0504020202020204" pitchFamily="34" charset="77"/>
              </a:defRPr>
            </a:lvl3pPr>
            <a:lvl4pPr marL="1371600" indent="0">
              <a:buFontTx/>
              <a:buNone/>
              <a:defRPr sz="6000" b="1" i="0">
                <a:latin typeface="Avenir Next LT Pro" panose="020B0504020202020204" pitchFamily="34" charset="77"/>
              </a:defRPr>
            </a:lvl4pPr>
            <a:lvl5pPr marL="1828800" indent="0">
              <a:buFontTx/>
              <a:buNone/>
              <a:defRPr sz="6000" b="1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0471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">
            <a:extLst>
              <a:ext uri="{FF2B5EF4-FFF2-40B4-BE49-F238E27FC236}">
                <a16:creationId xmlns:a16="http://schemas.microsoft.com/office/drawing/2014/main" id="{68C9B179-27EF-D9F0-527E-DEC0FE67CB5E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097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6" name="Blue Bar">
            <a:extLst>
              <a:ext uri="{FF2B5EF4-FFF2-40B4-BE49-F238E27FC236}">
                <a16:creationId xmlns:a16="http://schemas.microsoft.com/office/drawing/2014/main" id="{5DB769CB-861A-0A0C-BE6D-36085C4D5947}"/>
              </a:ext>
            </a:extLst>
          </p:cNvPr>
          <p:cNvSpPr/>
          <p:nvPr userDrawn="1"/>
        </p:nvSpPr>
        <p:spPr>
          <a:xfrm>
            <a:off x="-6780" y="1380973"/>
            <a:ext cx="12198780" cy="96576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Orange Gradient" descr="An orange rectangular object with a rectangle&#10;&#10;Description automatically generated">
            <a:extLst>
              <a:ext uri="{FF2B5EF4-FFF2-40B4-BE49-F238E27FC236}">
                <a16:creationId xmlns:a16="http://schemas.microsoft.com/office/drawing/2014/main" id="{F22406F3-B805-E0B5-FC9F-CD214BA28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79" y="1525556"/>
            <a:ext cx="12198780" cy="3806888"/>
          </a:xfrm>
          <a:prstGeom prst="rect">
            <a:avLst/>
          </a:prstGeom>
        </p:spPr>
      </p:pic>
      <p:cxnSp>
        <p:nvCxnSpPr>
          <p:cNvPr id="14" name="White Line">
            <a:extLst>
              <a:ext uri="{FF2B5EF4-FFF2-40B4-BE49-F238E27FC236}">
                <a16:creationId xmlns:a16="http://schemas.microsoft.com/office/drawing/2014/main" id="{F3183BF8-7BB0-8F9E-D421-1A313F5E6DFD}"/>
              </a:ext>
            </a:extLst>
          </p:cNvPr>
          <p:cNvCxnSpPr>
            <a:cxnSpLocks/>
          </p:cNvCxnSpPr>
          <p:nvPr userDrawn="1"/>
        </p:nvCxnSpPr>
        <p:spPr>
          <a:xfrm>
            <a:off x="1221288" y="3881535"/>
            <a:ext cx="794759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">
            <a:extLst>
              <a:ext uri="{FF2B5EF4-FFF2-40B4-BE49-F238E27FC236}">
                <a16:creationId xmlns:a16="http://schemas.microsoft.com/office/drawing/2014/main" id="{EAE82D35-7FDD-BE47-60E6-A05F39E40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107" y="2766218"/>
            <a:ext cx="9124835" cy="1325563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369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">
            <a:extLst>
              <a:ext uri="{FF2B5EF4-FFF2-40B4-BE49-F238E27FC236}">
                <a16:creationId xmlns:a16="http://schemas.microsoft.com/office/drawing/2014/main" id="{68C9B179-27EF-D9F0-527E-DEC0FE67CB5E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840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6" name="Blue Bar">
            <a:extLst>
              <a:ext uri="{FF2B5EF4-FFF2-40B4-BE49-F238E27FC236}">
                <a16:creationId xmlns:a16="http://schemas.microsoft.com/office/drawing/2014/main" id="{195D10AD-99DA-33F8-EDBC-359482F6962D}"/>
              </a:ext>
            </a:extLst>
          </p:cNvPr>
          <p:cNvSpPr/>
          <p:nvPr userDrawn="1"/>
        </p:nvSpPr>
        <p:spPr>
          <a:xfrm>
            <a:off x="-6780" y="1374710"/>
            <a:ext cx="12198780" cy="96576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rk Teal Rectangle">
            <a:extLst>
              <a:ext uri="{FF2B5EF4-FFF2-40B4-BE49-F238E27FC236}">
                <a16:creationId xmlns:a16="http://schemas.microsoft.com/office/drawing/2014/main" id="{429287AA-4FCA-5597-4286-ACD1AAB80AB3}"/>
              </a:ext>
            </a:extLst>
          </p:cNvPr>
          <p:cNvSpPr/>
          <p:nvPr userDrawn="1"/>
        </p:nvSpPr>
        <p:spPr>
          <a:xfrm>
            <a:off x="-6780" y="1525555"/>
            <a:ext cx="12198780" cy="38068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White Line">
            <a:extLst>
              <a:ext uri="{FF2B5EF4-FFF2-40B4-BE49-F238E27FC236}">
                <a16:creationId xmlns:a16="http://schemas.microsoft.com/office/drawing/2014/main" id="{BD65F337-0C1C-2CFD-9224-7F1A48E22B9F}"/>
              </a:ext>
            </a:extLst>
          </p:cNvPr>
          <p:cNvCxnSpPr>
            <a:cxnSpLocks/>
          </p:cNvCxnSpPr>
          <p:nvPr userDrawn="1"/>
        </p:nvCxnSpPr>
        <p:spPr>
          <a:xfrm>
            <a:off x="1221288" y="3881535"/>
            <a:ext cx="7947594" cy="0"/>
          </a:xfrm>
          <a:prstGeom prst="line">
            <a:avLst/>
          </a:prstGeom>
          <a:ln w="28575">
            <a:solidFill>
              <a:srgbClr val="B2FFF6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" name="Title">
            <a:extLst>
              <a:ext uri="{FF2B5EF4-FFF2-40B4-BE49-F238E27FC236}">
                <a16:creationId xmlns:a16="http://schemas.microsoft.com/office/drawing/2014/main" id="{E1773BFB-614D-6822-6636-0CCFC5F68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107" y="2766218"/>
            <a:ext cx="9124835" cy="1325563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9369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F12BE4-2358-507B-3C82-7876E55EF6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2034" y="0"/>
            <a:ext cx="12192000" cy="6858000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68C9B179-27EF-D9F0-527E-DEC0FE67CB5E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097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EAE82D35-7FDD-BE47-60E6-A05F39E40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107" y="2766218"/>
            <a:ext cx="9124835" cy="1325563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Lumen Logo" descr="A picture containing clock&#10;&#10;Description automatically generated">
            <a:extLst>
              <a:ext uri="{FF2B5EF4-FFF2-40B4-BE49-F238E27FC236}">
                <a16:creationId xmlns:a16="http://schemas.microsoft.com/office/drawing/2014/main" id="{6A639169-3246-7807-A0A7-B8858C00D6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5129" y="6279637"/>
            <a:ext cx="1603374" cy="42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F12BE4-2358-507B-3C82-7876E55EF6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3051" y="0"/>
            <a:ext cx="12192000" cy="6858000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68C9B179-27EF-D9F0-527E-DEC0FE67CB5E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840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bg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EAE82D35-7FDD-BE47-60E6-A05F39E40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107" y="2766218"/>
            <a:ext cx="9124835" cy="1325563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Lumen Logo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012BB0C7-C43B-9742-EE65-B41CAD85D0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9084" y="6269524"/>
            <a:ext cx="1622323" cy="43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86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">
            <a:extLst>
              <a:ext uri="{FF2B5EF4-FFF2-40B4-BE49-F238E27FC236}">
                <a16:creationId xmlns:a16="http://schemas.microsoft.com/office/drawing/2014/main" id="{0093B5D4-D636-1C3C-61F6-983EAF13CB06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967D645-E478-27C7-028C-C3E3A5EAED48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5" name="Orange Rectangle">
            <a:extLst>
              <a:ext uri="{FF2B5EF4-FFF2-40B4-BE49-F238E27FC236}">
                <a16:creationId xmlns:a16="http://schemas.microsoft.com/office/drawing/2014/main" id="{97FC2726-51FE-FBAE-B6BF-B8EEBF6F618C}"/>
              </a:ext>
            </a:extLst>
          </p:cNvPr>
          <p:cNvSpPr/>
          <p:nvPr/>
        </p:nvSpPr>
        <p:spPr>
          <a:xfrm>
            <a:off x="0" y="0"/>
            <a:ext cx="12192000" cy="263677"/>
          </a:xfrm>
          <a:prstGeom prst="rect">
            <a:avLst/>
          </a:prstGeom>
          <a:solidFill>
            <a:srgbClr val="FB8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8429"/>
              </a:solidFill>
            </a:endParaRPr>
          </a:p>
        </p:txBody>
      </p:sp>
      <p:sp>
        <p:nvSpPr>
          <p:cNvPr id="7" name="Body Copy">
            <a:extLst>
              <a:ext uri="{FF2B5EF4-FFF2-40B4-BE49-F238E27FC236}">
                <a16:creationId xmlns:a16="http://schemas.microsoft.com/office/drawing/2014/main" id="{FECF9BCF-C303-DD1B-13EE-D9A59B8CFF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873" y="1380633"/>
            <a:ext cx="11427329" cy="44423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1pPr>
            <a:lvl2pPr marL="50292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2pPr>
            <a:lvl3pPr marL="77724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3pPr>
            <a:lvl4pPr marL="105156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4pPr>
            <a:lvl5pPr marL="132588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">
            <a:extLst>
              <a:ext uri="{FF2B5EF4-FFF2-40B4-BE49-F238E27FC236}">
                <a16:creationId xmlns:a16="http://schemas.microsoft.com/office/drawing/2014/main" id="{C7EF948F-E231-7F17-567E-CC0C9B78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74" y="476448"/>
            <a:ext cx="11427329" cy="69141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7081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">
            <a:extLst>
              <a:ext uri="{FF2B5EF4-FFF2-40B4-BE49-F238E27FC236}">
                <a16:creationId xmlns:a16="http://schemas.microsoft.com/office/drawing/2014/main" id="{0093B5D4-D636-1C3C-61F6-983EAF13CB06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967D645-E478-27C7-028C-C3E3A5EAED48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5" name="Orange Rectangle">
            <a:extLst>
              <a:ext uri="{FF2B5EF4-FFF2-40B4-BE49-F238E27FC236}">
                <a16:creationId xmlns:a16="http://schemas.microsoft.com/office/drawing/2014/main" id="{97FC2726-51FE-FBAE-B6BF-B8EEBF6F618C}"/>
              </a:ext>
            </a:extLst>
          </p:cNvPr>
          <p:cNvSpPr/>
          <p:nvPr/>
        </p:nvSpPr>
        <p:spPr>
          <a:xfrm>
            <a:off x="0" y="1"/>
            <a:ext cx="12192000" cy="48762"/>
          </a:xfrm>
          <a:prstGeom prst="rect">
            <a:avLst/>
          </a:prstGeom>
          <a:solidFill>
            <a:srgbClr val="FB8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8429"/>
              </a:solidFill>
            </a:endParaRPr>
          </a:p>
        </p:txBody>
      </p:sp>
      <p:sp>
        <p:nvSpPr>
          <p:cNvPr id="7" name="Body Copy">
            <a:extLst>
              <a:ext uri="{FF2B5EF4-FFF2-40B4-BE49-F238E27FC236}">
                <a16:creationId xmlns:a16="http://schemas.microsoft.com/office/drawing/2014/main" id="{FECF9BCF-C303-DD1B-13EE-D9A59B8CFF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873" y="1374445"/>
            <a:ext cx="11420455" cy="4448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1pPr>
            <a:lvl2pPr marL="50292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2pPr>
            <a:lvl3pPr marL="77724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3pPr>
            <a:lvl4pPr marL="105156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4pPr>
            <a:lvl5pPr marL="132588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C7EF948F-E231-7F17-567E-CC0C9B78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74" y="476448"/>
            <a:ext cx="11420455" cy="69141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3889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">
            <a:extLst>
              <a:ext uri="{FF2B5EF4-FFF2-40B4-BE49-F238E27FC236}">
                <a16:creationId xmlns:a16="http://schemas.microsoft.com/office/drawing/2014/main" id="{FA3318CA-DF78-D8E5-895B-848FDD27C887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F272F53F-F924-6B70-C8E2-016B5D9C407D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9" name="Blue Rectangle">
            <a:extLst>
              <a:ext uri="{FF2B5EF4-FFF2-40B4-BE49-F238E27FC236}">
                <a16:creationId xmlns:a16="http://schemas.microsoft.com/office/drawing/2014/main" id="{4EC1BB53-C4D6-0E5C-3F25-AAB527F09589}"/>
              </a:ext>
            </a:extLst>
          </p:cNvPr>
          <p:cNvSpPr/>
          <p:nvPr/>
        </p:nvSpPr>
        <p:spPr>
          <a:xfrm>
            <a:off x="0" y="0"/>
            <a:ext cx="12192000" cy="263677"/>
          </a:xfrm>
          <a:prstGeom prst="rect">
            <a:avLst/>
          </a:prstGeom>
          <a:solidFill>
            <a:srgbClr val="B2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8429"/>
              </a:solidFill>
            </a:endParaRPr>
          </a:p>
        </p:txBody>
      </p:sp>
      <p:sp>
        <p:nvSpPr>
          <p:cNvPr id="10" name="Body Copy">
            <a:extLst>
              <a:ext uri="{FF2B5EF4-FFF2-40B4-BE49-F238E27FC236}">
                <a16:creationId xmlns:a16="http://schemas.microsoft.com/office/drawing/2014/main" id="{8C3BD903-A537-E3A0-0F35-C5E46F678C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797" y="1374445"/>
            <a:ext cx="11440387" cy="4448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1pPr>
            <a:lvl2pPr marL="50292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2pPr>
            <a:lvl3pPr marL="77724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3pPr>
            <a:lvl4pPr marL="105156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4pPr>
            <a:lvl5pPr marL="132588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C909A1C-D352-0A28-4AC8-EF95F89A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471411"/>
            <a:ext cx="11436185" cy="69645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b="1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7476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ey Rectangle">
            <a:extLst>
              <a:ext uri="{FF2B5EF4-FFF2-40B4-BE49-F238E27FC236}">
                <a16:creationId xmlns:a16="http://schemas.microsoft.com/office/drawing/2014/main" id="{F31E3684-9BCC-BFED-7065-519146B5468D}"/>
              </a:ext>
            </a:extLst>
          </p:cNvPr>
          <p:cNvSpPr/>
          <p:nvPr/>
        </p:nvSpPr>
        <p:spPr>
          <a:xfrm>
            <a:off x="1" y="1005840"/>
            <a:ext cx="7849892" cy="5852160"/>
          </a:xfrm>
          <a:prstGeom prst="rect">
            <a:avLst/>
          </a:prstGeom>
          <a:solidFill>
            <a:srgbClr val="F2F0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B1CC16F2-D514-99A0-DFE3-D2DA88971442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D9B468E7-7646-7D7C-4166-72C2F8BFE34F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pic>
        <p:nvPicPr>
          <p:cNvPr id="6" name="Orange Gradient">
            <a:extLst>
              <a:ext uri="{FF2B5EF4-FFF2-40B4-BE49-F238E27FC236}">
                <a16:creationId xmlns:a16="http://schemas.microsoft.com/office/drawing/2014/main" id="{7BAB4205-5484-90E1-DF74-338D587665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03940" cy="1005840"/>
          </a:xfrm>
          <a:prstGeom prst="rect">
            <a:avLst/>
          </a:prstGeom>
        </p:spPr>
      </p:pic>
      <p:cxnSp>
        <p:nvCxnSpPr>
          <p:cNvPr id="8" name="Blue Line">
            <a:extLst>
              <a:ext uri="{FF2B5EF4-FFF2-40B4-BE49-F238E27FC236}">
                <a16:creationId xmlns:a16="http://schemas.microsoft.com/office/drawing/2014/main" id="{EAA3E27C-4BF8-6AE3-31D9-1EB17699E3E5}"/>
              </a:ext>
            </a:extLst>
          </p:cNvPr>
          <p:cNvCxnSpPr>
            <a:cxnSpLocks/>
          </p:cNvCxnSpPr>
          <p:nvPr/>
        </p:nvCxnSpPr>
        <p:spPr>
          <a:xfrm>
            <a:off x="557386" y="1397331"/>
            <a:ext cx="0" cy="4425619"/>
          </a:xfrm>
          <a:prstGeom prst="line">
            <a:avLst/>
          </a:prstGeom>
          <a:ln w="28575">
            <a:solidFill>
              <a:srgbClr val="2AE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978999F1-EAD1-FC88-3C62-8A23B53DB6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8768" y="1503363"/>
            <a:ext cx="3316296" cy="4319587"/>
          </a:xfrm>
          <a:custGeom>
            <a:avLst/>
            <a:gdLst>
              <a:gd name="connsiteX0" fmla="*/ 576803 w 3967404"/>
              <a:gd name="connsiteY0" fmla="*/ 0 h 4319587"/>
              <a:gd name="connsiteX1" fmla="*/ 1265287 w 3967404"/>
              <a:gd name="connsiteY1" fmla="*/ 0 h 4319587"/>
              <a:gd name="connsiteX2" fmla="*/ 3426968 w 3967404"/>
              <a:gd name="connsiteY2" fmla="*/ 0 h 4319587"/>
              <a:gd name="connsiteX3" fmla="*/ 3460750 w 3967404"/>
              <a:gd name="connsiteY3" fmla="*/ 0 h 4319587"/>
              <a:gd name="connsiteX4" fmla="*/ 3460750 w 3967404"/>
              <a:gd name="connsiteY4" fmla="*/ 3406 h 4319587"/>
              <a:gd name="connsiteX5" fmla="*/ 3535885 w 3967404"/>
              <a:gd name="connsiteY5" fmla="*/ 10980 h 4319587"/>
              <a:gd name="connsiteX6" fmla="*/ 3967404 w 3967404"/>
              <a:gd name="connsiteY6" fmla="*/ 540436 h 4319587"/>
              <a:gd name="connsiteX7" fmla="*/ 3967404 w 3967404"/>
              <a:gd name="connsiteY7" fmla="*/ 3779151 h 4319587"/>
              <a:gd name="connsiteX8" fmla="*/ 3426968 w 3967404"/>
              <a:gd name="connsiteY8" fmla="*/ 4319587 h 4319587"/>
              <a:gd name="connsiteX9" fmla="*/ 2883947 w 3967404"/>
              <a:gd name="connsiteY9" fmla="*/ 4319587 h 4319587"/>
              <a:gd name="connsiteX10" fmla="*/ 1265287 w 3967404"/>
              <a:gd name="connsiteY10" fmla="*/ 4319587 h 4319587"/>
              <a:gd name="connsiteX11" fmla="*/ 0 w 3967404"/>
              <a:gd name="connsiteY11" fmla="*/ 4319587 h 4319587"/>
              <a:gd name="connsiteX12" fmla="*/ 0 w 3967404"/>
              <a:gd name="connsiteY12" fmla="*/ 576803 h 4319587"/>
              <a:gd name="connsiteX13" fmla="*/ 576803 w 3967404"/>
              <a:gd name="connsiteY13" fmla="*/ 0 h 431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67404" h="4319587">
                <a:moveTo>
                  <a:pt x="576803" y="0"/>
                </a:moveTo>
                <a:lnTo>
                  <a:pt x="1265287" y="0"/>
                </a:lnTo>
                <a:lnTo>
                  <a:pt x="3426968" y="0"/>
                </a:lnTo>
                <a:lnTo>
                  <a:pt x="3460750" y="0"/>
                </a:lnTo>
                <a:lnTo>
                  <a:pt x="3460750" y="3406"/>
                </a:lnTo>
                <a:lnTo>
                  <a:pt x="3535885" y="10980"/>
                </a:lnTo>
                <a:cubicBezTo>
                  <a:pt x="3782153" y="61373"/>
                  <a:pt x="3967404" y="279271"/>
                  <a:pt x="3967404" y="540436"/>
                </a:cubicBezTo>
                <a:lnTo>
                  <a:pt x="3967404" y="3779151"/>
                </a:lnTo>
                <a:cubicBezTo>
                  <a:pt x="3967404" y="4077626"/>
                  <a:pt x="3725443" y="4319587"/>
                  <a:pt x="3426968" y="4319587"/>
                </a:cubicBezTo>
                <a:lnTo>
                  <a:pt x="2883947" y="4319587"/>
                </a:lnTo>
                <a:lnTo>
                  <a:pt x="1265287" y="4319587"/>
                </a:lnTo>
                <a:lnTo>
                  <a:pt x="0" y="4319587"/>
                </a:lnTo>
                <a:lnTo>
                  <a:pt x="0" y="576803"/>
                </a:lnTo>
                <a:cubicBezTo>
                  <a:pt x="0" y="258243"/>
                  <a:pt x="258243" y="0"/>
                  <a:pt x="576803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FontTx/>
              <a:buNone/>
              <a:defRPr b="0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Body Copy">
            <a:extLst>
              <a:ext uri="{FF2B5EF4-FFF2-40B4-BE49-F238E27FC236}">
                <a16:creationId xmlns:a16="http://schemas.microsoft.com/office/drawing/2014/main" id="{23F70981-73ED-051F-DB7E-6CC221E5D8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1538" y="1397331"/>
            <a:ext cx="6267813" cy="442561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1pPr>
            <a:lvl2pPr marL="50292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2pPr>
            <a:lvl3pPr marL="77724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3pPr>
            <a:lvl4pPr marL="105156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4pPr>
            <a:lvl5pPr marL="132588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D3B3B1E2-4BF2-CB62-C198-61F88B677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48" y="235419"/>
            <a:ext cx="11314038" cy="5407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4321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">
            <a:extLst>
              <a:ext uri="{FF2B5EF4-FFF2-40B4-BE49-F238E27FC236}">
                <a16:creationId xmlns:a16="http://schemas.microsoft.com/office/drawing/2014/main" id="{67EF9071-7045-7402-C740-18C858A69480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D6ACF3D-16C0-B543-8D2B-DAA3198CE9EC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5" name="Orange Rectangle">
            <a:extLst>
              <a:ext uri="{FF2B5EF4-FFF2-40B4-BE49-F238E27FC236}">
                <a16:creationId xmlns:a16="http://schemas.microsoft.com/office/drawing/2014/main" id="{8DEE3FC8-55BC-FE62-2AB0-DDDB1285101C}"/>
              </a:ext>
            </a:extLst>
          </p:cNvPr>
          <p:cNvSpPr/>
          <p:nvPr/>
        </p:nvSpPr>
        <p:spPr>
          <a:xfrm>
            <a:off x="0" y="2081"/>
            <a:ext cx="12192000" cy="263677"/>
          </a:xfrm>
          <a:prstGeom prst="rect">
            <a:avLst/>
          </a:prstGeom>
          <a:solidFill>
            <a:srgbClr val="FB8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226E5660-285D-2E81-CFF3-C13D1E2325E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11036" y="878210"/>
            <a:ext cx="3476065" cy="4944740"/>
          </a:xfrm>
          <a:custGeom>
            <a:avLst/>
            <a:gdLst>
              <a:gd name="connsiteX0" fmla="*/ 576803 w 3967404"/>
              <a:gd name="connsiteY0" fmla="*/ 0 h 4319587"/>
              <a:gd name="connsiteX1" fmla="*/ 1265287 w 3967404"/>
              <a:gd name="connsiteY1" fmla="*/ 0 h 4319587"/>
              <a:gd name="connsiteX2" fmla="*/ 3426968 w 3967404"/>
              <a:gd name="connsiteY2" fmla="*/ 0 h 4319587"/>
              <a:gd name="connsiteX3" fmla="*/ 3460750 w 3967404"/>
              <a:gd name="connsiteY3" fmla="*/ 0 h 4319587"/>
              <a:gd name="connsiteX4" fmla="*/ 3460750 w 3967404"/>
              <a:gd name="connsiteY4" fmla="*/ 3406 h 4319587"/>
              <a:gd name="connsiteX5" fmla="*/ 3535885 w 3967404"/>
              <a:gd name="connsiteY5" fmla="*/ 10980 h 4319587"/>
              <a:gd name="connsiteX6" fmla="*/ 3967404 w 3967404"/>
              <a:gd name="connsiteY6" fmla="*/ 540436 h 4319587"/>
              <a:gd name="connsiteX7" fmla="*/ 3967404 w 3967404"/>
              <a:gd name="connsiteY7" fmla="*/ 3779151 h 4319587"/>
              <a:gd name="connsiteX8" fmla="*/ 3426968 w 3967404"/>
              <a:gd name="connsiteY8" fmla="*/ 4319587 h 4319587"/>
              <a:gd name="connsiteX9" fmla="*/ 2883947 w 3967404"/>
              <a:gd name="connsiteY9" fmla="*/ 4319587 h 4319587"/>
              <a:gd name="connsiteX10" fmla="*/ 1265287 w 3967404"/>
              <a:gd name="connsiteY10" fmla="*/ 4319587 h 4319587"/>
              <a:gd name="connsiteX11" fmla="*/ 0 w 3967404"/>
              <a:gd name="connsiteY11" fmla="*/ 4319587 h 4319587"/>
              <a:gd name="connsiteX12" fmla="*/ 0 w 3967404"/>
              <a:gd name="connsiteY12" fmla="*/ 576803 h 4319587"/>
              <a:gd name="connsiteX13" fmla="*/ 576803 w 3967404"/>
              <a:gd name="connsiteY13" fmla="*/ 0 h 431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67404" h="4319587">
                <a:moveTo>
                  <a:pt x="576803" y="0"/>
                </a:moveTo>
                <a:lnTo>
                  <a:pt x="1265287" y="0"/>
                </a:lnTo>
                <a:lnTo>
                  <a:pt x="3426968" y="0"/>
                </a:lnTo>
                <a:lnTo>
                  <a:pt x="3460750" y="0"/>
                </a:lnTo>
                <a:lnTo>
                  <a:pt x="3460750" y="3406"/>
                </a:lnTo>
                <a:lnTo>
                  <a:pt x="3535885" y="10980"/>
                </a:lnTo>
                <a:cubicBezTo>
                  <a:pt x="3782153" y="61373"/>
                  <a:pt x="3967404" y="279271"/>
                  <a:pt x="3967404" y="540436"/>
                </a:cubicBezTo>
                <a:lnTo>
                  <a:pt x="3967404" y="3779151"/>
                </a:lnTo>
                <a:cubicBezTo>
                  <a:pt x="3967404" y="4077626"/>
                  <a:pt x="3725443" y="4319587"/>
                  <a:pt x="3426968" y="4319587"/>
                </a:cubicBezTo>
                <a:lnTo>
                  <a:pt x="2883947" y="4319587"/>
                </a:lnTo>
                <a:lnTo>
                  <a:pt x="1265287" y="4319587"/>
                </a:lnTo>
                <a:lnTo>
                  <a:pt x="0" y="4319587"/>
                </a:lnTo>
                <a:lnTo>
                  <a:pt x="0" y="576803"/>
                </a:lnTo>
                <a:cubicBezTo>
                  <a:pt x="0" y="258243"/>
                  <a:pt x="258243" y="0"/>
                  <a:pt x="576803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FontTx/>
              <a:buNone/>
              <a:defRPr b="0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Body Copy">
            <a:extLst>
              <a:ext uri="{FF2B5EF4-FFF2-40B4-BE49-F238E27FC236}">
                <a16:creationId xmlns:a16="http://schemas.microsoft.com/office/drawing/2014/main" id="{6073588C-C2E2-0204-2C3C-BC347F0800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798" y="1374445"/>
            <a:ext cx="6293602" cy="4448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Avenir Next LT Pro" panose="020B0504020202020204" pitchFamily="34" charset="77"/>
              </a:defRPr>
            </a:lvl1pPr>
            <a:lvl2pPr marL="502920">
              <a:defRPr b="0" i="0">
                <a:latin typeface="Avenir Next LT Pro" panose="020B0504020202020204" pitchFamily="34" charset="77"/>
              </a:defRPr>
            </a:lvl2pPr>
            <a:lvl3pPr marL="777240">
              <a:defRPr b="0" i="0">
                <a:latin typeface="Avenir Next LT Pro" panose="020B0504020202020204" pitchFamily="34" charset="77"/>
              </a:defRPr>
            </a:lvl3pPr>
            <a:lvl4pPr marL="1051560">
              <a:defRPr b="0" i="0">
                <a:latin typeface="Avenir Next LT Pro" panose="020B0504020202020204" pitchFamily="34" charset="77"/>
              </a:defRPr>
            </a:lvl4pPr>
            <a:lvl5pPr marL="1325880"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BE43D4F4-C9A6-A51E-8815-6129D701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76447"/>
            <a:ext cx="6262396" cy="67704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6028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">
            <a:extLst>
              <a:ext uri="{FF2B5EF4-FFF2-40B4-BE49-F238E27FC236}">
                <a16:creationId xmlns:a16="http://schemas.microsoft.com/office/drawing/2014/main" id="{8DD0E56F-EF79-8AF8-87ED-1B4AA74F1B55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C145F667-91BD-7712-05F1-AAEFE8651024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5" name="Blue Rectangle">
            <a:extLst>
              <a:ext uri="{FF2B5EF4-FFF2-40B4-BE49-F238E27FC236}">
                <a16:creationId xmlns:a16="http://schemas.microsoft.com/office/drawing/2014/main" id="{413E03D5-A600-E4C7-3726-0EA88DD37B9B}"/>
              </a:ext>
            </a:extLst>
          </p:cNvPr>
          <p:cNvSpPr/>
          <p:nvPr/>
        </p:nvSpPr>
        <p:spPr>
          <a:xfrm>
            <a:off x="0" y="2081"/>
            <a:ext cx="12192000" cy="263677"/>
          </a:xfrm>
          <a:prstGeom prst="rect">
            <a:avLst/>
          </a:prstGeom>
          <a:solidFill>
            <a:srgbClr val="B2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DDE0E9D0-C753-6A78-4BC7-2C462CECAD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11036" y="878210"/>
            <a:ext cx="3476065" cy="4944740"/>
          </a:xfrm>
          <a:custGeom>
            <a:avLst/>
            <a:gdLst>
              <a:gd name="connsiteX0" fmla="*/ 576803 w 3967404"/>
              <a:gd name="connsiteY0" fmla="*/ 0 h 4319587"/>
              <a:gd name="connsiteX1" fmla="*/ 1265287 w 3967404"/>
              <a:gd name="connsiteY1" fmla="*/ 0 h 4319587"/>
              <a:gd name="connsiteX2" fmla="*/ 3426968 w 3967404"/>
              <a:gd name="connsiteY2" fmla="*/ 0 h 4319587"/>
              <a:gd name="connsiteX3" fmla="*/ 3460750 w 3967404"/>
              <a:gd name="connsiteY3" fmla="*/ 0 h 4319587"/>
              <a:gd name="connsiteX4" fmla="*/ 3460750 w 3967404"/>
              <a:gd name="connsiteY4" fmla="*/ 3406 h 4319587"/>
              <a:gd name="connsiteX5" fmla="*/ 3535885 w 3967404"/>
              <a:gd name="connsiteY5" fmla="*/ 10980 h 4319587"/>
              <a:gd name="connsiteX6" fmla="*/ 3967404 w 3967404"/>
              <a:gd name="connsiteY6" fmla="*/ 540436 h 4319587"/>
              <a:gd name="connsiteX7" fmla="*/ 3967404 w 3967404"/>
              <a:gd name="connsiteY7" fmla="*/ 3779151 h 4319587"/>
              <a:gd name="connsiteX8" fmla="*/ 3426968 w 3967404"/>
              <a:gd name="connsiteY8" fmla="*/ 4319587 h 4319587"/>
              <a:gd name="connsiteX9" fmla="*/ 2883947 w 3967404"/>
              <a:gd name="connsiteY9" fmla="*/ 4319587 h 4319587"/>
              <a:gd name="connsiteX10" fmla="*/ 1265287 w 3967404"/>
              <a:gd name="connsiteY10" fmla="*/ 4319587 h 4319587"/>
              <a:gd name="connsiteX11" fmla="*/ 0 w 3967404"/>
              <a:gd name="connsiteY11" fmla="*/ 4319587 h 4319587"/>
              <a:gd name="connsiteX12" fmla="*/ 0 w 3967404"/>
              <a:gd name="connsiteY12" fmla="*/ 576803 h 4319587"/>
              <a:gd name="connsiteX13" fmla="*/ 576803 w 3967404"/>
              <a:gd name="connsiteY13" fmla="*/ 0 h 431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67404" h="4319587">
                <a:moveTo>
                  <a:pt x="576803" y="0"/>
                </a:moveTo>
                <a:lnTo>
                  <a:pt x="1265287" y="0"/>
                </a:lnTo>
                <a:lnTo>
                  <a:pt x="3426968" y="0"/>
                </a:lnTo>
                <a:lnTo>
                  <a:pt x="3460750" y="0"/>
                </a:lnTo>
                <a:lnTo>
                  <a:pt x="3460750" y="3406"/>
                </a:lnTo>
                <a:lnTo>
                  <a:pt x="3535885" y="10980"/>
                </a:lnTo>
                <a:cubicBezTo>
                  <a:pt x="3782153" y="61373"/>
                  <a:pt x="3967404" y="279271"/>
                  <a:pt x="3967404" y="540436"/>
                </a:cubicBezTo>
                <a:lnTo>
                  <a:pt x="3967404" y="3779151"/>
                </a:lnTo>
                <a:cubicBezTo>
                  <a:pt x="3967404" y="4077626"/>
                  <a:pt x="3725443" y="4319587"/>
                  <a:pt x="3426968" y="4319587"/>
                </a:cubicBezTo>
                <a:lnTo>
                  <a:pt x="2883947" y="4319587"/>
                </a:lnTo>
                <a:lnTo>
                  <a:pt x="1265287" y="4319587"/>
                </a:lnTo>
                <a:lnTo>
                  <a:pt x="0" y="4319587"/>
                </a:lnTo>
                <a:lnTo>
                  <a:pt x="0" y="576803"/>
                </a:lnTo>
                <a:cubicBezTo>
                  <a:pt x="0" y="258243"/>
                  <a:pt x="258243" y="0"/>
                  <a:pt x="576803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FontTx/>
              <a:buNone/>
              <a:defRPr b="0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Body Copy">
            <a:extLst>
              <a:ext uri="{FF2B5EF4-FFF2-40B4-BE49-F238E27FC236}">
                <a16:creationId xmlns:a16="http://schemas.microsoft.com/office/drawing/2014/main" id="{1BCEF58A-AA5F-465A-6515-3A1C46BD9C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190" y="1374445"/>
            <a:ext cx="6293602" cy="4448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Avenir Next LT Pro" panose="020B0504020202020204" pitchFamily="34" charset="77"/>
              </a:defRPr>
            </a:lvl1pPr>
            <a:lvl2pPr marL="502920">
              <a:defRPr b="0" i="0">
                <a:latin typeface="Avenir Next LT Pro" panose="020B0504020202020204" pitchFamily="34" charset="77"/>
              </a:defRPr>
            </a:lvl2pPr>
            <a:lvl3pPr marL="777240">
              <a:defRPr b="0" i="0">
                <a:latin typeface="Avenir Next LT Pro" panose="020B0504020202020204" pitchFamily="34" charset="77"/>
              </a:defRPr>
            </a:lvl3pPr>
            <a:lvl4pPr marL="1051560">
              <a:defRPr b="0" i="0">
                <a:latin typeface="Avenir Next LT Pro" panose="020B0504020202020204" pitchFamily="34" charset="77"/>
              </a:defRPr>
            </a:lvl4pPr>
            <a:lvl5pPr marL="1325880"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0C541AB4-AD1A-755C-0DAE-15005C6BC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53" y="476448"/>
            <a:ext cx="6290743" cy="69141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036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ey Rectangle">
            <a:extLst>
              <a:ext uri="{FF2B5EF4-FFF2-40B4-BE49-F238E27FC236}">
                <a16:creationId xmlns:a16="http://schemas.microsoft.com/office/drawing/2014/main" id="{F866048D-0121-4001-DE05-C1F448539380}"/>
              </a:ext>
            </a:extLst>
          </p:cNvPr>
          <p:cNvSpPr/>
          <p:nvPr/>
        </p:nvSpPr>
        <p:spPr>
          <a:xfrm>
            <a:off x="0" y="1005840"/>
            <a:ext cx="7888663" cy="5852160"/>
          </a:xfrm>
          <a:prstGeom prst="rect">
            <a:avLst/>
          </a:prstGeom>
          <a:solidFill>
            <a:srgbClr val="F2F0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074D0EF3-8A29-96FC-D6E1-C429DF9AF1AE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4274CD71-74BC-9436-0BD6-4DAF7503480E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pic>
        <p:nvPicPr>
          <p:cNvPr id="5" name="Orange Gradient">
            <a:extLst>
              <a:ext uri="{FF2B5EF4-FFF2-40B4-BE49-F238E27FC236}">
                <a16:creationId xmlns:a16="http://schemas.microsoft.com/office/drawing/2014/main" id="{4B52F701-11FF-CC48-4C88-541541D9F7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03940" cy="1005840"/>
          </a:xfrm>
          <a:prstGeom prst="rect">
            <a:avLst/>
          </a:prstGeom>
        </p:spPr>
      </p:pic>
      <p:cxnSp>
        <p:nvCxnSpPr>
          <p:cNvPr id="7" name="Blue Line">
            <a:extLst>
              <a:ext uri="{FF2B5EF4-FFF2-40B4-BE49-F238E27FC236}">
                <a16:creationId xmlns:a16="http://schemas.microsoft.com/office/drawing/2014/main" id="{5C0CADF5-5E8B-06AB-3929-A3EDD43FE371}"/>
              </a:ext>
            </a:extLst>
          </p:cNvPr>
          <p:cNvCxnSpPr>
            <a:cxnSpLocks/>
          </p:cNvCxnSpPr>
          <p:nvPr/>
        </p:nvCxnSpPr>
        <p:spPr>
          <a:xfrm>
            <a:off x="557386" y="1374445"/>
            <a:ext cx="0" cy="4646943"/>
          </a:xfrm>
          <a:prstGeom prst="line">
            <a:avLst/>
          </a:prstGeom>
          <a:ln w="28575">
            <a:solidFill>
              <a:srgbClr val="2AE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Body Copy Right">
            <a:extLst>
              <a:ext uri="{FF2B5EF4-FFF2-40B4-BE49-F238E27FC236}">
                <a16:creationId xmlns:a16="http://schemas.microsoft.com/office/drawing/2014/main" id="{0FC7E54E-0975-3621-311E-ED546BAC2AC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267700" y="1374445"/>
            <a:ext cx="3543300" cy="4646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ody Copy Left">
            <a:extLst>
              <a:ext uri="{FF2B5EF4-FFF2-40B4-BE49-F238E27FC236}">
                <a16:creationId xmlns:a16="http://schemas.microsoft.com/office/drawing/2014/main" id="{9F8AC756-9263-51D1-A1E0-3C93519F87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1538" y="1374445"/>
            <a:ext cx="6267813" cy="464694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1pPr>
            <a:lvl2pPr marL="50292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2pPr>
            <a:lvl3pPr marL="77724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3pPr>
            <a:lvl4pPr marL="105156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4pPr>
            <a:lvl5pPr marL="132588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B700ABE-5BA5-0819-FE28-7BB8009FE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48" y="235418"/>
            <a:ext cx="11427752" cy="6011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5195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_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">
            <a:extLst>
              <a:ext uri="{FF2B5EF4-FFF2-40B4-BE49-F238E27FC236}">
                <a16:creationId xmlns:a16="http://schemas.microsoft.com/office/drawing/2014/main" id="{5ADF2D29-3A3C-4F7A-756B-4ABCA9E64888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B1E95E3-8CF3-EBFF-4685-5C770AD83D4B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7" name="Dark Teal Background">
            <a:extLst>
              <a:ext uri="{FF2B5EF4-FFF2-40B4-BE49-F238E27FC236}">
                <a16:creationId xmlns:a16="http://schemas.microsoft.com/office/drawing/2014/main" id="{9ADA8D84-288D-C08A-7C67-4FEABE8285E6}"/>
              </a:ext>
            </a:extLst>
          </p:cNvPr>
          <p:cNvSpPr/>
          <p:nvPr userDrawn="1"/>
        </p:nvSpPr>
        <p:spPr>
          <a:xfrm>
            <a:off x="6674069" y="0"/>
            <a:ext cx="5517931" cy="6858000"/>
          </a:xfrm>
          <a:prstGeom prst="rect">
            <a:avLst/>
          </a:prstGeom>
          <a:solidFill>
            <a:srgbClr val="0F31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Lumen Logo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B7B78B99-118F-86B0-6519-BA469FA2E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9084" y="6269524"/>
            <a:ext cx="1622323" cy="431960"/>
          </a:xfrm>
          <a:prstGeom prst="rect">
            <a:avLst/>
          </a:prstGeom>
        </p:spPr>
      </p:pic>
      <p:sp>
        <p:nvSpPr>
          <p:cNvPr id="9" name="Body Copy Right">
            <a:extLst>
              <a:ext uri="{FF2B5EF4-FFF2-40B4-BE49-F238E27FC236}">
                <a16:creationId xmlns:a16="http://schemas.microsoft.com/office/drawing/2014/main" id="{D59B2269-D88E-3FC3-859E-D7C4C896FF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0" y="1374444"/>
            <a:ext cx="4758203" cy="4448506"/>
          </a:xfrm>
        </p:spPr>
        <p:txBody>
          <a:bodyPr/>
          <a:lstStyle>
            <a:lvl1pPr>
              <a:defRPr>
                <a:solidFill>
                  <a:srgbClr val="F2F0F1"/>
                </a:solidFill>
              </a:defRPr>
            </a:lvl1pPr>
            <a:lvl2pPr>
              <a:defRPr>
                <a:solidFill>
                  <a:srgbClr val="F2F0F1"/>
                </a:solidFill>
              </a:defRPr>
            </a:lvl2pPr>
            <a:lvl3pPr>
              <a:defRPr>
                <a:solidFill>
                  <a:srgbClr val="F2F0F1"/>
                </a:solidFill>
              </a:defRPr>
            </a:lvl3pPr>
            <a:lvl4pPr>
              <a:defRPr>
                <a:solidFill>
                  <a:srgbClr val="F2F0F1"/>
                </a:solidFill>
              </a:defRPr>
            </a:lvl4pPr>
            <a:lvl5pPr>
              <a:defRPr>
                <a:solidFill>
                  <a:srgbClr val="F2F0F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Body Copy Left">
            <a:extLst>
              <a:ext uri="{FF2B5EF4-FFF2-40B4-BE49-F238E27FC236}">
                <a16:creationId xmlns:a16="http://schemas.microsoft.com/office/drawing/2014/main" id="{F378F601-4B61-BD32-42E7-C90A29A6C85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6798" y="1374445"/>
            <a:ext cx="5920473" cy="44485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85E6012-FDB3-2B5A-33F4-39B57CE94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76449"/>
            <a:ext cx="5909398" cy="69141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6224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">
            <a:extLst>
              <a:ext uri="{FF2B5EF4-FFF2-40B4-BE49-F238E27FC236}">
                <a16:creationId xmlns:a16="http://schemas.microsoft.com/office/drawing/2014/main" id="{0093B5D4-D636-1C3C-61F6-983EAF13CB06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967D645-E478-27C7-028C-C3E3A5EAED48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5" name="Orange Rectangle">
            <a:extLst>
              <a:ext uri="{FF2B5EF4-FFF2-40B4-BE49-F238E27FC236}">
                <a16:creationId xmlns:a16="http://schemas.microsoft.com/office/drawing/2014/main" id="{97FC2726-51FE-FBAE-B6BF-B8EEBF6F618C}"/>
              </a:ext>
            </a:extLst>
          </p:cNvPr>
          <p:cNvSpPr/>
          <p:nvPr/>
        </p:nvSpPr>
        <p:spPr>
          <a:xfrm>
            <a:off x="0" y="0"/>
            <a:ext cx="12192000" cy="263677"/>
          </a:xfrm>
          <a:prstGeom prst="rect">
            <a:avLst/>
          </a:prstGeom>
          <a:solidFill>
            <a:srgbClr val="FB8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8429"/>
              </a:solidFill>
            </a:endParaRPr>
          </a:p>
        </p:txBody>
      </p:sp>
      <p:sp>
        <p:nvSpPr>
          <p:cNvPr id="12" name="Body Copy Right">
            <a:extLst>
              <a:ext uri="{FF2B5EF4-FFF2-40B4-BE49-F238E27FC236}">
                <a16:creationId xmlns:a16="http://schemas.microsoft.com/office/drawing/2014/main" id="{41E10FE2-6C89-0606-0D33-82AFF98A383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8607" y="1374445"/>
            <a:ext cx="5846595" cy="4691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ody Copy Left">
            <a:extLst>
              <a:ext uri="{FF2B5EF4-FFF2-40B4-BE49-F238E27FC236}">
                <a16:creationId xmlns:a16="http://schemas.microsoft.com/office/drawing/2014/main" id="{FECF9BCF-C303-DD1B-13EE-D9A59B8CFF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797" y="1374445"/>
            <a:ext cx="5243273" cy="46912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1pPr>
            <a:lvl2pPr marL="50292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2pPr>
            <a:lvl3pPr marL="77724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3pPr>
            <a:lvl4pPr marL="105156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4pPr>
            <a:lvl5pPr marL="132588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C7EF948F-E231-7F17-567E-CC0C9B78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672" y="476448"/>
            <a:ext cx="11457657" cy="69141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b="1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8242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">
            <a:extLst>
              <a:ext uri="{FF2B5EF4-FFF2-40B4-BE49-F238E27FC236}">
                <a16:creationId xmlns:a16="http://schemas.microsoft.com/office/drawing/2014/main" id="{541EA0D5-B2C4-27B2-5CB7-06EC83578FFB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6F66B2A2-CDCF-CB73-5690-599073E060C0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6" name="Blue Rectangle">
            <a:extLst>
              <a:ext uri="{FF2B5EF4-FFF2-40B4-BE49-F238E27FC236}">
                <a16:creationId xmlns:a16="http://schemas.microsoft.com/office/drawing/2014/main" id="{99070E26-CDD2-8803-0A37-4896523A0670}"/>
              </a:ext>
            </a:extLst>
          </p:cNvPr>
          <p:cNvSpPr/>
          <p:nvPr/>
        </p:nvSpPr>
        <p:spPr>
          <a:xfrm>
            <a:off x="0" y="0"/>
            <a:ext cx="12192000" cy="263677"/>
          </a:xfrm>
          <a:prstGeom prst="rect">
            <a:avLst/>
          </a:prstGeom>
          <a:solidFill>
            <a:srgbClr val="B2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B2FFF6"/>
              </a:solidFill>
            </a:endParaRPr>
          </a:p>
        </p:txBody>
      </p:sp>
      <p:sp>
        <p:nvSpPr>
          <p:cNvPr id="3" name="Body Copy Right">
            <a:extLst>
              <a:ext uri="{FF2B5EF4-FFF2-40B4-BE49-F238E27FC236}">
                <a16:creationId xmlns:a16="http://schemas.microsoft.com/office/drawing/2014/main" id="{5203939F-E332-31F7-751E-859523E57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0588" y="1371620"/>
            <a:ext cx="5839722" cy="4684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ody Copy Left">
            <a:extLst>
              <a:ext uri="{FF2B5EF4-FFF2-40B4-BE49-F238E27FC236}">
                <a16:creationId xmlns:a16="http://schemas.microsoft.com/office/drawing/2014/main" id="{CC6E922B-189E-F88B-147E-172B082036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371776"/>
            <a:ext cx="5239070" cy="46846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Avenir Next LT Pro" panose="020B0504020202020204" pitchFamily="34" charset="77"/>
              </a:defRPr>
            </a:lvl1pPr>
            <a:lvl2pPr marL="502920">
              <a:defRPr b="0" i="0">
                <a:latin typeface="Avenir Next LT Pro" panose="020B0504020202020204" pitchFamily="34" charset="77"/>
              </a:defRPr>
            </a:lvl2pPr>
            <a:lvl3pPr marL="777240">
              <a:defRPr b="0" i="0">
                <a:latin typeface="Avenir Next LT Pro" panose="020B0504020202020204" pitchFamily="34" charset="77"/>
              </a:defRPr>
            </a:lvl3pPr>
            <a:lvl4pPr marL="1051560">
              <a:defRPr b="0" i="0">
                <a:latin typeface="Avenir Next LT Pro" panose="020B0504020202020204" pitchFamily="34" charset="77"/>
              </a:defRPr>
            </a:lvl4pPr>
            <a:lvl5pPr marL="1325880"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5C740C6-A22D-07D7-02A3-9A161692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72020"/>
            <a:ext cx="11429310" cy="69141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b="1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08147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Op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Image">
            <a:extLst>
              <a:ext uri="{FF2B5EF4-FFF2-40B4-BE49-F238E27FC236}">
                <a16:creationId xmlns:a16="http://schemas.microsoft.com/office/drawing/2014/main" id="{1899C943-9670-FB21-EC51-415905F5A0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68C9B179-27EF-D9F0-527E-DEC0FE67CB5E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097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bg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C3266E9-9311-00FB-8E05-391621830179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145372" y="4344793"/>
            <a:ext cx="9270836" cy="783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venir Next LT Pro Demi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With two lines of copy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7C9E512-BF07-C95F-C9E7-4B28F3BEEF9E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145371" y="2236299"/>
            <a:ext cx="9270837" cy="202073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36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  <a:lvl2pPr marL="457200" indent="0">
              <a:buFontTx/>
              <a:buNone/>
              <a:defRPr sz="6000" b="1" i="0">
                <a:latin typeface="Avenir Next LT Pro" panose="020B0504020202020204" pitchFamily="34" charset="77"/>
              </a:defRPr>
            </a:lvl2pPr>
            <a:lvl3pPr marL="914400" indent="0">
              <a:buFontTx/>
              <a:buNone/>
              <a:defRPr sz="6000" b="1" i="0">
                <a:latin typeface="Avenir Next LT Pro" panose="020B0504020202020204" pitchFamily="34" charset="77"/>
              </a:defRPr>
            </a:lvl3pPr>
            <a:lvl4pPr marL="1371600" indent="0">
              <a:buFontTx/>
              <a:buNone/>
              <a:defRPr sz="6000" b="1" i="0">
                <a:latin typeface="Avenir Next LT Pro" panose="020B0504020202020204" pitchFamily="34" charset="77"/>
              </a:defRPr>
            </a:lvl4pPr>
            <a:lvl5pPr marL="1828800" indent="0">
              <a:buFontTx/>
              <a:buNone/>
              <a:defRPr sz="6000" b="1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Lumen Logo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9AF10977-60D6-0272-BF61-9828634B61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9084" y="6269524"/>
            <a:ext cx="1622323" cy="43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837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 Sl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rk Teal Rectangle">
            <a:extLst>
              <a:ext uri="{FF2B5EF4-FFF2-40B4-BE49-F238E27FC236}">
                <a16:creationId xmlns:a16="http://schemas.microsoft.com/office/drawing/2014/main" id="{DF6FE963-5076-1795-F618-77CB63B90F75}"/>
              </a:ext>
            </a:extLst>
          </p:cNvPr>
          <p:cNvSpPr/>
          <p:nvPr userDrawn="1"/>
        </p:nvSpPr>
        <p:spPr>
          <a:xfrm>
            <a:off x="-1" y="1"/>
            <a:ext cx="12192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lue Rectangle">
            <a:extLst>
              <a:ext uri="{FF2B5EF4-FFF2-40B4-BE49-F238E27FC236}">
                <a16:creationId xmlns:a16="http://schemas.microsoft.com/office/drawing/2014/main" id="{F7EF5983-449B-19E2-F715-3948D890A773}"/>
              </a:ext>
            </a:extLst>
          </p:cNvPr>
          <p:cNvSpPr/>
          <p:nvPr userDrawn="1"/>
        </p:nvSpPr>
        <p:spPr>
          <a:xfrm>
            <a:off x="-6780" y="6073483"/>
            <a:ext cx="12198780" cy="78451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27038003-9A43-8B51-1085-EF75636F9A57}"/>
              </a:ext>
            </a:extLst>
          </p:cNvPr>
          <p:cNvSpPr txBox="1">
            <a:spLocks/>
          </p:cNvSpPr>
          <p:nvPr/>
        </p:nvSpPr>
        <p:spPr>
          <a:xfrm>
            <a:off x="665810" y="6433840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4" name="Ebar Shape">
            <a:extLst>
              <a:ext uri="{FF2B5EF4-FFF2-40B4-BE49-F238E27FC236}">
                <a16:creationId xmlns:a16="http://schemas.microsoft.com/office/drawing/2014/main" id="{50DBC5FE-FE26-BAE2-93A2-4C688416C8F5}"/>
              </a:ext>
            </a:extLst>
          </p:cNvPr>
          <p:cNvSpPr/>
          <p:nvPr userDrawn="1"/>
        </p:nvSpPr>
        <p:spPr>
          <a:xfrm>
            <a:off x="3167404" y="1376909"/>
            <a:ext cx="8455844" cy="2743199"/>
          </a:xfrm>
          <a:custGeom>
            <a:avLst/>
            <a:gdLst>
              <a:gd name="connsiteX0" fmla="*/ 457210 w 8455844"/>
              <a:gd name="connsiteY0" fmla="*/ 0 h 2743199"/>
              <a:gd name="connsiteX1" fmla="*/ 7998635 w 8455844"/>
              <a:gd name="connsiteY1" fmla="*/ 0 h 2743199"/>
              <a:gd name="connsiteX2" fmla="*/ 8455844 w 8455844"/>
              <a:gd name="connsiteY2" fmla="*/ 457209 h 2743199"/>
              <a:gd name="connsiteX3" fmla="*/ 8455844 w 8455844"/>
              <a:gd name="connsiteY3" fmla="*/ 2285990 h 2743199"/>
              <a:gd name="connsiteX4" fmla="*/ 7998635 w 8455844"/>
              <a:gd name="connsiteY4" fmla="*/ 2743199 h 2743199"/>
              <a:gd name="connsiteX5" fmla="*/ 7721505 w 8455844"/>
              <a:gd name="connsiteY5" fmla="*/ 2743199 h 2743199"/>
              <a:gd name="connsiteX6" fmla="*/ 457210 w 8455844"/>
              <a:gd name="connsiteY6" fmla="*/ 2743199 h 2743199"/>
              <a:gd name="connsiteX7" fmla="*/ 0 w 8455844"/>
              <a:gd name="connsiteY7" fmla="*/ 2743199 h 2743199"/>
              <a:gd name="connsiteX8" fmla="*/ 0 w 8455844"/>
              <a:gd name="connsiteY8" fmla="*/ 561543 h 2743199"/>
              <a:gd name="connsiteX9" fmla="*/ 1 w 8455844"/>
              <a:gd name="connsiteY9" fmla="*/ 561543 h 2743199"/>
              <a:gd name="connsiteX10" fmla="*/ 1 w 8455844"/>
              <a:gd name="connsiteY10" fmla="*/ 457209 h 2743199"/>
              <a:gd name="connsiteX11" fmla="*/ 457210 w 8455844"/>
              <a:gd name="connsiteY11" fmla="*/ 0 h 2743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455844" h="2743199">
                <a:moveTo>
                  <a:pt x="457210" y="0"/>
                </a:moveTo>
                <a:lnTo>
                  <a:pt x="7998635" y="0"/>
                </a:lnTo>
                <a:cubicBezTo>
                  <a:pt x="8251145" y="0"/>
                  <a:pt x="8455844" y="204699"/>
                  <a:pt x="8455844" y="457209"/>
                </a:cubicBezTo>
                <a:lnTo>
                  <a:pt x="8455844" y="2285990"/>
                </a:lnTo>
                <a:cubicBezTo>
                  <a:pt x="8455844" y="2538500"/>
                  <a:pt x="8251145" y="2743199"/>
                  <a:pt x="7998635" y="2743199"/>
                </a:cubicBezTo>
                <a:lnTo>
                  <a:pt x="7721505" y="2743199"/>
                </a:lnTo>
                <a:lnTo>
                  <a:pt x="457210" y="2743199"/>
                </a:lnTo>
                <a:lnTo>
                  <a:pt x="0" y="2743199"/>
                </a:lnTo>
                <a:lnTo>
                  <a:pt x="0" y="561543"/>
                </a:lnTo>
                <a:lnTo>
                  <a:pt x="1" y="561543"/>
                </a:lnTo>
                <a:lnTo>
                  <a:pt x="1" y="457209"/>
                </a:lnTo>
                <a:cubicBezTo>
                  <a:pt x="1" y="204699"/>
                  <a:pt x="204700" y="0"/>
                  <a:pt x="457210" y="0"/>
                </a:cubicBezTo>
                <a:close/>
              </a:path>
            </a:pathLst>
          </a:custGeom>
          <a:noFill/>
          <a:ln w="28575">
            <a:solidFill>
              <a:srgbClr val="B2FF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 panose="020B0504020202020204" pitchFamily="34" charset="77"/>
              <a:ea typeface="+mn-ea"/>
              <a:cs typeface="+mn-cs"/>
            </a:endParaRPr>
          </a:p>
        </p:txBody>
      </p:sp>
      <p:pic>
        <p:nvPicPr>
          <p:cNvPr id="14" name="Lumen Logo">
            <a:extLst>
              <a:ext uri="{FF2B5EF4-FFF2-40B4-BE49-F238E27FC236}">
                <a16:creationId xmlns:a16="http://schemas.microsoft.com/office/drawing/2014/main" id="{1EC00295-E64B-1430-7820-DF23070843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5129" y="6288682"/>
            <a:ext cx="1603374" cy="421483"/>
          </a:xfrm>
          <a:prstGeom prst="rect">
            <a:avLst/>
          </a:prstGeom>
        </p:spPr>
      </p:pic>
      <p:sp>
        <p:nvSpPr>
          <p:cNvPr id="9" name="Subtitle">
            <a:extLst>
              <a:ext uri="{FF2B5EF4-FFF2-40B4-BE49-F238E27FC236}">
                <a16:creationId xmlns:a16="http://schemas.microsoft.com/office/drawing/2014/main" id="{EC3266E9-9311-00FB-8E05-3916218301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8005" y="3027436"/>
            <a:ext cx="7270476" cy="783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venir Next LT Pro Demi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With two lines of copy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7C9E512-BF07-C95F-C9E7-4B28F3BEEF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8005" y="1674435"/>
            <a:ext cx="7270476" cy="126523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36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  <a:lvl2pPr marL="457200" indent="0">
              <a:buFontTx/>
              <a:buNone/>
              <a:defRPr sz="6000" b="1" i="0">
                <a:latin typeface="Avenir Next LT Pro" panose="020B0504020202020204" pitchFamily="34" charset="77"/>
              </a:defRPr>
            </a:lvl2pPr>
            <a:lvl3pPr marL="914400" indent="0">
              <a:buFontTx/>
              <a:buNone/>
              <a:defRPr sz="6000" b="1" i="0">
                <a:latin typeface="Avenir Next LT Pro" panose="020B0504020202020204" pitchFamily="34" charset="77"/>
              </a:defRPr>
            </a:lvl3pPr>
            <a:lvl4pPr marL="1371600" indent="0">
              <a:buFontTx/>
              <a:buNone/>
              <a:defRPr sz="6000" b="1" i="0">
                <a:latin typeface="Avenir Next LT Pro" panose="020B0504020202020204" pitchFamily="34" charset="77"/>
              </a:defRPr>
            </a:lvl4pPr>
            <a:lvl5pPr marL="1828800" indent="0">
              <a:buFontTx/>
              <a:buNone/>
              <a:defRPr sz="6000" b="1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92471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 Slide 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Image">
            <a:extLst>
              <a:ext uri="{FF2B5EF4-FFF2-40B4-BE49-F238E27FC236}">
                <a16:creationId xmlns:a16="http://schemas.microsoft.com/office/drawing/2014/main" id="{6C83FD13-F9F5-C00B-3EB6-A5A7031973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Footer">
            <a:extLst>
              <a:ext uri="{FF2B5EF4-FFF2-40B4-BE49-F238E27FC236}">
                <a16:creationId xmlns:a16="http://schemas.microsoft.com/office/drawing/2014/main" id="{27038003-9A43-8B51-1085-EF75636F9A57}"/>
              </a:ext>
            </a:extLst>
          </p:cNvPr>
          <p:cNvSpPr txBox="1">
            <a:spLocks/>
          </p:cNvSpPr>
          <p:nvPr/>
        </p:nvSpPr>
        <p:spPr>
          <a:xfrm>
            <a:off x="665810" y="6433840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2026 Lumen Technologies. All Rights Reserved. 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421A928D-5568-4CC9-06C7-5403F02A077F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bg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pic>
        <p:nvPicPr>
          <p:cNvPr id="12" name="Lumen Logo">
            <a:extLst>
              <a:ext uri="{FF2B5EF4-FFF2-40B4-BE49-F238E27FC236}">
                <a16:creationId xmlns:a16="http://schemas.microsoft.com/office/drawing/2014/main" id="{611EF77F-8F11-EA1E-C810-50075F1378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45129" y="6279296"/>
            <a:ext cx="1603374" cy="425829"/>
          </a:xfrm>
          <a:prstGeom prst="rect">
            <a:avLst/>
          </a:prstGeom>
        </p:spPr>
      </p:pic>
      <p:sp>
        <p:nvSpPr>
          <p:cNvPr id="9" name="Subtitle">
            <a:extLst>
              <a:ext uri="{FF2B5EF4-FFF2-40B4-BE49-F238E27FC236}">
                <a16:creationId xmlns:a16="http://schemas.microsoft.com/office/drawing/2014/main" id="{EC3266E9-9311-00FB-8E05-3916218301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99406" y="3723172"/>
            <a:ext cx="7270476" cy="783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venir Next LT Pro Demi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With two lines of copy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7C9E512-BF07-C95F-C9E7-4B28F3BEEF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99406" y="2370171"/>
            <a:ext cx="7270476" cy="126523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36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  <a:lvl2pPr marL="457200" indent="0">
              <a:buFontTx/>
              <a:buNone/>
              <a:defRPr sz="6000" b="1" i="0">
                <a:latin typeface="Avenir Next LT Pro" panose="020B0504020202020204" pitchFamily="34" charset="77"/>
              </a:defRPr>
            </a:lvl2pPr>
            <a:lvl3pPr marL="914400" indent="0">
              <a:buFontTx/>
              <a:buNone/>
              <a:defRPr sz="6000" b="1" i="0">
                <a:latin typeface="Avenir Next LT Pro" panose="020B0504020202020204" pitchFamily="34" charset="77"/>
              </a:defRPr>
            </a:lvl3pPr>
            <a:lvl4pPr marL="1371600" indent="0">
              <a:buFontTx/>
              <a:buNone/>
              <a:defRPr sz="6000" b="1" i="0">
                <a:latin typeface="Avenir Next LT Pro" panose="020B0504020202020204" pitchFamily="34" charset="77"/>
              </a:defRPr>
            </a:lvl4pPr>
            <a:lvl5pPr marL="1828800" indent="0">
              <a:buFontTx/>
              <a:buNone/>
              <a:defRPr sz="6000" b="1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6153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rk Teal Rectangle">
            <a:extLst>
              <a:ext uri="{FF2B5EF4-FFF2-40B4-BE49-F238E27FC236}">
                <a16:creationId xmlns:a16="http://schemas.microsoft.com/office/drawing/2014/main" id="{257594FB-56B6-2693-6284-C444A7A19DB7}"/>
              </a:ext>
            </a:extLst>
          </p:cNvPr>
          <p:cNvSpPr/>
          <p:nvPr userDrawn="1"/>
        </p:nvSpPr>
        <p:spPr>
          <a:xfrm>
            <a:off x="-6780" y="0"/>
            <a:ext cx="1219878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27038003-9A43-8B51-1085-EF75636F9A57}"/>
              </a:ext>
            </a:extLst>
          </p:cNvPr>
          <p:cNvSpPr txBox="1">
            <a:spLocks/>
          </p:cNvSpPr>
          <p:nvPr/>
        </p:nvSpPr>
        <p:spPr>
          <a:xfrm>
            <a:off x="665810" y="6433840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bg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66CB4005-C12F-B1FA-5CC5-BB68BEC92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342" y="3219189"/>
            <a:ext cx="9092285" cy="814745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4" name="Blue Line">
            <a:extLst>
              <a:ext uri="{FF2B5EF4-FFF2-40B4-BE49-F238E27FC236}">
                <a16:creationId xmlns:a16="http://schemas.microsoft.com/office/drawing/2014/main" id="{944D61B7-A8F8-96B0-E2E8-8E06896D2408}"/>
              </a:ext>
            </a:extLst>
          </p:cNvPr>
          <p:cNvCxnSpPr>
            <a:cxnSpLocks/>
          </p:cNvCxnSpPr>
          <p:nvPr userDrawn="1"/>
        </p:nvCxnSpPr>
        <p:spPr>
          <a:xfrm>
            <a:off x="1208762" y="4033935"/>
            <a:ext cx="8112520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Blue Rectangle">
            <a:extLst>
              <a:ext uri="{FF2B5EF4-FFF2-40B4-BE49-F238E27FC236}">
                <a16:creationId xmlns:a16="http://schemas.microsoft.com/office/drawing/2014/main" id="{C3BF3C31-CF35-6E52-0098-2AEA5F62B082}"/>
              </a:ext>
            </a:extLst>
          </p:cNvPr>
          <p:cNvSpPr/>
          <p:nvPr userDrawn="1"/>
        </p:nvSpPr>
        <p:spPr>
          <a:xfrm>
            <a:off x="-6780" y="1"/>
            <a:ext cx="25027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89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 and Caption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rk Teal Rectangle">
            <a:extLst>
              <a:ext uri="{FF2B5EF4-FFF2-40B4-BE49-F238E27FC236}">
                <a16:creationId xmlns:a16="http://schemas.microsoft.com/office/drawing/2014/main" id="{D29869CD-2EE9-1469-B953-CF10D6C4E9AB}"/>
              </a:ext>
            </a:extLst>
          </p:cNvPr>
          <p:cNvSpPr/>
          <p:nvPr userDrawn="1"/>
        </p:nvSpPr>
        <p:spPr>
          <a:xfrm>
            <a:off x="-6780" y="-1"/>
            <a:ext cx="12207572" cy="69002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FA3318CA-DF78-D8E5-895B-848FDD27C887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2F0F1"/>
                </a:solidFill>
              </a:rPr>
              <a:t>© 2026 Lumen Technologies. All Rights Reserved. 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F272F53F-F924-6B70-C8E2-016B5D9C407D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rgbClr val="F2F0F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rgbClr val="F2F0F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3" name="Blue Rectangle">
            <a:extLst>
              <a:ext uri="{FF2B5EF4-FFF2-40B4-BE49-F238E27FC236}">
                <a16:creationId xmlns:a16="http://schemas.microsoft.com/office/drawing/2014/main" id="{6D4A8A27-D013-7FB4-BB0C-610020B270DE}"/>
              </a:ext>
            </a:extLst>
          </p:cNvPr>
          <p:cNvSpPr/>
          <p:nvPr userDrawn="1"/>
        </p:nvSpPr>
        <p:spPr>
          <a:xfrm>
            <a:off x="-6780" y="0"/>
            <a:ext cx="12198780" cy="45719"/>
          </a:xfrm>
          <a:prstGeom prst="rect">
            <a:avLst/>
          </a:prstGeom>
          <a:solidFill>
            <a:srgbClr val="B2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8429"/>
              </a:solidFill>
            </a:endParaRPr>
          </a:p>
        </p:txBody>
      </p:sp>
      <p:pic>
        <p:nvPicPr>
          <p:cNvPr id="4" name="Lumen Logo">
            <a:extLst>
              <a:ext uri="{FF2B5EF4-FFF2-40B4-BE49-F238E27FC236}">
                <a16:creationId xmlns:a16="http://schemas.microsoft.com/office/drawing/2014/main" id="{95671262-6EA7-5666-40BB-81898A0D91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5129" y="6279296"/>
            <a:ext cx="1603374" cy="425829"/>
          </a:xfrm>
          <a:prstGeom prst="rect">
            <a:avLst/>
          </a:prstGeom>
        </p:spPr>
      </p:pic>
      <p:sp>
        <p:nvSpPr>
          <p:cNvPr id="10" name="Body Copy">
            <a:extLst>
              <a:ext uri="{FF2B5EF4-FFF2-40B4-BE49-F238E27FC236}">
                <a16:creationId xmlns:a16="http://schemas.microsoft.com/office/drawing/2014/main" id="{8C3BD903-A537-E3A0-0F35-C5E46F678C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797" y="1374445"/>
            <a:ext cx="11440387" cy="4448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1pPr>
            <a:lvl2pPr marL="50292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2pPr>
            <a:lvl3pPr marL="77724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3pPr>
            <a:lvl4pPr marL="105156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4pPr>
            <a:lvl5pPr marL="132588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C909A1C-D352-0A28-4AC8-EF95F89A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471411"/>
            <a:ext cx="11436185" cy="69645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b="1" i="0">
                <a:solidFill>
                  <a:srgbClr val="F2F0F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2210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 and Caption 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rk Teal Rectangle">
            <a:extLst>
              <a:ext uri="{FF2B5EF4-FFF2-40B4-BE49-F238E27FC236}">
                <a16:creationId xmlns:a16="http://schemas.microsoft.com/office/drawing/2014/main" id="{D29869CD-2EE9-1469-B953-CF10D6C4E9AB}"/>
              </a:ext>
            </a:extLst>
          </p:cNvPr>
          <p:cNvSpPr/>
          <p:nvPr userDrawn="1"/>
        </p:nvSpPr>
        <p:spPr>
          <a:xfrm>
            <a:off x="-6780" y="-1"/>
            <a:ext cx="12198780" cy="69752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FA3318CA-DF78-D8E5-895B-848FDD27C887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2F0F1"/>
                </a:solidFill>
              </a:rPr>
              <a:t>© 2026 Lumen Technologies. All Rights Reserved. 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F272F53F-F924-6B70-C8E2-016B5D9C407D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rgbClr val="F2F0F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rgbClr val="F2F0F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3" name="Blue Rectangle">
            <a:extLst>
              <a:ext uri="{FF2B5EF4-FFF2-40B4-BE49-F238E27FC236}">
                <a16:creationId xmlns:a16="http://schemas.microsoft.com/office/drawing/2014/main" id="{6D4A8A27-D013-7FB4-BB0C-610020B270DE}"/>
              </a:ext>
            </a:extLst>
          </p:cNvPr>
          <p:cNvSpPr/>
          <p:nvPr userDrawn="1"/>
        </p:nvSpPr>
        <p:spPr>
          <a:xfrm>
            <a:off x="-6780" y="-14079"/>
            <a:ext cx="12198780" cy="257317"/>
          </a:xfrm>
          <a:prstGeom prst="rect">
            <a:avLst/>
          </a:prstGeom>
          <a:solidFill>
            <a:srgbClr val="B2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8429"/>
              </a:solidFill>
            </a:endParaRPr>
          </a:p>
        </p:txBody>
      </p:sp>
      <p:pic>
        <p:nvPicPr>
          <p:cNvPr id="4" name="Lumen Logo">
            <a:extLst>
              <a:ext uri="{FF2B5EF4-FFF2-40B4-BE49-F238E27FC236}">
                <a16:creationId xmlns:a16="http://schemas.microsoft.com/office/drawing/2014/main" id="{95671262-6EA7-5666-40BB-81898A0D91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5129" y="6279296"/>
            <a:ext cx="1603374" cy="425829"/>
          </a:xfrm>
          <a:prstGeom prst="rect">
            <a:avLst/>
          </a:prstGeom>
        </p:spPr>
      </p:pic>
      <p:sp>
        <p:nvSpPr>
          <p:cNvPr id="10" name="Body Copy">
            <a:extLst>
              <a:ext uri="{FF2B5EF4-FFF2-40B4-BE49-F238E27FC236}">
                <a16:creationId xmlns:a16="http://schemas.microsoft.com/office/drawing/2014/main" id="{8C3BD903-A537-E3A0-0F35-C5E46F678C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797" y="1374445"/>
            <a:ext cx="11440387" cy="4448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1pPr>
            <a:lvl2pPr marL="50292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2pPr>
            <a:lvl3pPr marL="77724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3pPr>
            <a:lvl4pPr marL="105156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4pPr>
            <a:lvl5pPr marL="132588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C909A1C-D352-0A28-4AC8-EF95F89A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471411"/>
            <a:ext cx="11436185" cy="69645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b="1" i="0">
                <a:solidFill>
                  <a:srgbClr val="F2F0F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52397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ue Rectangle">
            <a:extLst>
              <a:ext uri="{FF2B5EF4-FFF2-40B4-BE49-F238E27FC236}">
                <a16:creationId xmlns:a16="http://schemas.microsoft.com/office/drawing/2014/main" id="{588400B6-E59B-8008-539E-DB4E4DB337E3}"/>
              </a:ext>
            </a:extLst>
          </p:cNvPr>
          <p:cNvSpPr/>
          <p:nvPr userDrawn="1"/>
        </p:nvSpPr>
        <p:spPr>
          <a:xfrm>
            <a:off x="0" y="0"/>
            <a:ext cx="12192000" cy="1005839"/>
          </a:xfrm>
          <a:prstGeom prst="rect">
            <a:avLst/>
          </a:prstGeom>
          <a:solidFill>
            <a:srgbClr val="B2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8429"/>
              </a:solidFill>
            </a:endParaRPr>
          </a:p>
        </p:txBody>
      </p:sp>
      <p:sp>
        <p:nvSpPr>
          <p:cNvPr id="5" name="Dark Teal Rectangle">
            <a:extLst>
              <a:ext uri="{FF2B5EF4-FFF2-40B4-BE49-F238E27FC236}">
                <a16:creationId xmlns:a16="http://schemas.microsoft.com/office/drawing/2014/main" id="{F31E3684-9BCC-BFED-7065-519146B5468D}"/>
              </a:ext>
            </a:extLst>
          </p:cNvPr>
          <p:cNvSpPr/>
          <p:nvPr/>
        </p:nvSpPr>
        <p:spPr>
          <a:xfrm>
            <a:off x="0" y="1005840"/>
            <a:ext cx="12191999" cy="5852160"/>
          </a:xfrm>
          <a:prstGeom prst="rect">
            <a:avLst/>
          </a:prstGeom>
          <a:solidFill>
            <a:srgbClr val="0F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1CC16F2-D514-99A0-DFE3-D2DA88971442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2026 Lumen Technologies. All Rights Reserved.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9B468E7-7646-7D7C-4166-72C2F8BFE34F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bg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pic>
        <p:nvPicPr>
          <p:cNvPr id="3" name="Lumen Logo">
            <a:extLst>
              <a:ext uri="{FF2B5EF4-FFF2-40B4-BE49-F238E27FC236}">
                <a16:creationId xmlns:a16="http://schemas.microsoft.com/office/drawing/2014/main" id="{B18C066F-3413-CB81-9DD1-CF96B85447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5129" y="6279296"/>
            <a:ext cx="1603374" cy="425829"/>
          </a:xfrm>
          <a:prstGeom prst="rect">
            <a:avLst/>
          </a:prstGeom>
        </p:spPr>
      </p:pic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978999F1-EAD1-FC88-3C62-8A23B53DB6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8768" y="1503363"/>
            <a:ext cx="3316296" cy="4319587"/>
          </a:xfrm>
          <a:custGeom>
            <a:avLst/>
            <a:gdLst>
              <a:gd name="connsiteX0" fmla="*/ 576803 w 3967404"/>
              <a:gd name="connsiteY0" fmla="*/ 0 h 4319587"/>
              <a:gd name="connsiteX1" fmla="*/ 1265287 w 3967404"/>
              <a:gd name="connsiteY1" fmla="*/ 0 h 4319587"/>
              <a:gd name="connsiteX2" fmla="*/ 3426968 w 3967404"/>
              <a:gd name="connsiteY2" fmla="*/ 0 h 4319587"/>
              <a:gd name="connsiteX3" fmla="*/ 3460750 w 3967404"/>
              <a:gd name="connsiteY3" fmla="*/ 0 h 4319587"/>
              <a:gd name="connsiteX4" fmla="*/ 3460750 w 3967404"/>
              <a:gd name="connsiteY4" fmla="*/ 3406 h 4319587"/>
              <a:gd name="connsiteX5" fmla="*/ 3535885 w 3967404"/>
              <a:gd name="connsiteY5" fmla="*/ 10980 h 4319587"/>
              <a:gd name="connsiteX6" fmla="*/ 3967404 w 3967404"/>
              <a:gd name="connsiteY6" fmla="*/ 540436 h 4319587"/>
              <a:gd name="connsiteX7" fmla="*/ 3967404 w 3967404"/>
              <a:gd name="connsiteY7" fmla="*/ 3779151 h 4319587"/>
              <a:gd name="connsiteX8" fmla="*/ 3426968 w 3967404"/>
              <a:gd name="connsiteY8" fmla="*/ 4319587 h 4319587"/>
              <a:gd name="connsiteX9" fmla="*/ 2883947 w 3967404"/>
              <a:gd name="connsiteY9" fmla="*/ 4319587 h 4319587"/>
              <a:gd name="connsiteX10" fmla="*/ 1265287 w 3967404"/>
              <a:gd name="connsiteY10" fmla="*/ 4319587 h 4319587"/>
              <a:gd name="connsiteX11" fmla="*/ 0 w 3967404"/>
              <a:gd name="connsiteY11" fmla="*/ 4319587 h 4319587"/>
              <a:gd name="connsiteX12" fmla="*/ 0 w 3967404"/>
              <a:gd name="connsiteY12" fmla="*/ 576803 h 4319587"/>
              <a:gd name="connsiteX13" fmla="*/ 576803 w 3967404"/>
              <a:gd name="connsiteY13" fmla="*/ 0 h 431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67404" h="4319587">
                <a:moveTo>
                  <a:pt x="576803" y="0"/>
                </a:moveTo>
                <a:lnTo>
                  <a:pt x="1265287" y="0"/>
                </a:lnTo>
                <a:lnTo>
                  <a:pt x="3426968" y="0"/>
                </a:lnTo>
                <a:lnTo>
                  <a:pt x="3460750" y="0"/>
                </a:lnTo>
                <a:lnTo>
                  <a:pt x="3460750" y="3406"/>
                </a:lnTo>
                <a:lnTo>
                  <a:pt x="3535885" y="10980"/>
                </a:lnTo>
                <a:cubicBezTo>
                  <a:pt x="3782153" y="61373"/>
                  <a:pt x="3967404" y="279271"/>
                  <a:pt x="3967404" y="540436"/>
                </a:cubicBezTo>
                <a:lnTo>
                  <a:pt x="3967404" y="3779151"/>
                </a:lnTo>
                <a:cubicBezTo>
                  <a:pt x="3967404" y="4077626"/>
                  <a:pt x="3725443" y="4319587"/>
                  <a:pt x="3426968" y="4319587"/>
                </a:cubicBezTo>
                <a:lnTo>
                  <a:pt x="2883947" y="4319587"/>
                </a:lnTo>
                <a:lnTo>
                  <a:pt x="1265287" y="4319587"/>
                </a:lnTo>
                <a:lnTo>
                  <a:pt x="0" y="4319587"/>
                </a:lnTo>
                <a:lnTo>
                  <a:pt x="0" y="576803"/>
                </a:lnTo>
                <a:cubicBezTo>
                  <a:pt x="0" y="258243"/>
                  <a:pt x="258243" y="0"/>
                  <a:pt x="576803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FontTx/>
              <a:buNone/>
              <a:defRPr b="0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D3B3B1E2-4BF2-CB62-C198-61F88B677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48" y="235419"/>
            <a:ext cx="11314038" cy="5407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Body Copy">
            <a:extLst>
              <a:ext uri="{FF2B5EF4-FFF2-40B4-BE49-F238E27FC236}">
                <a16:creationId xmlns:a16="http://schemas.microsoft.com/office/drawing/2014/main" id="{DF8A00A2-6E2B-A4DD-71D5-1220EDCABD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798" y="1374445"/>
            <a:ext cx="7485036" cy="4448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1pPr>
            <a:lvl2pPr marL="50292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2pPr>
            <a:lvl3pPr marL="77724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3pPr>
            <a:lvl4pPr marL="105156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4pPr>
            <a:lvl5pPr marL="132588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71188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ey Rectangle">
            <a:extLst>
              <a:ext uri="{FF2B5EF4-FFF2-40B4-BE49-F238E27FC236}">
                <a16:creationId xmlns:a16="http://schemas.microsoft.com/office/drawing/2014/main" id="{6BF4E0D4-0E7A-1EBC-D7AA-83DCB6998A5E}"/>
              </a:ext>
            </a:extLst>
          </p:cNvPr>
          <p:cNvSpPr/>
          <p:nvPr userDrawn="1"/>
        </p:nvSpPr>
        <p:spPr>
          <a:xfrm>
            <a:off x="0" y="0"/>
            <a:ext cx="6674069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rk Teal Rectangle">
            <a:extLst>
              <a:ext uri="{FF2B5EF4-FFF2-40B4-BE49-F238E27FC236}">
                <a16:creationId xmlns:a16="http://schemas.microsoft.com/office/drawing/2014/main" id="{9ADA8D84-288D-C08A-7C67-4FEABE8285E6}"/>
              </a:ext>
            </a:extLst>
          </p:cNvPr>
          <p:cNvSpPr/>
          <p:nvPr userDrawn="1"/>
        </p:nvSpPr>
        <p:spPr>
          <a:xfrm>
            <a:off x="6674069" y="0"/>
            <a:ext cx="5517931" cy="6858000"/>
          </a:xfrm>
          <a:prstGeom prst="rect">
            <a:avLst/>
          </a:prstGeom>
          <a:solidFill>
            <a:srgbClr val="0F31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E3A2CE8B-74D5-EEB4-B718-BAFE50566A9A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3D0EFD52-CE38-04EE-A1EA-CFACFE225F36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pic>
        <p:nvPicPr>
          <p:cNvPr id="10" name="Lumen Logo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B7B78B99-118F-86B0-6519-BA469FA2E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9084" y="6269524"/>
            <a:ext cx="1622323" cy="431960"/>
          </a:xfrm>
          <a:prstGeom prst="rect">
            <a:avLst/>
          </a:prstGeom>
        </p:spPr>
      </p:pic>
      <p:sp>
        <p:nvSpPr>
          <p:cNvPr id="9" name="Body Copy Right">
            <a:extLst>
              <a:ext uri="{FF2B5EF4-FFF2-40B4-BE49-F238E27FC236}">
                <a16:creationId xmlns:a16="http://schemas.microsoft.com/office/drawing/2014/main" id="{D59B2269-D88E-3FC3-859E-D7C4C896FF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0" y="1374444"/>
            <a:ext cx="4758203" cy="4448506"/>
          </a:xfrm>
        </p:spPr>
        <p:txBody>
          <a:bodyPr/>
          <a:lstStyle>
            <a:lvl1pPr>
              <a:buClr>
                <a:schemeClr val="accent5"/>
              </a:buClr>
              <a:defRPr>
                <a:solidFill>
                  <a:srgbClr val="F2F0F1"/>
                </a:solidFill>
              </a:defRPr>
            </a:lvl1pPr>
            <a:lvl2pPr>
              <a:buClr>
                <a:schemeClr val="accent5"/>
              </a:buClr>
              <a:defRPr>
                <a:solidFill>
                  <a:srgbClr val="F2F0F1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rgbClr val="F2F0F1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rgbClr val="F2F0F1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rgbClr val="F2F0F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Body Copy Left">
            <a:extLst>
              <a:ext uri="{FF2B5EF4-FFF2-40B4-BE49-F238E27FC236}">
                <a16:creationId xmlns:a16="http://schemas.microsoft.com/office/drawing/2014/main" id="{F378F601-4B61-BD32-42E7-C90A29A6C85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6798" y="1374445"/>
            <a:ext cx="5920473" cy="4448505"/>
          </a:xfrm>
        </p:spPr>
        <p:txBody>
          <a:bodyPr/>
          <a:lstStyle>
            <a:lvl1pPr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85E6012-FDB3-2B5A-33F4-39B57CE94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76449"/>
            <a:ext cx="5909398" cy="69141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75079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">
            <a:extLst>
              <a:ext uri="{FF2B5EF4-FFF2-40B4-BE49-F238E27FC236}">
                <a16:creationId xmlns:a16="http://schemas.microsoft.com/office/drawing/2014/main" id="{DCA09D2F-A779-F69F-53A9-D8230E75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43350" y="6359138"/>
            <a:ext cx="4114800" cy="365125"/>
          </a:xfrm>
        </p:spPr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© 2026 Lumen Technologies. All Rights Reserved.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88B4B32-4B19-AC20-E557-227774CC1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15B2B1-06D0-E34F-A05D-8EE3570A0B5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">
            <a:extLst>
              <a:ext uri="{FF2B5EF4-FFF2-40B4-BE49-F238E27FC236}">
                <a16:creationId xmlns:a16="http://schemas.microsoft.com/office/drawing/2014/main" id="{BAFF8E80-3225-E650-5F96-F5E32021F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07" y="469426"/>
            <a:ext cx="11434203" cy="69141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75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643350" y="63694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© 2026 Lumen Technologies. All Rights Reserved.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278647" y="6371850"/>
            <a:ext cx="36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fld id="{5815B2B1-06D0-E34F-A05D-8EE3570A0B5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Lumen Logo" descr="A picture containing clock&#10;&#10;Description automatically generated">
            <a:extLst>
              <a:ext uri="{FF2B5EF4-FFF2-40B4-BE49-F238E27FC236}">
                <a16:creationId xmlns:a16="http://schemas.microsoft.com/office/drawing/2014/main" id="{FD7D3C2F-B871-1F91-2C09-EFC7DE14343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345129" y="6279637"/>
            <a:ext cx="1603374" cy="425385"/>
          </a:xfrm>
          <a:prstGeom prst="rect">
            <a:avLst/>
          </a:prstGeom>
        </p:spPr>
      </p:pic>
      <p:sp>
        <p:nvSpPr>
          <p:cNvPr id="3" name="Body Copy"/>
          <p:cNvSpPr>
            <a:spLocks noGrp="1"/>
          </p:cNvSpPr>
          <p:nvPr>
            <p:ph type="body" idx="1"/>
          </p:nvPr>
        </p:nvSpPr>
        <p:spPr>
          <a:xfrm>
            <a:off x="278647" y="1825625"/>
            <a:ext cx="116698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78647" y="365125"/>
            <a:ext cx="116698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1737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13" r:id="rId2"/>
    <p:sldLayoutId id="2147483820" r:id="rId3"/>
    <p:sldLayoutId id="2147483811" r:id="rId4"/>
    <p:sldLayoutId id="2147483812" r:id="rId5"/>
    <p:sldLayoutId id="2147483864" r:id="rId6"/>
    <p:sldLayoutId id="2147483865" r:id="rId7"/>
    <p:sldLayoutId id="2147483792" r:id="rId8"/>
    <p:sldLayoutId id="2147483802" r:id="rId9"/>
    <p:sldLayoutId id="2147483793" r:id="rId10"/>
    <p:sldLayoutId id="2147483788" r:id="rId11"/>
    <p:sldLayoutId id="2147483789" r:id="rId12"/>
    <p:sldLayoutId id="2147483790" r:id="rId13"/>
    <p:sldLayoutId id="2147483791" r:id="rId14"/>
    <p:sldLayoutId id="2147483808" r:id="rId15"/>
    <p:sldLayoutId id="2147483794" r:id="rId16"/>
    <p:sldLayoutId id="2147483795" r:id="rId17"/>
    <p:sldLayoutId id="2147483860" r:id="rId18"/>
    <p:sldLayoutId id="2147483818" r:id="rId19"/>
    <p:sldLayoutId id="2147483819" r:id="rId20"/>
    <p:sldLayoutId id="2147483826" r:id="rId21"/>
    <p:sldLayoutId id="2147483816" r:id="rId22"/>
    <p:sldLayoutId id="2147483825" r:id="rId23"/>
    <p:sldLayoutId id="2147483817" r:id="rId24"/>
    <p:sldLayoutId id="2147483815" r:id="rId25"/>
    <p:sldLayoutId id="2147483805" r:id="rId2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Avenir Next LT Pro" panose="020B0504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B8429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1pPr>
      <a:lvl2pPr marL="466344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B8429"/>
        </a:buClr>
        <a:buSzPct val="130000"/>
        <a:buFont typeface="System Font Regular"/>
        <a:buChar char="-"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740664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B8429"/>
        </a:buClr>
        <a:buSzPct val="90000"/>
        <a:buFont typeface="Wingdings" pitchFamily="2" charset="2"/>
        <a:buChar char="§"/>
        <a:defRPr sz="16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1014984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B8429"/>
        </a:buClr>
        <a:buSzPct val="10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1289304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B8429"/>
        </a:buClr>
        <a:buSzPct val="130000"/>
        <a:buFont typeface="System Font Regular"/>
        <a:buChar char="-"/>
        <a:defRPr sz="16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64">
          <p15:clr>
            <a:srgbClr val="F26B43"/>
          </p15:clr>
        </p15:guide>
        <p15:guide id="3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/3.0/" TargetMode="External"/><Relationship Id="rId3" Type="http://schemas.openxmlformats.org/officeDocument/2006/relationships/image" Target="../media/image19.jpg"/><Relationship Id="rId7" Type="http://schemas.openxmlformats.org/officeDocument/2006/relationships/hyperlink" Target="mailto:AI-Governance@lumen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centurylink.sharepoint.com/sites/AICoE-LumenBestPractices/SitePages/Approved-LLM's.aspx" TargetMode="External"/><Relationship Id="rId5" Type="http://schemas.openxmlformats.org/officeDocument/2006/relationships/hyperlink" Target="https://centurylink.sharepoint.com/sites/ILLegalCorpAdmin/SitePages/AI-Governance.aspx" TargetMode="External"/><Relationship Id="rId4" Type="http://schemas.openxmlformats.org/officeDocument/2006/relationships/hyperlink" Target="https://www.flickr.com/photos/zigazou76/3702501888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llama/ollama/blob/main/docs/api.md#create-a-model" TargetMode="Externa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ython.langchain.com/docs/integrations/chat/ollama/" TargetMode="External"/><Relationship Id="rId3" Type="http://schemas.openxmlformats.org/officeDocument/2006/relationships/hyperlink" Target="https://github.com/ollama/ollama" TargetMode="External"/><Relationship Id="rId7" Type="http://schemas.openxmlformats.org/officeDocument/2006/relationships/hyperlink" Target="https://github.com/ollama/ollama-python" TargetMode="External"/><Relationship Id="rId2" Type="http://schemas.openxmlformats.org/officeDocument/2006/relationships/hyperlink" Target="https://ollama.com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ollama/ollama-js" TargetMode="External"/><Relationship Id="rId5" Type="http://schemas.openxmlformats.org/officeDocument/2006/relationships/hyperlink" Target="https://podman.io/" TargetMode="External"/><Relationship Id="rId4" Type="http://schemas.openxmlformats.org/officeDocument/2006/relationships/hyperlink" Target="https://ollama.readthedocs.io/en/" TargetMode="External"/><Relationship Id="rId9" Type="http://schemas.openxmlformats.org/officeDocument/2006/relationships/hyperlink" Target="https://python.langchain.com/docs/integrations/text_embedding/ollama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brand.lumentech.com/document/449/collection/251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character in llama clothing using laptops&#10;&#10;AI-generated content may be incorrect.">
            <a:extLst>
              <a:ext uri="{FF2B5EF4-FFF2-40B4-BE49-F238E27FC236}">
                <a16:creationId xmlns:a16="http://schemas.microsoft.com/office/drawing/2014/main" id="{6C980EDE-D0D1-B288-2AB5-5E5DD6DB455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2000"/>
                    </a14:imgEffect>
                    <a14:imgEffect>
                      <a14:brightnessContrast bright="14000" contrast="-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" y="1371600"/>
            <a:ext cx="9039865" cy="4010533"/>
          </a:xfrm>
          <a:prstGeom prst="rect">
            <a:avLst/>
          </a:prstGeom>
          <a:ln w="34925">
            <a:noFill/>
          </a:ln>
          <a:effectLst>
            <a:softEdge rad="462197"/>
          </a:effec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D9AF54-3E5D-E758-71AB-8B9F421212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Spring Summit 2026</a:t>
            </a:r>
          </a:p>
          <a:p>
            <a:r>
              <a:rPr lang="en-US"/>
              <a:t>Tristan Roberts &amp; Gabrielle Maxey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61AE2-0E11-DDEE-494B-BDEEC0A534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Using Ollama as a Framework</a:t>
            </a:r>
          </a:p>
        </p:txBody>
      </p:sp>
    </p:spTree>
    <p:extLst>
      <p:ext uri="{BB962C8B-B14F-4D97-AF65-F5344CB8AC3E}">
        <p14:creationId xmlns:p14="http://schemas.microsoft.com/office/powerpoint/2010/main" val="3701906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3D07C-22F4-CF10-BED6-606AAD074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3B3-022A-95E7-22B4-7C58812D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032" y="533036"/>
            <a:ext cx="10412177" cy="1325563"/>
          </a:xfrm>
        </p:spPr>
        <p:txBody>
          <a:bodyPr/>
          <a:lstStyle/>
          <a:p>
            <a:r>
              <a:rPr lang="en-US" dirty="0"/>
              <a:t>Things We Will Cover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FB73A9-EA2F-6778-5092-F7D717709ED6}"/>
              </a:ext>
            </a:extLst>
          </p:cNvPr>
          <p:cNvSpPr txBox="1"/>
          <p:nvPr/>
        </p:nvSpPr>
        <p:spPr>
          <a:xfrm>
            <a:off x="3915165" y="2457316"/>
            <a:ext cx="436166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cs typeface="Arial"/>
              </a:rPr>
              <a:t>How to ‘Train’ vs Tune</a:t>
            </a:r>
            <a:endParaRPr kumimoji="0" lang="en-US" sz="1800" i="0" u="none" kern="1200" cap="none" spc="0" normalizeH="0" noProof="0" dirty="0">
              <a:ln>
                <a:noFill/>
              </a:ln>
              <a:effectLst/>
              <a:uLnTx/>
              <a:uFillTx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AD8E2-A2CF-DD31-93B1-7CEB1777D076}"/>
              </a:ext>
            </a:extLst>
          </p:cNvPr>
          <p:cNvSpPr txBox="1"/>
          <p:nvPr/>
        </p:nvSpPr>
        <p:spPr>
          <a:xfrm>
            <a:off x="5239671" y="3547329"/>
            <a:ext cx="1712656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</a:rPr>
              <a:t>Questions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  <a:cs typeface="Arial"/>
                <a:sym typeface="Trebuchet MS" panose="020B0603020202020204" pitchFamily="34" charset="0"/>
              </a:rPr>
              <a:t>Expected throughout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70A66-9B6B-C438-7372-4E9C17391A35}"/>
              </a:ext>
            </a:extLst>
          </p:cNvPr>
          <p:cNvSpPr txBox="1"/>
          <p:nvPr/>
        </p:nvSpPr>
        <p:spPr>
          <a:xfrm>
            <a:off x="4737228" y="1973291"/>
            <a:ext cx="271754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en-US" dirty="0">
                <a:cs typeface="Arial"/>
              </a:rPr>
              <a:t>Make a Model Yours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E3266-B187-6782-0468-EDB9138260F3}"/>
              </a:ext>
            </a:extLst>
          </p:cNvPr>
          <p:cNvSpPr txBox="1"/>
          <p:nvPr/>
        </p:nvSpPr>
        <p:spPr>
          <a:xfrm>
            <a:off x="4362202" y="2941340"/>
            <a:ext cx="346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Working With A Lora Adapter</a:t>
            </a:r>
          </a:p>
        </p:txBody>
      </p:sp>
    </p:spTree>
    <p:extLst>
      <p:ext uri="{BB962C8B-B14F-4D97-AF65-F5344CB8AC3E}">
        <p14:creationId xmlns:p14="http://schemas.microsoft.com/office/powerpoint/2010/main" val="4257734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CEBC5-A5CF-8C1C-947E-4A9798DD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screenshot of a cartoon&#10;&#10;AI-generated content may be incorrect.">
            <a:extLst>
              <a:ext uri="{FF2B5EF4-FFF2-40B4-BE49-F238E27FC236}">
                <a16:creationId xmlns:a16="http://schemas.microsoft.com/office/drawing/2014/main" id="{83654A02-AF0E-7ED9-9668-41E0B5D32F2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13982" t="13172" r="16080" b="8974"/>
          <a:stretch>
            <a:fillRect/>
          </a:stretch>
        </p:blipFill>
        <p:spPr>
          <a:xfrm>
            <a:off x="8115300" y="1405089"/>
            <a:ext cx="3543886" cy="4253394"/>
          </a:xfr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9C454CB-80FE-2F92-0815-80D312CEB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48" y="235419"/>
            <a:ext cx="11314038" cy="540749"/>
          </a:xfrm>
        </p:spPr>
        <p:txBody>
          <a:bodyPr anchor="ctr">
            <a:normAutofit/>
          </a:bodyPr>
          <a:lstStyle/>
          <a:p>
            <a:r>
              <a:rPr lang="en-US" dirty="0"/>
              <a:t>What is Ollama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939F7-FE7E-460D-FF98-149ABD4FCF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798" y="1374445"/>
            <a:ext cx="7485036" cy="4448505"/>
          </a:xfrm>
        </p:spPr>
        <p:txBody>
          <a:bodyPr>
            <a:normAutofit/>
          </a:bodyPr>
          <a:lstStyle/>
          <a:p>
            <a:pPr marL="320040"/>
            <a:r>
              <a:rPr lang="en-US" dirty="0"/>
              <a:t>a lightweight, extensible framework for building and running language models on a local machine.</a:t>
            </a:r>
          </a:p>
          <a:p>
            <a:pPr marL="320040"/>
            <a:r>
              <a:rPr lang="en-US" dirty="0"/>
              <a:t>Supports many popular models such as OpenAI, gemma, mistral, and llama</a:t>
            </a:r>
          </a:p>
          <a:p>
            <a:pPr marL="320040"/>
            <a:r>
              <a:rPr lang="en-US" dirty="0"/>
              <a:t>Allows personalization of input data, interpretations, and response.</a:t>
            </a:r>
          </a:p>
          <a:p>
            <a:pPr marL="320040"/>
            <a:r>
              <a:rPr lang="en-US" dirty="0"/>
              <a:t>Now Includes the ability to run cloud models, eliminating the need for individuals to have massive GPUs.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205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4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FE355963-FBE3-F028-1106-3774E5DC1393}"/>
              </a:ext>
            </a:extLst>
          </p:cNvPr>
          <p:cNvGrpSpPr/>
          <p:nvPr/>
        </p:nvGrpSpPr>
        <p:grpSpPr>
          <a:xfrm>
            <a:off x="252350" y="2252053"/>
            <a:ext cx="4953000" cy="1191490"/>
            <a:chOff x="252350" y="2252053"/>
            <a:chExt cx="4953000" cy="119149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E0C363F-48D8-1CD9-657C-499689864F31}"/>
                </a:ext>
              </a:extLst>
            </p:cNvPr>
            <p:cNvSpPr>
              <a:spLocks/>
            </p:cNvSpPr>
            <p:nvPr/>
          </p:nvSpPr>
          <p:spPr>
            <a:xfrm>
              <a:off x="252350" y="2252053"/>
              <a:ext cx="4953000" cy="1191490"/>
            </a:xfrm>
            <a:prstGeom prst="roundRect">
              <a:avLst>
                <a:gd name="adj" fmla="val 13677"/>
              </a:avLst>
            </a:prstGeom>
            <a:solidFill>
              <a:schemeClr val="bg2">
                <a:alpha val="25062"/>
              </a:schemeClr>
            </a:solidFill>
            <a:ln w="34925" cap="sq" cmpd="sng">
              <a:solidFill>
                <a:srgbClr val="003233"/>
              </a:solidFill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526128"/>
                        <a:gd name="csY0" fmla="*/ 283344 h 1700029"/>
                        <a:gd name="csX1" fmla="*/ 283344 w 4526128"/>
                        <a:gd name="csY1" fmla="*/ 0 h 1700029"/>
                        <a:gd name="csX2" fmla="*/ 4242784 w 4526128"/>
                        <a:gd name="csY2" fmla="*/ 0 h 1700029"/>
                        <a:gd name="csX3" fmla="*/ 4526128 w 4526128"/>
                        <a:gd name="csY3" fmla="*/ 283344 h 1700029"/>
                        <a:gd name="csX4" fmla="*/ 4526128 w 4526128"/>
                        <a:gd name="csY4" fmla="*/ 1416685 h 1700029"/>
                        <a:gd name="csX5" fmla="*/ 4242784 w 4526128"/>
                        <a:gd name="csY5" fmla="*/ 1700029 h 1700029"/>
                        <a:gd name="csX6" fmla="*/ 283344 w 4526128"/>
                        <a:gd name="csY6" fmla="*/ 1700029 h 1700029"/>
                        <a:gd name="csX7" fmla="*/ 0 w 4526128"/>
                        <a:gd name="csY7" fmla="*/ 1416685 h 1700029"/>
                        <a:gd name="csX8" fmla="*/ 0 w 4526128"/>
                        <a:gd name="csY8" fmla="*/ 283344 h 170002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526128" h="1700029" fill="none" extrusionOk="0">
                          <a:moveTo>
                            <a:pt x="0" y="283344"/>
                          </a:moveTo>
                          <a:cubicBezTo>
                            <a:pt x="-5561" y="125958"/>
                            <a:pt x="130962" y="3357"/>
                            <a:pt x="283344" y="0"/>
                          </a:cubicBezTo>
                          <a:cubicBezTo>
                            <a:pt x="1981902" y="130954"/>
                            <a:pt x="2726381" y="43574"/>
                            <a:pt x="4242784" y="0"/>
                          </a:cubicBezTo>
                          <a:cubicBezTo>
                            <a:pt x="4413611" y="22088"/>
                            <a:pt x="4537512" y="140801"/>
                            <a:pt x="4526128" y="283344"/>
                          </a:cubicBezTo>
                          <a:cubicBezTo>
                            <a:pt x="4460483" y="726848"/>
                            <a:pt x="4615930" y="956425"/>
                            <a:pt x="4526128" y="1416685"/>
                          </a:cubicBezTo>
                          <a:cubicBezTo>
                            <a:pt x="4522244" y="1573810"/>
                            <a:pt x="4374308" y="1682805"/>
                            <a:pt x="4242784" y="1700029"/>
                          </a:cubicBezTo>
                          <a:cubicBezTo>
                            <a:pt x="3301083" y="1855226"/>
                            <a:pt x="864968" y="1863049"/>
                            <a:pt x="283344" y="1700029"/>
                          </a:cubicBezTo>
                          <a:cubicBezTo>
                            <a:pt x="127922" y="1685624"/>
                            <a:pt x="-4065" y="1575546"/>
                            <a:pt x="0" y="1416685"/>
                          </a:cubicBezTo>
                          <a:cubicBezTo>
                            <a:pt x="56925" y="951358"/>
                            <a:pt x="-19480" y="712765"/>
                            <a:pt x="0" y="283344"/>
                          </a:cubicBezTo>
                          <a:close/>
                        </a:path>
                        <a:path w="4526128" h="1700029" stroke="0" extrusionOk="0">
                          <a:moveTo>
                            <a:pt x="0" y="283344"/>
                          </a:moveTo>
                          <a:cubicBezTo>
                            <a:pt x="-23576" y="112315"/>
                            <a:pt x="107746" y="7173"/>
                            <a:pt x="283344" y="0"/>
                          </a:cubicBezTo>
                          <a:cubicBezTo>
                            <a:pt x="2056104" y="132882"/>
                            <a:pt x="2313290" y="-84951"/>
                            <a:pt x="4242784" y="0"/>
                          </a:cubicBezTo>
                          <a:cubicBezTo>
                            <a:pt x="4394647" y="4515"/>
                            <a:pt x="4523710" y="140223"/>
                            <a:pt x="4526128" y="283344"/>
                          </a:cubicBezTo>
                          <a:cubicBezTo>
                            <a:pt x="4546387" y="813471"/>
                            <a:pt x="4481517" y="1297845"/>
                            <a:pt x="4526128" y="1416685"/>
                          </a:cubicBezTo>
                          <a:cubicBezTo>
                            <a:pt x="4546576" y="1575598"/>
                            <a:pt x="4402089" y="1694229"/>
                            <a:pt x="4242784" y="1700029"/>
                          </a:cubicBezTo>
                          <a:cubicBezTo>
                            <a:pt x="2332086" y="1787668"/>
                            <a:pt x="2156764" y="1627350"/>
                            <a:pt x="283344" y="1700029"/>
                          </a:cubicBezTo>
                          <a:cubicBezTo>
                            <a:pt x="126141" y="1693204"/>
                            <a:pt x="-9089" y="1585803"/>
                            <a:pt x="0" y="1416685"/>
                          </a:cubicBezTo>
                          <a:cubicBezTo>
                            <a:pt x="89728" y="1245856"/>
                            <a:pt x="-95631" y="684199"/>
                            <a:pt x="0" y="28334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Multimodal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Visual-language fusion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Works with both image + text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43D2D02E-E911-216D-55A7-70CE479FCF19}"/>
                </a:ext>
              </a:extLst>
            </p:cNvPr>
            <p:cNvSpPr>
              <a:spLocks/>
            </p:cNvSpPr>
            <p:nvPr/>
          </p:nvSpPr>
          <p:spPr>
            <a:xfrm>
              <a:off x="276100" y="2264994"/>
              <a:ext cx="4905500" cy="367007"/>
            </a:xfrm>
            <a:prstGeom prst="roundRect">
              <a:avLst>
                <a:gd name="adj" fmla="val 32975"/>
              </a:avLst>
            </a:prstGeom>
            <a:solidFill>
              <a:srgbClr val="003233"/>
            </a:solidFill>
            <a:ln w="28575" cap="flat" cmpd="sng">
              <a:solidFill>
                <a:srgbClr val="003233">
                  <a:alpha val="97000"/>
                </a:srgbClr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929250"/>
                        <a:gd name="csY0" fmla="*/ 56352 h 338106"/>
                        <a:gd name="csX1" fmla="*/ 56352 w 4929250"/>
                        <a:gd name="csY1" fmla="*/ 0 h 338106"/>
                        <a:gd name="csX2" fmla="*/ 4872898 w 4929250"/>
                        <a:gd name="csY2" fmla="*/ 0 h 338106"/>
                        <a:gd name="csX3" fmla="*/ 4929250 w 4929250"/>
                        <a:gd name="csY3" fmla="*/ 56352 h 338106"/>
                        <a:gd name="csX4" fmla="*/ 4929250 w 4929250"/>
                        <a:gd name="csY4" fmla="*/ 281754 h 338106"/>
                        <a:gd name="csX5" fmla="*/ 4872898 w 4929250"/>
                        <a:gd name="csY5" fmla="*/ 338106 h 338106"/>
                        <a:gd name="csX6" fmla="*/ 56352 w 4929250"/>
                        <a:gd name="csY6" fmla="*/ 338106 h 338106"/>
                        <a:gd name="csX7" fmla="*/ 0 w 4929250"/>
                        <a:gd name="csY7" fmla="*/ 281754 h 338106"/>
                        <a:gd name="csX8" fmla="*/ 0 w 4929250"/>
                        <a:gd name="csY8" fmla="*/ 56352 h 338106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929250" h="338106" fill="none" extrusionOk="0">
                          <a:moveTo>
                            <a:pt x="0" y="56352"/>
                          </a:moveTo>
                          <a:cubicBezTo>
                            <a:pt x="-2661" y="24800"/>
                            <a:pt x="26618" y="1135"/>
                            <a:pt x="56352" y="0"/>
                          </a:cubicBezTo>
                          <a:cubicBezTo>
                            <a:pt x="1653443" y="130954"/>
                            <a:pt x="3530582" y="43574"/>
                            <a:pt x="4872898" y="0"/>
                          </a:cubicBezTo>
                          <a:cubicBezTo>
                            <a:pt x="4905361" y="2066"/>
                            <a:pt x="4932385" y="29070"/>
                            <a:pt x="4929250" y="56352"/>
                          </a:cubicBezTo>
                          <a:cubicBezTo>
                            <a:pt x="4911806" y="80091"/>
                            <a:pt x="4944440" y="192316"/>
                            <a:pt x="4929250" y="281754"/>
                          </a:cubicBezTo>
                          <a:cubicBezTo>
                            <a:pt x="4926354" y="313352"/>
                            <a:pt x="4898900" y="334573"/>
                            <a:pt x="4872898" y="338106"/>
                          </a:cubicBezTo>
                          <a:cubicBezTo>
                            <a:pt x="4280190" y="493303"/>
                            <a:pt x="645854" y="501126"/>
                            <a:pt x="56352" y="338106"/>
                          </a:cubicBezTo>
                          <a:cubicBezTo>
                            <a:pt x="25470" y="334857"/>
                            <a:pt x="-865" y="313381"/>
                            <a:pt x="0" y="281754"/>
                          </a:cubicBezTo>
                          <a:cubicBezTo>
                            <a:pt x="-9584" y="173748"/>
                            <a:pt x="-17200" y="117841"/>
                            <a:pt x="0" y="56352"/>
                          </a:cubicBezTo>
                          <a:close/>
                        </a:path>
                        <a:path w="4929250" h="338106" stroke="0" extrusionOk="0">
                          <a:moveTo>
                            <a:pt x="0" y="56352"/>
                          </a:moveTo>
                          <a:cubicBezTo>
                            <a:pt x="-2181" y="23885"/>
                            <a:pt x="24281" y="356"/>
                            <a:pt x="56352" y="0"/>
                          </a:cubicBezTo>
                          <a:cubicBezTo>
                            <a:pt x="970264" y="132882"/>
                            <a:pt x="3213345" y="-84951"/>
                            <a:pt x="4872898" y="0"/>
                          </a:cubicBezTo>
                          <a:cubicBezTo>
                            <a:pt x="4901358" y="2600"/>
                            <a:pt x="4929110" y="26002"/>
                            <a:pt x="4929250" y="56352"/>
                          </a:cubicBezTo>
                          <a:cubicBezTo>
                            <a:pt x="4930254" y="115552"/>
                            <a:pt x="4940607" y="222328"/>
                            <a:pt x="4929250" y="281754"/>
                          </a:cubicBezTo>
                          <a:cubicBezTo>
                            <a:pt x="4931443" y="313136"/>
                            <a:pt x="4904531" y="337054"/>
                            <a:pt x="4872898" y="338106"/>
                          </a:cubicBezTo>
                          <a:cubicBezTo>
                            <a:pt x="3463253" y="425745"/>
                            <a:pt x="1665968" y="265427"/>
                            <a:pt x="56352" y="338106"/>
                          </a:cubicBezTo>
                          <a:cubicBezTo>
                            <a:pt x="24996" y="335872"/>
                            <a:pt x="-3110" y="317198"/>
                            <a:pt x="0" y="281754"/>
                          </a:cubicBezTo>
                          <a:cubicBezTo>
                            <a:pt x="-9829" y="208397"/>
                            <a:pt x="8240" y="88955"/>
                            <a:pt x="0" y="56352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Vision</a:t>
              </a:r>
            </a:p>
          </p:txBody>
        </p:sp>
      </p:grpSp>
      <p:sp>
        <p:nvSpPr>
          <p:cNvPr id="8" name="Title 2">
            <a:extLst>
              <a:ext uri="{FF2B5EF4-FFF2-40B4-BE49-F238E27FC236}">
                <a16:creationId xmlns:a16="http://schemas.microsoft.com/office/drawing/2014/main" id="{AAB978B1-EBAA-527B-040E-4D18D41DF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171" y="38100"/>
            <a:ext cx="11457657" cy="691414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What’s Available for Use With Ollama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F824CE-3AB1-8CFB-D045-10DAC835A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278" y="1066340"/>
            <a:ext cx="6284983" cy="4270564"/>
          </a:xfrm>
          <a:prstGeom prst="rect">
            <a:avLst/>
          </a:prstGeom>
          <a:effectLst>
            <a:outerShdw blurRad="180253" dist="38100" dir="1740000" algn="tl" rotWithShape="0">
              <a:prstClr val="black">
                <a:alpha val="64240"/>
              </a:prstClr>
            </a:outerShdw>
            <a:reflection endPos="6248" dist="50800" dir="5400000" sy="-100000" algn="bl" rotWithShape="0"/>
          </a:effectLst>
          <a:scene3d>
            <a:camera prst="orthographicFront"/>
            <a:lightRig rig="threePt" dir="t"/>
          </a:scene3d>
          <a:sp3d extrusionH="146050">
            <a:bevelT w="44450" h="44450"/>
            <a:bevelB w="50800" h="50800"/>
            <a:extrusionClr>
              <a:schemeClr val="accent1">
                <a:lumMod val="75000"/>
                <a:lumOff val="25000"/>
              </a:schemeClr>
            </a:extrusionClr>
          </a:sp3d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02822708-9CBD-649F-C704-BE66F246327B}"/>
              </a:ext>
            </a:extLst>
          </p:cNvPr>
          <p:cNvGrpSpPr/>
          <p:nvPr/>
        </p:nvGrpSpPr>
        <p:grpSpPr>
          <a:xfrm>
            <a:off x="252350" y="869896"/>
            <a:ext cx="4953000" cy="1191490"/>
            <a:chOff x="252350" y="869896"/>
            <a:chExt cx="4953000" cy="119149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BA659CA7-61DD-9CE0-1020-9E8CDC5B6C84}"/>
                </a:ext>
              </a:extLst>
            </p:cNvPr>
            <p:cNvSpPr>
              <a:spLocks/>
            </p:cNvSpPr>
            <p:nvPr/>
          </p:nvSpPr>
          <p:spPr>
            <a:xfrm>
              <a:off x="252350" y="869896"/>
              <a:ext cx="4953000" cy="1191490"/>
            </a:xfrm>
            <a:prstGeom prst="roundRect">
              <a:avLst>
                <a:gd name="adj" fmla="val 13677"/>
              </a:avLst>
            </a:prstGeom>
            <a:solidFill>
              <a:schemeClr val="bg2">
                <a:alpha val="18729"/>
              </a:schemeClr>
            </a:solidFill>
            <a:ln w="34925" cap="sq" cmpd="sng">
              <a:solidFill>
                <a:srgbClr val="003233"/>
              </a:solidFill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526128"/>
                        <a:gd name="csY0" fmla="*/ 283344 h 1700029"/>
                        <a:gd name="csX1" fmla="*/ 283344 w 4526128"/>
                        <a:gd name="csY1" fmla="*/ 0 h 1700029"/>
                        <a:gd name="csX2" fmla="*/ 4242784 w 4526128"/>
                        <a:gd name="csY2" fmla="*/ 0 h 1700029"/>
                        <a:gd name="csX3" fmla="*/ 4526128 w 4526128"/>
                        <a:gd name="csY3" fmla="*/ 283344 h 1700029"/>
                        <a:gd name="csX4" fmla="*/ 4526128 w 4526128"/>
                        <a:gd name="csY4" fmla="*/ 1416685 h 1700029"/>
                        <a:gd name="csX5" fmla="*/ 4242784 w 4526128"/>
                        <a:gd name="csY5" fmla="*/ 1700029 h 1700029"/>
                        <a:gd name="csX6" fmla="*/ 283344 w 4526128"/>
                        <a:gd name="csY6" fmla="*/ 1700029 h 1700029"/>
                        <a:gd name="csX7" fmla="*/ 0 w 4526128"/>
                        <a:gd name="csY7" fmla="*/ 1416685 h 1700029"/>
                        <a:gd name="csX8" fmla="*/ 0 w 4526128"/>
                        <a:gd name="csY8" fmla="*/ 283344 h 170002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526128" h="1700029" fill="none" extrusionOk="0">
                          <a:moveTo>
                            <a:pt x="0" y="283344"/>
                          </a:moveTo>
                          <a:cubicBezTo>
                            <a:pt x="-5561" y="125958"/>
                            <a:pt x="130962" y="3357"/>
                            <a:pt x="283344" y="0"/>
                          </a:cubicBezTo>
                          <a:cubicBezTo>
                            <a:pt x="1981902" y="130954"/>
                            <a:pt x="2726381" y="43574"/>
                            <a:pt x="4242784" y="0"/>
                          </a:cubicBezTo>
                          <a:cubicBezTo>
                            <a:pt x="4413611" y="22088"/>
                            <a:pt x="4537512" y="140801"/>
                            <a:pt x="4526128" y="283344"/>
                          </a:cubicBezTo>
                          <a:cubicBezTo>
                            <a:pt x="4460483" y="726848"/>
                            <a:pt x="4615930" y="956425"/>
                            <a:pt x="4526128" y="1416685"/>
                          </a:cubicBezTo>
                          <a:cubicBezTo>
                            <a:pt x="4522244" y="1573810"/>
                            <a:pt x="4374308" y="1682805"/>
                            <a:pt x="4242784" y="1700029"/>
                          </a:cubicBezTo>
                          <a:cubicBezTo>
                            <a:pt x="3301083" y="1855226"/>
                            <a:pt x="864968" y="1863049"/>
                            <a:pt x="283344" y="1700029"/>
                          </a:cubicBezTo>
                          <a:cubicBezTo>
                            <a:pt x="127922" y="1685624"/>
                            <a:pt x="-4065" y="1575546"/>
                            <a:pt x="0" y="1416685"/>
                          </a:cubicBezTo>
                          <a:cubicBezTo>
                            <a:pt x="56925" y="951358"/>
                            <a:pt x="-19480" y="712765"/>
                            <a:pt x="0" y="283344"/>
                          </a:cubicBezTo>
                          <a:close/>
                        </a:path>
                        <a:path w="4526128" h="1700029" stroke="0" extrusionOk="0">
                          <a:moveTo>
                            <a:pt x="0" y="283344"/>
                          </a:moveTo>
                          <a:cubicBezTo>
                            <a:pt x="-23576" y="112315"/>
                            <a:pt x="107746" y="7173"/>
                            <a:pt x="283344" y="0"/>
                          </a:cubicBezTo>
                          <a:cubicBezTo>
                            <a:pt x="2056104" y="132882"/>
                            <a:pt x="2313290" y="-84951"/>
                            <a:pt x="4242784" y="0"/>
                          </a:cubicBezTo>
                          <a:cubicBezTo>
                            <a:pt x="4394647" y="4515"/>
                            <a:pt x="4523710" y="140223"/>
                            <a:pt x="4526128" y="283344"/>
                          </a:cubicBezTo>
                          <a:cubicBezTo>
                            <a:pt x="4546387" y="813471"/>
                            <a:pt x="4481517" y="1297845"/>
                            <a:pt x="4526128" y="1416685"/>
                          </a:cubicBezTo>
                          <a:cubicBezTo>
                            <a:pt x="4546576" y="1575598"/>
                            <a:pt x="4402089" y="1694229"/>
                            <a:pt x="4242784" y="1700029"/>
                          </a:cubicBezTo>
                          <a:cubicBezTo>
                            <a:pt x="2332086" y="1787668"/>
                            <a:pt x="2156764" y="1627350"/>
                            <a:pt x="283344" y="1700029"/>
                          </a:cubicBezTo>
                          <a:cubicBezTo>
                            <a:pt x="126141" y="1693204"/>
                            <a:pt x="-9089" y="1585803"/>
                            <a:pt x="0" y="1416685"/>
                          </a:cubicBezTo>
                          <a:cubicBezTo>
                            <a:pt x="89728" y="1245856"/>
                            <a:pt x="-95631" y="684199"/>
                            <a:pt x="0" y="28334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Chain of thought prompting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Structured output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Reliable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48F2178-3C9C-E44E-0B8E-EF2CE690E1BD}"/>
                </a:ext>
              </a:extLst>
            </p:cNvPr>
            <p:cNvSpPr>
              <a:spLocks/>
            </p:cNvSpPr>
            <p:nvPr/>
          </p:nvSpPr>
          <p:spPr>
            <a:xfrm>
              <a:off x="276100" y="882837"/>
              <a:ext cx="4905500" cy="367007"/>
            </a:xfrm>
            <a:prstGeom prst="roundRect">
              <a:avLst>
                <a:gd name="adj" fmla="val 32975"/>
              </a:avLst>
            </a:prstGeom>
            <a:solidFill>
              <a:srgbClr val="003233"/>
            </a:solidFill>
            <a:ln w="28575" cap="flat" cmpd="sng">
              <a:solidFill>
                <a:srgbClr val="003233">
                  <a:alpha val="97000"/>
                </a:srgbClr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929250"/>
                        <a:gd name="csY0" fmla="*/ 56352 h 338106"/>
                        <a:gd name="csX1" fmla="*/ 56352 w 4929250"/>
                        <a:gd name="csY1" fmla="*/ 0 h 338106"/>
                        <a:gd name="csX2" fmla="*/ 4872898 w 4929250"/>
                        <a:gd name="csY2" fmla="*/ 0 h 338106"/>
                        <a:gd name="csX3" fmla="*/ 4929250 w 4929250"/>
                        <a:gd name="csY3" fmla="*/ 56352 h 338106"/>
                        <a:gd name="csX4" fmla="*/ 4929250 w 4929250"/>
                        <a:gd name="csY4" fmla="*/ 281754 h 338106"/>
                        <a:gd name="csX5" fmla="*/ 4872898 w 4929250"/>
                        <a:gd name="csY5" fmla="*/ 338106 h 338106"/>
                        <a:gd name="csX6" fmla="*/ 56352 w 4929250"/>
                        <a:gd name="csY6" fmla="*/ 338106 h 338106"/>
                        <a:gd name="csX7" fmla="*/ 0 w 4929250"/>
                        <a:gd name="csY7" fmla="*/ 281754 h 338106"/>
                        <a:gd name="csX8" fmla="*/ 0 w 4929250"/>
                        <a:gd name="csY8" fmla="*/ 56352 h 338106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929250" h="338106" fill="none" extrusionOk="0">
                          <a:moveTo>
                            <a:pt x="0" y="56352"/>
                          </a:moveTo>
                          <a:cubicBezTo>
                            <a:pt x="-2661" y="24800"/>
                            <a:pt x="26618" y="1135"/>
                            <a:pt x="56352" y="0"/>
                          </a:cubicBezTo>
                          <a:cubicBezTo>
                            <a:pt x="1653443" y="130954"/>
                            <a:pt x="3530582" y="43574"/>
                            <a:pt x="4872898" y="0"/>
                          </a:cubicBezTo>
                          <a:cubicBezTo>
                            <a:pt x="4905361" y="2066"/>
                            <a:pt x="4932385" y="29070"/>
                            <a:pt x="4929250" y="56352"/>
                          </a:cubicBezTo>
                          <a:cubicBezTo>
                            <a:pt x="4911806" y="80091"/>
                            <a:pt x="4944440" y="192316"/>
                            <a:pt x="4929250" y="281754"/>
                          </a:cubicBezTo>
                          <a:cubicBezTo>
                            <a:pt x="4926354" y="313352"/>
                            <a:pt x="4898900" y="334573"/>
                            <a:pt x="4872898" y="338106"/>
                          </a:cubicBezTo>
                          <a:cubicBezTo>
                            <a:pt x="4280190" y="493303"/>
                            <a:pt x="645854" y="501126"/>
                            <a:pt x="56352" y="338106"/>
                          </a:cubicBezTo>
                          <a:cubicBezTo>
                            <a:pt x="25470" y="334857"/>
                            <a:pt x="-865" y="313381"/>
                            <a:pt x="0" y="281754"/>
                          </a:cubicBezTo>
                          <a:cubicBezTo>
                            <a:pt x="-9584" y="173748"/>
                            <a:pt x="-17200" y="117841"/>
                            <a:pt x="0" y="56352"/>
                          </a:cubicBezTo>
                          <a:close/>
                        </a:path>
                        <a:path w="4929250" h="338106" stroke="0" extrusionOk="0">
                          <a:moveTo>
                            <a:pt x="0" y="56352"/>
                          </a:moveTo>
                          <a:cubicBezTo>
                            <a:pt x="-2181" y="23885"/>
                            <a:pt x="24281" y="356"/>
                            <a:pt x="56352" y="0"/>
                          </a:cubicBezTo>
                          <a:cubicBezTo>
                            <a:pt x="970264" y="132882"/>
                            <a:pt x="3213345" y="-84951"/>
                            <a:pt x="4872898" y="0"/>
                          </a:cubicBezTo>
                          <a:cubicBezTo>
                            <a:pt x="4901358" y="2600"/>
                            <a:pt x="4929110" y="26002"/>
                            <a:pt x="4929250" y="56352"/>
                          </a:cubicBezTo>
                          <a:cubicBezTo>
                            <a:pt x="4930254" y="115552"/>
                            <a:pt x="4940607" y="222328"/>
                            <a:pt x="4929250" y="281754"/>
                          </a:cubicBezTo>
                          <a:cubicBezTo>
                            <a:pt x="4931443" y="313136"/>
                            <a:pt x="4904531" y="337054"/>
                            <a:pt x="4872898" y="338106"/>
                          </a:cubicBezTo>
                          <a:cubicBezTo>
                            <a:pt x="3463253" y="425745"/>
                            <a:pt x="1665968" y="265427"/>
                            <a:pt x="56352" y="338106"/>
                          </a:cubicBezTo>
                          <a:cubicBezTo>
                            <a:pt x="24996" y="335872"/>
                            <a:pt x="-3110" y="317198"/>
                            <a:pt x="0" y="281754"/>
                          </a:cubicBezTo>
                          <a:cubicBezTo>
                            <a:pt x="-9829" y="208397"/>
                            <a:pt x="8240" y="88955"/>
                            <a:pt x="0" y="56352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Thinking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2FB2E75-46C8-AC7F-010F-0BFE28B0A763}"/>
              </a:ext>
            </a:extLst>
          </p:cNvPr>
          <p:cNvGrpSpPr/>
          <p:nvPr/>
        </p:nvGrpSpPr>
        <p:grpSpPr>
          <a:xfrm>
            <a:off x="252350" y="3634210"/>
            <a:ext cx="4953000" cy="1191490"/>
            <a:chOff x="252350" y="3634210"/>
            <a:chExt cx="4953000" cy="119149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B3870C9-8BE4-FAA4-EF25-AAB44241C16A}"/>
                </a:ext>
              </a:extLst>
            </p:cNvPr>
            <p:cNvSpPr>
              <a:spLocks/>
            </p:cNvSpPr>
            <p:nvPr/>
          </p:nvSpPr>
          <p:spPr>
            <a:xfrm>
              <a:off x="252350" y="3634210"/>
              <a:ext cx="4953000" cy="1191490"/>
            </a:xfrm>
            <a:prstGeom prst="roundRect">
              <a:avLst>
                <a:gd name="adj" fmla="val 13677"/>
              </a:avLst>
            </a:prstGeom>
            <a:solidFill>
              <a:schemeClr val="bg2">
                <a:alpha val="25062"/>
              </a:schemeClr>
            </a:solidFill>
            <a:ln w="34925" cap="sq" cmpd="sng">
              <a:solidFill>
                <a:srgbClr val="003233"/>
              </a:solidFill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526128"/>
                        <a:gd name="csY0" fmla="*/ 283344 h 1700029"/>
                        <a:gd name="csX1" fmla="*/ 283344 w 4526128"/>
                        <a:gd name="csY1" fmla="*/ 0 h 1700029"/>
                        <a:gd name="csX2" fmla="*/ 4242784 w 4526128"/>
                        <a:gd name="csY2" fmla="*/ 0 h 1700029"/>
                        <a:gd name="csX3" fmla="*/ 4526128 w 4526128"/>
                        <a:gd name="csY3" fmla="*/ 283344 h 1700029"/>
                        <a:gd name="csX4" fmla="*/ 4526128 w 4526128"/>
                        <a:gd name="csY4" fmla="*/ 1416685 h 1700029"/>
                        <a:gd name="csX5" fmla="*/ 4242784 w 4526128"/>
                        <a:gd name="csY5" fmla="*/ 1700029 h 1700029"/>
                        <a:gd name="csX6" fmla="*/ 283344 w 4526128"/>
                        <a:gd name="csY6" fmla="*/ 1700029 h 1700029"/>
                        <a:gd name="csX7" fmla="*/ 0 w 4526128"/>
                        <a:gd name="csY7" fmla="*/ 1416685 h 1700029"/>
                        <a:gd name="csX8" fmla="*/ 0 w 4526128"/>
                        <a:gd name="csY8" fmla="*/ 283344 h 170002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526128" h="1700029" fill="none" extrusionOk="0">
                          <a:moveTo>
                            <a:pt x="0" y="283344"/>
                          </a:moveTo>
                          <a:cubicBezTo>
                            <a:pt x="-5561" y="125958"/>
                            <a:pt x="130962" y="3357"/>
                            <a:pt x="283344" y="0"/>
                          </a:cubicBezTo>
                          <a:cubicBezTo>
                            <a:pt x="1981902" y="130954"/>
                            <a:pt x="2726381" y="43574"/>
                            <a:pt x="4242784" y="0"/>
                          </a:cubicBezTo>
                          <a:cubicBezTo>
                            <a:pt x="4413611" y="22088"/>
                            <a:pt x="4537512" y="140801"/>
                            <a:pt x="4526128" y="283344"/>
                          </a:cubicBezTo>
                          <a:cubicBezTo>
                            <a:pt x="4460483" y="726848"/>
                            <a:pt x="4615930" y="956425"/>
                            <a:pt x="4526128" y="1416685"/>
                          </a:cubicBezTo>
                          <a:cubicBezTo>
                            <a:pt x="4522244" y="1573810"/>
                            <a:pt x="4374308" y="1682805"/>
                            <a:pt x="4242784" y="1700029"/>
                          </a:cubicBezTo>
                          <a:cubicBezTo>
                            <a:pt x="3301083" y="1855226"/>
                            <a:pt x="864968" y="1863049"/>
                            <a:pt x="283344" y="1700029"/>
                          </a:cubicBezTo>
                          <a:cubicBezTo>
                            <a:pt x="127922" y="1685624"/>
                            <a:pt x="-4065" y="1575546"/>
                            <a:pt x="0" y="1416685"/>
                          </a:cubicBezTo>
                          <a:cubicBezTo>
                            <a:pt x="56925" y="951358"/>
                            <a:pt x="-19480" y="712765"/>
                            <a:pt x="0" y="283344"/>
                          </a:cubicBezTo>
                          <a:close/>
                        </a:path>
                        <a:path w="4526128" h="1700029" stroke="0" extrusionOk="0">
                          <a:moveTo>
                            <a:pt x="0" y="283344"/>
                          </a:moveTo>
                          <a:cubicBezTo>
                            <a:pt x="-23576" y="112315"/>
                            <a:pt x="107746" y="7173"/>
                            <a:pt x="283344" y="0"/>
                          </a:cubicBezTo>
                          <a:cubicBezTo>
                            <a:pt x="2056104" y="132882"/>
                            <a:pt x="2313290" y="-84951"/>
                            <a:pt x="4242784" y="0"/>
                          </a:cubicBezTo>
                          <a:cubicBezTo>
                            <a:pt x="4394647" y="4515"/>
                            <a:pt x="4523710" y="140223"/>
                            <a:pt x="4526128" y="283344"/>
                          </a:cubicBezTo>
                          <a:cubicBezTo>
                            <a:pt x="4546387" y="813471"/>
                            <a:pt x="4481517" y="1297845"/>
                            <a:pt x="4526128" y="1416685"/>
                          </a:cubicBezTo>
                          <a:cubicBezTo>
                            <a:pt x="4546576" y="1575598"/>
                            <a:pt x="4402089" y="1694229"/>
                            <a:pt x="4242784" y="1700029"/>
                          </a:cubicBezTo>
                          <a:cubicBezTo>
                            <a:pt x="2332086" y="1787668"/>
                            <a:pt x="2156764" y="1627350"/>
                            <a:pt x="283344" y="1700029"/>
                          </a:cubicBezTo>
                          <a:cubicBezTo>
                            <a:pt x="126141" y="1693204"/>
                            <a:pt x="-9089" y="1585803"/>
                            <a:pt x="0" y="1416685"/>
                          </a:cubicBezTo>
                          <a:cubicBezTo>
                            <a:pt x="89728" y="1245856"/>
                            <a:pt x="-95631" y="684199"/>
                            <a:pt x="0" y="28334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Text -&gt; vectors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Semantic search + clustering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RAG over docs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7B961274-51B3-FD29-5E3C-DF26BEE60591}"/>
                </a:ext>
              </a:extLst>
            </p:cNvPr>
            <p:cNvSpPr>
              <a:spLocks/>
            </p:cNvSpPr>
            <p:nvPr/>
          </p:nvSpPr>
          <p:spPr>
            <a:xfrm>
              <a:off x="276100" y="3647151"/>
              <a:ext cx="4905500" cy="367007"/>
            </a:xfrm>
            <a:prstGeom prst="roundRect">
              <a:avLst>
                <a:gd name="adj" fmla="val 32975"/>
              </a:avLst>
            </a:prstGeom>
            <a:solidFill>
              <a:srgbClr val="003233"/>
            </a:solidFill>
            <a:ln w="28575" cap="flat" cmpd="sng">
              <a:solidFill>
                <a:srgbClr val="003233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929250"/>
                        <a:gd name="csY0" fmla="*/ 56352 h 338106"/>
                        <a:gd name="csX1" fmla="*/ 56352 w 4929250"/>
                        <a:gd name="csY1" fmla="*/ 0 h 338106"/>
                        <a:gd name="csX2" fmla="*/ 4872898 w 4929250"/>
                        <a:gd name="csY2" fmla="*/ 0 h 338106"/>
                        <a:gd name="csX3" fmla="*/ 4929250 w 4929250"/>
                        <a:gd name="csY3" fmla="*/ 56352 h 338106"/>
                        <a:gd name="csX4" fmla="*/ 4929250 w 4929250"/>
                        <a:gd name="csY4" fmla="*/ 281754 h 338106"/>
                        <a:gd name="csX5" fmla="*/ 4872898 w 4929250"/>
                        <a:gd name="csY5" fmla="*/ 338106 h 338106"/>
                        <a:gd name="csX6" fmla="*/ 56352 w 4929250"/>
                        <a:gd name="csY6" fmla="*/ 338106 h 338106"/>
                        <a:gd name="csX7" fmla="*/ 0 w 4929250"/>
                        <a:gd name="csY7" fmla="*/ 281754 h 338106"/>
                        <a:gd name="csX8" fmla="*/ 0 w 4929250"/>
                        <a:gd name="csY8" fmla="*/ 56352 h 338106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929250" h="338106" fill="none" extrusionOk="0">
                          <a:moveTo>
                            <a:pt x="0" y="56352"/>
                          </a:moveTo>
                          <a:cubicBezTo>
                            <a:pt x="-2661" y="24800"/>
                            <a:pt x="26618" y="1135"/>
                            <a:pt x="56352" y="0"/>
                          </a:cubicBezTo>
                          <a:cubicBezTo>
                            <a:pt x="1653443" y="130954"/>
                            <a:pt x="3530582" y="43574"/>
                            <a:pt x="4872898" y="0"/>
                          </a:cubicBezTo>
                          <a:cubicBezTo>
                            <a:pt x="4905361" y="2066"/>
                            <a:pt x="4932385" y="29070"/>
                            <a:pt x="4929250" y="56352"/>
                          </a:cubicBezTo>
                          <a:cubicBezTo>
                            <a:pt x="4911806" y="80091"/>
                            <a:pt x="4944440" y="192316"/>
                            <a:pt x="4929250" y="281754"/>
                          </a:cubicBezTo>
                          <a:cubicBezTo>
                            <a:pt x="4926354" y="313352"/>
                            <a:pt x="4898900" y="334573"/>
                            <a:pt x="4872898" y="338106"/>
                          </a:cubicBezTo>
                          <a:cubicBezTo>
                            <a:pt x="4280190" y="493303"/>
                            <a:pt x="645854" y="501126"/>
                            <a:pt x="56352" y="338106"/>
                          </a:cubicBezTo>
                          <a:cubicBezTo>
                            <a:pt x="25470" y="334857"/>
                            <a:pt x="-865" y="313381"/>
                            <a:pt x="0" y="281754"/>
                          </a:cubicBezTo>
                          <a:cubicBezTo>
                            <a:pt x="-9584" y="173748"/>
                            <a:pt x="-17200" y="117841"/>
                            <a:pt x="0" y="56352"/>
                          </a:cubicBezTo>
                          <a:close/>
                        </a:path>
                        <a:path w="4929250" h="338106" stroke="0" extrusionOk="0">
                          <a:moveTo>
                            <a:pt x="0" y="56352"/>
                          </a:moveTo>
                          <a:cubicBezTo>
                            <a:pt x="-2181" y="23885"/>
                            <a:pt x="24281" y="356"/>
                            <a:pt x="56352" y="0"/>
                          </a:cubicBezTo>
                          <a:cubicBezTo>
                            <a:pt x="970264" y="132882"/>
                            <a:pt x="3213345" y="-84951"/>
                            <a:pt x="4872898" y="0"/>
                          </a:cubicBezTo>
                          <a:cubicBezTo>
                            <a:pt x="4901358" y="2600"/>
                            <a:pt x="4929110" y="26002"/>
                            <a:pt x="4929250" y="56352"/>
                          </a:cubicBezTo>
                          <a:cubicBezTo>
                            <a:pt x="4930254" y="115552"/>
                            <a:pt x="4940607" y="222328"/>
                            <a:pt x="4929250" y="281754"/>
                          </a:cubicBezTo>
                          <a:cubicBezTo>
                            <a:pt x="4931443" y="313136"/>
                            <a:pt x="4904531" y="337054"/>
                            <a:pt x="4872898" y="338106"/>
                          </a:cubicBezTo>
                          <a:cubicBezTo>
                            <a:pt x="3463253" y="425745"/>
                            <a:pt x="1665968" y="265427"/>
                            <a:pt x="56352" y="338106"/>
                          </a:cubicBezTo>
                          <a:cubicBezTo>
                            <a:pt x="24996" y="335872"/>
                            <a:pt x="-3110" y="317198"/>
                            <a:pt x="0" y="281754"/>
                          </a:cubicBezTo>
                          <a:cubicBezTo>
                            <a:pt x="-9829" y="208397"/>
                            <a:pt x="8240" y="88955"/>
                            <a:pt x="0" y="56352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Embedding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DEB1D4D-648F-92DE-E9C5-AED3F16EAEC5}"/>
              </a:ext>
            </a:extLst>
          </p:cNvPr>
          <p:cNvGrpSpPr/>
          <p:nvPr/>
        </p:nvGrpSpPr>
        <p:grpSpPr>
          <a:xfrm>
            <a:off x="252350" y="5016366"/>
            <a:ext cx="4953000" cy="1191490"/>
            <a:chOff x="252350" y="5016366"/>
            <a:chExt cx="4953000" cy="1191490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66F60D91-780D-7E1A-0BCB-1905C1C1730F}"/>
                </a:ext>
              </a:extLst>
            </p:cNvPr>
            <p:cNvSpPr>
              <a:spLocks/>
            </p:cNvSpPr>
            <p:nvPr/>
          </p:nvSpPr>
          <p:spPr>
            <a:xfrm>
              <a:off x="252350" y="5016366"/>
              <a:ext cx="4953000" cy="1191490"/>
            </a:xfrm>
            <a:prstGeom prst="roundRect">
              <a:avLst>
                <a:gd name="adj" fmla="val 13677"/>
              </a:avLst>
            </a:prstGeom>
            <a:solidFill>
              <a:schemeClr val="bg2">
                <a:alpha val="25062"/>
              </a:schemeClr>
            </a:solidFill>
            <a:ln w="34925" cap="sq" cmpd="sng">
              <a:solidFill>
                <a:srgbClr val="003233"/>
              </a:solidFill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526128"/>
                        <a:gd name="csY0" fmla="*/ 283344 h 1700029"/>
                        <a:gd name="csX1" fmla="*/ 283344 w 4526128"/>
                        <a:gd name="csY1" fmla="*/ 0 h 1700029"/>
                        <a:gd name="csX2" fmla="*/ 4242784 w 4526128"/>
                        <a:gd name="csY2" fmla="*/ 0 h 1700029"/>
                        <a:gd name="csX3" fmla="*/ 4526128 w 4526128"/>
                        <a:gd name="csY3" fmla="*/ 283344 h 1700029"/>
                        <a:gd name="csX4" fmla="*/ 4526128 w 4526128"/>
                        <a:gd name="csY4" fmla="*/ 1416685 h 1700029"/>
                        <a:gd name="csX5" fmla="*/ 4242784 w 4526128"/>
                        <a:gd name="csY5" fmla="*/ 1700029 h 1700029"/>
                        <a:gd name="csX6" fmla="*/ 283344 w 4526128"/>
                        <a:gd name="csY6" fmla="*/ 1700029 h 1700029"/>
                        <a:gd name="csX7" fmla="*/ 0 w 4526128"/>
                        <a:gd name="csY7" fmla="*/ 1416685 h 1700029"/>
                        <a:gd name="csX8" fmla="*/ 0 w 4526128"/>
                        <a:gd name="csY8" fmla="*/ 283344 h 170002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526128" h="1700029" fill="none" extrusionOk="0">
                          <a:moveTo>
                            <a:pt x="0" y="283344"/>
                          </a:moveTo>
                          <a:cubicBezTo>
                            <a:pt x="-5561" y="125958"/>
                            <a:pt x="130962" y="3357"/>
                            <a:pt x="283344" y="0"/>
                          </a:cubicBezTo>
                          <a:cubicBezTo>
                            <a:pt x="1981902" y="130954"/>
                            <a:pt x="2726381" y="43574"/>
                            <a:pt x="4242784" y="0"/>
                          </a:cubicBezTo>
                          <a:cubicBezTo>
                            <a:pt x="4413611" y="22088"/>
                            <a:pt x="4537512" y="140801"/>
                            <a:pt x="4526128" y="283344"/>
                          </a:cubicBezTo>
                          <a:cubicBezTo>
                            <a:pt x="4460483" y="726848"/>
                            <a:pt x="4615930" y="956425"/>
                            <a:pt x="4526128" y="1416685"/>
                          </a:cubicBezTo>
                          <a:cubicBezTo>
                            <a:pt x="4522244" y="1573810"/>
                            <a:pt x="4374308" y="1682805"/>
                            <a:pt x="4242784" y="1700029"/>
                          </a:cubicBezTo>
                          <a:cubicBezTo>
                            <a:pt x="3301083" y="1855226"/>
                            <a:pt x="864968" y="1863049"/>
                            <a:pt x="283344" y="1700029"/>
                          </a:cubicBezTo>
                          <a:cubicBezTo>
                            <a:pt x="127922" y="1685624"/>
                            <a:pt x="-4065" y="1575546"/>
                            <a:pt x="0" y="1416685"/>
                          </a:cubicBezTo>
                          <a:cubicBezTo>
                            <a:pt x="56925" y="951358"/>
                            <a:pt x="-19480" y="712765"/>
                            <a:pt x="0" y="283344"/>
                          </a:cubicBezTo>
                          <a:close/>
                        </a:path>
                        <a:path w="4526128" h="1700029" stroke="0" extrusionOk="0">
                          <a:moveTo>
                            <a:pt x="0" y="283344"/>
                          </a:moveTo>
                          <a:cubicBezTo>
                            <a:pt x="-23576" y="112315"/>
                            <a:pt x="107746" y="7173"/>
                            <a:pt x="283344" y="0"/>
                          </a:cubicBezTo>
                          <a:cubicBezTo>
                            <a:pt x="2056104" y="132882"/>
                            <a:pt x="2313290" y="-84951"/>
                            <a:pt x="4242784" y="0"/>
                          </a:cubicBezTo>
                          <a:cubicBezTo>
                            <a:pt x="4394647" y="4515"/>
                            <a:pt x="4523710" y="140223"/>
                            <a:pt x="4526128" y="283344"/>
                          </a:cubicBezTo>
                          <a:cubicBezTo>
                            <a:pt x="4546387" y="813471"/>
                            <a:pt x="4481517" y="1297845"/>
                            <a:pt x="4526128" y="1416685"/>
                          </a:cubicBezTo>
                          <a:cubicBezTo>
                            <a:pt x="4546576" y="1575598"/>
                            <a:pt x="4402089" y="1694229"/>
                            <a:pt x="4242784" y="1700029"/>
                          </a:cubicBezTo>
                          <a:cubicBezTo>
                            <a:pt x="2332086" y="1787668"/>
                            <a:pt x="2156764" y="1627350"/>
                            <a:pt x="283344" y="1700029"/>
                          </a:cubicBezTo>
                          <a:cubicBezTo>
                            <a:pt x="126141" y="1693204"/>
                            <a:pt x="-9089" y="1585803"/>
                            <a:pt x="0" y="1416685"/>
                          </a:cubicBezTo>
                          <a:cubicBezTo>
                            <a:pt x="89728" y="1245856"/>
                            <a:pt x="-95631" y="684199"/>
                            <a:pt x="0" y="28334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Execute code, browse, query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Connect APIs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Add external capabilities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DEB61046-372B-A368-A339-2C9C2F31229D}"/>
                </a:ext>
              </a:extLst>
            </p:cNvPr>
            <p:cNvSpPr>
              <a:spLocks/>
            </p:cNvSpPr>
            <p:nvPr/>
          </p:nvSpPr>
          <p:spPr>
            <a:xfrm>
              <a:off x="276100" y="5029307"/>
              <a:ext cx="4905500" cy="367007"/>
            </a:xfrm>
            <a:prstGeom prst="roundRect">
              <a:avLst>
                <a:gd name="adj" fmla="val 32975"/>
              </a:avLst>
            </a:prstGeom>
            <a:solidFill>
              <a:srgbClr val="003233"/>
            </a:solidFill>
            <a:ln w="28575" cap="flat" cmpd="sng">
              <a:solidFill>
                <a:srgbClr val="003233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929250"/>
                        <a:gd name="csY0" fmla="*/ 56352 h 338106"/>
                        <a:gd name="csX1" fmla="*/ 56352 w 4929250"/>
                        <a:gd name="csY1" fmla="*/ 0 h 338106"/>
                        <a:gd name="csX2" fmla="*/ 4872898 w 4929250"/>
                        <a:gd name="csY2" fmla="*/ 0 h 338106"/>
                        <a:gd name="csX3" fmla="*/ 4929250 w 4929250"/>
                        <a:gd name="csY3" fmla="*/ 56352 h 338106"/>
                        <a:gd name="csX4" fmla="*/ 4929250 w 4929250"/>
                        <a:gd name="csY4" fmla="*/ 281754 h 338106"/>
                        <a:gd name="csX5" fmla="*/ 4872898 w 4929250"/>
                        <a:gd name="csY5" fmla="*/ 338106 h 338106"/>
                        <a:gd name="csX6" fmla="*/ 56352 w 4929250"/>
                        <a:gd name="csY6" fmla="*/ 338106 h 338106"/>
                        <a:gd name="csX7" fmla="*/ 0 w 4929250"/>
                        <a:gd name="csY7" fmla="*/ 281754 h 338106"/>
                        <a:gd name="csX8" fmla="*/ 0 w 4929250"/>
                        <a:gd name="csY8" fmla="*/ 56352 h 338106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929250" h="338106" fill="none" extrusionOk="0">
                          <a:moveTo>
                            <a:pt x="0" y="56352"/>
                          </a:moveTo>
                          <a:cubicBezTo>
                            <a:pt x="-2661" y="24800"/>
                            <a:pt x="26618" y="1135"/>
                            <a:pt x="56352" y="0"/>
                          </a:cubicBezTo>
                          <a:cubicBezTo>
                            <a:pt x="1653443" y="130954"/>
                            <a:pt x="3530582" y="43574"/>
                            <a:pt x="4872898" y="0"/>
                          </a:cubicBezTo>
                          <a:cubicBezTo>
                            <a:pt x="4905361" y="2066"/>
                            <a:pt x="4932385" y="29070"/>
                            <a:pt x="4929250" y="56352"/>
                          </a:cubicBezTo>
                          <a:cubicBezTo>
                            <a:pt x="4911806" y="80091"/>
                            <a:pt x="4944440" y="192316"/>
                            <a:pt x="4929250" y="281754"/>
                          </a:cubicBezTo>
                          <a:cubicBezTo>
                            <a:pt x="4926354" y="313352"/>
                            <a:pt x="4898900" y="334573"/>
                            <a:pt x="4872898" y="338106"/>
                          </a:cubicBezTo>
                          <a:cubicBezTo>
                            <a:pt x="4280190" y="493303"/>
                            <a:pt x="645854" y="501126"/>
                            <a:pt x="56352" y="338106"/>
                          </a:cubicBezTo>
                          <a:cubicBezTo>
                            <a:pt x="25470" y="334857"/>
                            <a:pt x="-865" y="313381"/>
                            <a:pt x="0" y="281754"/>
                          </a:cubicBezTo>
                          <a:cubicBezTo>
                            <a:pt x="-9584" y="173748"/>
                            <a:pt x="-17200" y="117841"/>
                            <a:pt x="0" y="56352"/>
                          </a:cubicBezTo>
                          <a:close/>
                        </a:path>
                        <a:path w="4929250" h="338106" stroke="0" extrusionOk="0">
                          <a:moveTo>
                            <a:pt x="0" y="56352"/>
                          </a:moveTo>
                          <a:cubicBezTo>
                            <a:pt x="-2181" y="23885"/>
                            <a:pt x="24281" y="356"/>
                            <a:pt x="56352" y="0"/>
                          </a:cubicBezTo>
                          <a:cubicBezTo>
                            <a:pt x="970264" y="132882"/>
                            <a:pt x="3213345" y="-84951"/>
                            <a:pt x="4872898" y="0"/>
                          </a:cubicBezTo>
                          <a:cubicBezTo>
                            <a:pt x="4901358" y="2600"/>
                            <a:pt x="4929110" y="26002"/>
                            <a:pt x="4929250" y="56352"/>
                          </a:cubicBezTo>
                          <a:cubicBezTo>
                            <a:pt x="4930254" y="115552"/>
                            <a:pt x="4940607" y="222328"/>
                            <a:pt x="4929250" y="281754"/>
                          </a:cubicBezTo>
                          <a:cubicBezTo>
                            <a:pt x="4931443" y="313136"/>
                            <a:pt x="4904531" y="337054"/>
                            <a:pt x="4872898" y="338106"/>
                          </a:cubicBezTo>
                          <a:cubicBezTo>
                            <a:pt x="3463253" y="425745"/>
                            <a:pt x="1665968" y="265427"/>
                            <a:pt x="56352" y="338106"/>
                          </a:cubicBezTo>
                          <a:cubicBezTo>
                            <a:pt x="24996" y="335872"/>
                            <a:pt x="-3110" y="317198"/>
                            <a:pt x="0" y="281754"/>
                          </a:cubicBezTo>
                          <a:cubicBezTo>
                            <a:pt x="-9829" y="208397"/>
                            <a:pt x="8240" y="88955"/>
                            <a:pt x="0" y="56352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Tools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8315223-518B-BF98-3F18-C536911C60E7}"/>
              </a:ext>
            </a:extLst>
          </p:cNvPr>
          <p:cNvSpPr txBox="1"/>
          <p:nvPr/>
        </p:nvSpPr>
        <p:spPr>
          <a:xfrm>
            <a:off x="5765278" y="5499272"/>
            <a:ext cx="6072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Ollama lets you run models locally and extend them with vision, embedding and tool use.</a:t>
            </a:r>
          </a:p>
        </p:txBody>
      </p:sp>
    </p:spTree>
    <p:extLst>
      <p:ext uri="{BB962C8B-B14F-4D97-AF65-F5344CB8AC3E}">
        <p14:creationId xmlns:p14="http://schemas.microsoft.com/office/powerpoint/2010/main" val="3396490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EA317-B017-523E-EFD0-0FB16AFA0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22A315B-26E0-0494-B227-24092E1C56FB}"/>
              </a:ext>
            </a:extLst>
          </p:cNvPr>
          <p:cNvGrpSpPr/>
          <p:nvPr/>
        </p:nvGrpSpPr>
        <p:grpSpPr>
          <a:xfrm>
            <a:off x="-163666" y="430187"/>
            <a:ext cx="12444947" cy="5927267"/>
            <a:chOff x="-163666" y="430187"/>
            <a:chExt cx="12444947" cy="5927267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E1F0337-DE2E-BBFF-98D5-93D91F38D07C}"/>
                </a:ext>
              </a:extLst>
            </p:cNvPr>
            <p:cNvGrpSpPr/>
            <p:nvPr/>
          </p:nvGrpSpPr>
          <p:grpSpPr>
            <a:xfrm>
              <a:off x="616939" y="3633031"/>
              <a:ext cx="3674054" cy="2385335"/>
              <a:chOff x="575451" y="3802538"/>
              <a:chExt cx="3365500" cy="2214869"/>
            </a:xfrm>
          </p:grpSpPr>
          <p:sp>
            <p:nvSpPr>
              <p:cNvPr id="74" name="Rounded Rectangle 73">
                <a:extLst>
                  <a:ext uri="{FF2B5EF4-FFF2-40B4-BE49-F238E27FC236}">
                    <a16:creationId xmlns:a16="http://schemas.microsoft.com/office/drawing/2014/main" id="{84173958-B312-BC2B-7145-147E19796334}"/>
                  </a:ext>
                </a:extLst>
              </p:cNvPr>
              <p:cNvSpPr/>
              <p:nvPr/>
            </p:nvSpPr>
            <p:spPr>
              <a:xfrm>
                <a:off x="575451" y="3802538"/>
                <a:ext cx="3352800" cy="2214869"/>
              </a:xfrm>
              <a:prstGeom prst="roundRect">
                <a:avLst/>
              </a:prstGeom>
              <a:gradFill flip="none" rotWithShape="1">
                <a:gsLst>
                  <a:gs pos="87000">
                    <a:srgbClr val="CDF1F1">
                      <a:alpha val="94399"/>
                      <a:lumMod val="90000"/>
                      <a:lumOff val="10000"/>
                    </a:srgbClr>
                  </a:gs>
                  <a:gs pos="20000">
                    <a:schemeClr val="accent6">
                      <a:lumMod val="0"/>
                      <a:lumOff val="100000"/>
                      <a:alpha val="29055"/>
                    </a:schemeClr>
                  </a:gs>
                </a:gsLst>
                <a:lin ang="135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285750" indent="-285750">
                  <a:buFont typeface="Wingdings" pitchFamily="2" charset="2"/>
                  <a:buChar char="ü"/>
                </a:pPr>
                <a:r>
                  <a:rPr lang="en-US" sz="1600" dirty="0">
                    <a:solidFill>
                      <a:schemeClr val="tx1"/>
                    </a:solidFill>
                  </a:rPr>
                  <a:t>Local-only by default</a:t>
                </a:r>
              </a:p>
              <a:p>
                <a:pPr marL="285750" indent="-285750">
                  <a:buFont typeface="Wingdings" pitchFamily="2" charset="2"/>
                  <a:buChar char="ü"/>
                </a:pPr>
                <a:r>
                  <a:rPr lang="en-US" sz="1600" dirty="0">
                    <a:solidFill>
                      <a:schemeClr val="tx1"/>
                    </a:solidFill>
                  </a:rPr>
                  <a:t>Redact before indexing/prompting</a:t>
                </a:r>
              </a:p>
              <a:p>
                <a:pPr marL="285750" indent="-285750">
                  <a:buFont typeface="Wingdings" pitchFamily="2" charset="2"/>
                  <a:buChar char="ü"/>
                </a:pPr>
                <a:r>
                  <a:rPr lang="en-US" sz="1600" dirty="0">
                    <a:solidFill>
                      <a:schemeClr val="tx1"/>
                    </a:solidFill>
                  </a:rPr>
                  <a:t>Allow-list source &amp; file types</a:t>
                </a:r>
              </a:p>
              <a:p>
                <a:pPr marL="285750" indent="-285750">
                  <a:buFont typeface="Wingdings" pitchFamily="2" charset="2"/>
                  <a:buChar char="ü"/>
                </a:pPr>
                <a:r>
                  <a:rPr lang="en-US" sz="1600" dirty="0">
                    <a:solidFill>
                      <a:schemeClr val="tx1"/>
                    </a:solidFill>
                  </a:rPr>
                  <a:t>Keep citations to show provenance</a:t>
                </a:r>
              </a:p>
            </p:txBody>
          </p:sp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1647F98B-5CAA-06B7-4C50-58A10EAE1BAE}"/>
                  </a:ext>
                </a:extLst>
              </p:cNvPr>
              <p:cNvSpPr/>
              <p:nvPr/>
            </p:nvSpPr>
            <p:spPr>
              <a:xfrm>
                <a:off x="588151" y="3802538"/>
                <a:ext cx="3352800" cy="360530"/>
              </a:xfrm>
              <a:prstGeom prst="roundRect">
                <a:avLst/>
              </a:prstGeom>
              <a:solidFill>
                <a:schemeClr val="accent6">
                  <a:lumMod val="75000"/>
                  <a:alpha val="84701"/>
                </a:schemeClr>
              </a:solidFill>
              <a:ln w="19050" cmpd="sng">
                <a:noFill/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3352800"/>
                          <a:gd name="csY0" fmla="*/ 60090 h 360530"/>
                          <a:gd name="csX1" fmla="*/ 60090 w 3352800"/>
                          <a:gd name="csY1" fmla="*/ 0 h 360530"/>
                          <a:gd name="csX2" fmla="*/ 641962 w 3352800"/>
                          <a:gd name="csY2" fmla="*/ 0 h 360530"/>
                          <a:gd name="csX3" fmla="*/ 1288486 w 3352800"/>
                          <a:gd name="csY3" fmla="*/ 0 h 360530"/>
                          <a:gd name="csX4" fmla="*/ 1870357 w 3352800"/>
                          <a:gd name="csY4" fmla="*/ 0 h 360530"/>
                          <a:gd name="csX5" fmla="*/ 2516881 w 3352800"/>
                          <a:gd name="csY5" fmla="*/ 0 h 360530"/>
                          <a:gd name="csX6" fmla="*/ 3292710 w 3352800"/>
                          <a:gd name="csY6" fmla="*/ 0 h 360530"/>
                          <a:gd name="csX7" fmla="*/ 3352800 w 3352800"/>
                          <a:gd name="csY7" fmla="*/ 60090 h 360530"/>
                          <a:gd name="csX8" fmla="*/ 3352800 w 3352800"/>
                          <a:gd name="csY8" fmla="*/ 300440 h 360530"/>
                          <a:gd name="csX9" fmla="*/ 3292710 w 3352800"/>
                          <a:gd name="csY9" fmla="*/ 360530 h 360530"/>
                          <a:gd name="csX10" fmla="*/ 2678512 w 3352800"/>
                          <a:gd name="csY10" fmla="*/ 360530 h 360530"/>
                          <a:gd name="csX11" fmla="*/ 2128967 w 3352800"/>
                          <a:gd name="csY11" fmla="*/ 360530 h 360530"/>
                          <a:gd name="csX12" fmla="*/ 1450117 w 3352800"/>
                          <a:gd name="csY12" fmla="*/ 360530 h 360530"/>
                          <a:gd name="csX13" fmla="*/ 868245 w 3352800"/>
                          <a:gd name="csY13" fmla="*/ 360530 h 360530"/>
                          <a:gd name="csX14" fmla="*/ 60090 w 3352800"/>
                          <a:gd name="csY14" fmla="*/ 360530 h 360530"/>
                          <a:gd name="csX15" fmla="*/ 0 w 3352800"/>
                          <a:gd name="csY15" fmla="*/ 300440 h 360530"/>
                          <a:gd name="csX16" fmla="*/ 0 w 3352800"/>
                          <a:gd name="csY16" fmla="*/ 60090 h 36053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</a:cxnLst>
                        <a:rect l="l" t="t" r="r" b="b"/>
                        <a:pathLst>
                          <a:path w="3352800" h="360530" fill="none" extrusionOk="0">
                            <a:moveTo>
                              <a:pt x="0" y="60090"/>
                            </a:moveTo>
                            <a:cubicBezTo>
                              <a:pt x="-1413" y="29430"/>
                              <a:pt x="30867" y="2945"/>
                              <a:pt x="60090" y="0"/>
                            </a:cubicBezTo>
                            <a:cubicBezTo>
                              <a:pt x="335251" y="12521"/>
                              <a:pt x="438793" y="-11385"/>
                              <a:pt x="641962" y="0"/>
                            </a:cubicBezTo>
                            <a:cubicBezTo>
                              <a:pt x="845131" y="11385"/>
                              <a:pt x="1078841" y="-5248"/>
                              <a:pt x="1288486" y="0"/>
                            </a:cubicBezTo>
                            <a:cubicBezTo>
                              <a:pt x="1498131" y="5248"/>
                              <a:pt x="1594183" y="1466"/>
                              <a:pt x="1870357" y="0"/>
                            </a:cubicBezTo>
                            <a:cubicBezTo>
                              <a:pt x="2146531" y="-1466"/>
                              <a:pt x="2255082" y="9112"/>
                              <a:pt x="2516881" y="0"/>
                            </a:cubicBezTo>
                            <a:cubicBezTo>
                              <a:pt x="2778680" y="-9112"/>
                              <a:pt x="3019876" y="-30002"/>
                              <a:pt x="3292710" y="0"/>
                            </a:cubicBezTo>
                            <a:cubicBezTo>
                              <a:pt x="3326421" y="-1611"/>
                              <a:pt x="3355961" y="30321"/>
                              <a:pt x="3352800" y="60090"/>
                            </a:cubicBezTo>
                            <a:cubicBezTo>
                              <a:pt x="3356661" y="166676"/>
                              <a:pt x="3350009" y="243175"/>
                              <a:pt x="3352800" y="300440"/>
                            </a:cubicBezTo>
                            <a:cubicBezTo>
                              <a:pt x="3352641" y="330326"/>
                              <a:pt x="3329573" y="362846"/>
                              <a:pt x="3292710" y="360530"/>
                            </a:cubicBezTo>
                            <a:cubicBezTo>
                              <a:pt x="3156853" y="362195"/>
                              <a:pt x="2810212" y="349455"/>
                              <a:pt x="2678512" y="360530"/>
                            </a:cubicBezTo>
                            <a:cubicBezTo>
                              <a:pt x="2546812" y="371605"/>
                              <a:pt x="2342209" y="351378"/>
                              <a:pt x="2128967" y="360530"/>
                            </a:cubicBezTo>
                            <a:cubicBezTo>
                              <a:pt x="1915725" y="369682"/>
                              <a:pt x="1591014" y="351429"/>
                              <a:pt x="1450117" y="360530"/>
                            </a:cubicBezTo>
                            <a:cubicBezTo>
                              <a:pt x="1309220" y="369632"/>
                              <a:pt x="1056724" y="360472"/>
                              <a:pt x="868245" y="360530"/>
                            </a:cubicBezTo>
                            <a:cubicBezTo>
                              <a:pt x="679766" y="360588"/>
                              <a:pt x="283439" y="337250"/>
                              <a:pt x="60090" y="360530"/>
                            </a:cubicBezTo>
                            <a:cubicBezTo>
                              <a:pt x="28324" y="354330"/>
                              <a:pt x="-2757" y="333538"/>
                              <a:pt x="0" y="300440"/>
                            </a:cubicBezTo>
                            <a:cubicBezTo>
                              <a:pt x="-8127" y="229599"/>
                              <a:pt x="9952" y="113831"/>
                              <a:pt x="0" y="60090"/>
                            </a:cubicBezTo>
                            <a:close/>
                          </a:path>
                          <a:path w="3352800" h="360530" stroke="0" extrusionOk="0">
                            <a:moveTo>
                              <a:pt x="0" y="60090"/>
                            </a:moveTo>
                            <a:cubicBezTo>
                              <a:pt x="-919" y="26336"/>
                              <a:pt x="26168" y="276"/>
                              <a:pt x="60090" y="0"/>
                            </a:cubicBezTo>
                            <a:cubicBezTo>
                              <a:pt x="244166" y="-32957"/>
                              <a:pt x="601971" y="-4821"/>
                              <a:pt x="771266" y="0"/>
                            </a:cubicBezTo>
                            <a:cubicBezTo>
                              <a:pt x="940561" y="4821"/>
                              <a:pt x="1225176" y="-13407"/>
                              <a:pt x="1385464" y="0"/>
                            </a:cubicBezTo>
                            <a:cubicBezTo>
                              <a:pt x="1545752" y="13407"/>
                              <a:pt x="1717894" y="-14639"/>
                              <a:pt x="1967336" y="0"/>
                            </a:cubicBezTo>
                            <a:cubicBezTo>
                              <a:pt x="2216778" y="14639"/>
                              <a:pt x="2348226" y="-27766"/>
                              <a:pt x="2646186" y="0"/>
                            </a:cubicBezTo>
                            <a:cubicBezTo>
                              <a:pt x="2944146" y="27766"/>
                              <a:pt x="3113526" y="12479"/>
                              <a:pt x="3292710" y="0"/>
                            </a:cubicBezTo>
                            <a:cubicBezTo>
                              <a:pt x="3326780" y="-1437"/>
                              <a:pt x="3349741" y="29591"/>
                              <a:pt x="3352800" y="60090"/>
                            </a:cubicBezTo>
                            <a:cubicBezTo>
                              <a:pt x="3350963" y="108793"/>
                              <a:pt x="3345214" y="192170"/>
                              <a:pt x="3352800" y="300440"/>
                            </a:cubicBezTo>
                            <a:cubicBezTo>
                              <a:pt x="3354743" y="334094"/>
                              <a:pt x="3319271" y="359458"/>
                              <a:pt x="3292710" y="360530"/>
                            </a:cubicBezTo>
                            <a:cubicBezTo>
                              <a:pt x="3071866" y="391442"/>
                              <a:pt x="2931023" y="366965"/>
                              <a:pt x="2646186" y="360530"/>
                            </a:cubicBezTo>
                            <a:cubicBezTo>
                              <a:pt x="2361349" y="354095"/>
                              <a:pt x="2257075" y="385601"/>
                              <a:pt x="2031988" y="360530"/>
                            </a:cubicBezTo>
                            <a:cubicBezTo>
                              <a:pt x="1806901" y="335459"/>
                              <a:pt x="1643298" y="335048"/>
                              <a:pt x="1320812" y="360530"/>
                            </a:cubicBezTo>
                            <a:cubicBezTo>
                              <a:pt x="998326" y="386012"/>
                              <a:pt x="872235" y="363458"/>
                              <a:pt x="609635" y="360530"/>
                            </a:cubicBezTo>
                            <a:cubicBezTo>
                              <a:pt x="347035" y="357602"/>
                              <a:pt x="290345" y="358424"/>
                              <a:pt x="60090" y="360530"/>
                            </a:cubicBezTo>
                            <a:cubicBezTo>
                              <a:pt x="23819" y="357625"/>
                              <a:pt x="-1343" y="331619"/>
                              <a:pt x="0" y="300440"/>
                            </a:cubicBezTo>
                            <a:cubicBezTo>
                              <a:pt x="10307" y="249440"/>
                              <a:pt x="9818" y="119987"/>
                              <a:pt x="0" y="6009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>
                <a:glow rad="53488">
                  <a:schemeClr val="accent1"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 extrusionH="76200">
                <a:bevelB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Data Control</a:t>
                </a: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7E62390-2FC1-F69A-3E8D-041D65F2FED7}"/>
                </a:ext>
              </a:extLst>
            </p:cNvPr>
            <p:cNvSpPr>
              <a:spLocks/>
            </p:cNvSpPr>
            <p:nvPr/>
          </p:nvSpPr>
          <p:spPr>
            <a:xfrm rot="455338">
              <a:off x="3517058" y="5002222"/>
              <a:ext cx="3603566" cy="1134059"/>
            </a:xfrm>
            <a:prstGeom prst="rect">
              <a:avLst/>
            </a:prstGeom>
            <a:gradFill flip="none" rotWithShape="1">
              <a:gsLst>
                <a:gs pos="35000">
                  <a:schemeClr val="bg2">
                    <a:lumMod val="52050"/>
                    <a:lumOff val="4795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57150" cap="sq" cmpd="dbl">
              <a:gradFill flip="none" rotWithShape="1">
                <a:gsLst>
                  <a:gs pos="0">
                    <a:schemeClr val="accent3">
                      <a:lumMod val="67000"/>
                    </a:schemeClr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miter lim="800000"/>
            </a:ln>
            <a:effectLst>
              <a:outerShdw blurRad="658642" dist="78945" sx="106780" sy="106780" algn="l" rotWithShape="0">
                <a:schemeClr val="bg1">
                  <a:lumMod val="75000"/>
                  <a:alpha val="74000"/>
                </a:schemeClr>
              </a:outerShdw>
            </a:effectLst>
            <a:scene3d>
              <a:camera prst="perspectiveRelaxed" fov="0">
                <a:rot lat="18017243" lon="3464539" rev="18437403"/>
              </a:camera>
              <a:lightRig rig="glow" dir="t">
                <a:rot lat="0" lon="0" rev="10200000"/>
              </a:lightRig>
            </a:scene3d>
            <a:sp3d z="6350" extrusionH="635000" contourW="38100" prstMaterial="powder">
              <a:bevelT w="63500" h="44450" prst="convex"/>
              <a:bevelB w="88900" h="12700" prst="cross"/>
              <a:extrusionClr>
                <a:schemeClr val="accent3">
                  <a:lumMod val="75000"/>
                </a:schemeClr>
              </a:extrusionClr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rmAutofit/>
              <a:flatTx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61AE726-C9C9-E21F-4911-205799CD95C0}"/>
                </a:ext>
              </a:extLst>
            </p:cNvPr>
            <p:cNvSpPr>
              <a:spLocks/>
            </p:cNvSpPr>
            <p:nvPr/>
          </p:nvSpPr>
          <p:spPr>
            <a:xfrm rot="240616">
              <a:off x="6131244" y="631475"/>
              <a:ext cx="3603566" cy="1134059"/>
            </a:xfrm>
            <a:prstGeom prst="rect">
              <a:avLst/>
            </a:prstGeom>
            <a:gradFill flip="none" rotWithShape="1">
              <a:gsLst>
                <a:gs pos="35000">
                  <a:schemeClr val="bg1">
                    <a:lumMod val="95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57150" cap="sq" cmpd="dbl">
              <a:gradFill flip="none" rotWithShape="1">
                <a:gsLst>
                  <a:gs pos="0">
                    <a:schemeClr val="accent3">
                      <a:lumMod val="67000"/>
                    </a:schemeClr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miter lim="800000"/>
            </a:ln>
            <a:effectLst>
              <a:outerShdw blurRad="658642" dist="78945" sx="106780" sy="106780" algn="l" rotWithShape="0">
                <a:schemeClr val="bg1">
                  <a:lumMod val="75000"/>
                  <a:alpha val="74000"/>
                </a:schemeClr>
              </a:outerShdw>
            </a:effectLst>
            <a:scene3d>
              <a:camera prst="perspectiveRelaxed" fov="0">
                <a:rot lat="17595885" lon="3606833" rev="18022688"/>
              </a:camera>
              <a:lightRig rig="glow" dir="t">
                <a:rot lat="0" lon="0" rev="10200000"/>
              </a:lightRig>
            </a:scene3d>
            <a:sp3d z="6350" extrusionH="635000" contourW="38100" prstMaterial="powder">
              <a:bevelT w="63500" h="44450" prst="convex"/>
              <a:bevelB w="88900" h="12700" prst="cross"/>
              <a:extrusionClr>
                <a:srgbClr val="F4582F"/>
              </a:extrusionClr>
              <a:contourClr>
                <a:schemeClr val="bg2">
                  <a:lumMod val="90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rmAutofit/>
              <a:flatTx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2A04ED2-A2E3-6D44-1A90-E948C02A6979}"/>
                </a:ext>
              </a:extLst>
            </p:cNvPr>
            <p:cNvSpPr>
              <a:spLocks/>
            </p:cNvSpPr>
            <p:nvPr/>
          </p:nvSpPr>
          <p:spPr>
            <a:xfrm rot="240616">
              <a:off x="4067685" y="4063653"/>
              <a:ext cx="3626384" cy="1218867"/>
            </a:xfrm>
            <a:prstGeom prst="rect">
              <a:avLst/>
            </a:prstGeom>
            <a:gradFill flip="none" rotWithShape="1">
              <a:gsLst>
                <a:gs pos="35000">
                  <a:schemeClr val="bg1">
                    <a:lumMod val="95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57150" cap="sq" cmpd="dbl">
              <a:gradFill flip="none" rotWithShape="1">
                <a:gsLst>
                  <a:gs pos="0">
                    <a:schemeClr val="accent3">
                      <a:lumMod val="67000"/>
                    </a:schemeClr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miter lim="800000"/>
            </a:ln>
            <a:effectLst>
              <a:outerShdw blurRad="658642" dist="78945" sx="106780" sy="106780" algn="l" rotWithShape="0">
                <a:schemeClr val="bg1">
                  <a:lumMod val="75000"/>
                  <a:alpha val="74000"/>
                </a:schemeClr>
              </a:outerShdw>
            </a:effectLst>
            <a:scene3d>
              <a:camera prst="perspectiveRelaxed" fov="0">
                <a:rot lat="17595885" lon="3606833" rev="18024000"/>
              </a:camera>
              <a:lightRig rig="glow" dir="t">
                <a:rot lat="0" lon="0" rev="10200000"/>
              </a:lightRig>
            </a:scene3d>
            <a:sp3d z="6350" extrusionH="635000" contourW="38100" prstMaterial="powder">
              <a:bevelT w="63500" h="44450" prst="convex"/>
              <a:bevelB w="88900" h="12700" prst="cross"/>
              <a:extrusionClr>
                <a:schemeClr val="accent6">
                  <a:lumMod val="60000"/>
                  <a:lumOff val="40000"/>
                </a:schemeClr>
              </a:extrusionClr>
              <a:contourClr>
                <a:schemeClr val="bg2">
                  <a:lumMod val="90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rmAutofit/>
              <a:flatTx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D2C7A02-E41F-BF45-9645-4AB592562EC9}"/>
                </a:ext>
              </a:extLst>
            </p:cNvPr>
            <p:cNvSpPr>
              <a:spLocks/>
            </p:cNvSpPr>
            <p:nvPr/>
          </p:nvSpPr>
          <p:spPr>
            <a:xfrm rot="240616">
              <a:off x="4558372" y="3218491"/>
              <a:ext cx="3603566" cy="1134059"/>
            </a:xfrm>
            <a:prstGeom prst="rect">
              <a:avLst/>
            </a:prstGeom>
            <a:gradFill flip="none" rotWithShape="1">
              <a:gsLst>
                <a:gs pos="35000">
                  <a:schemeClr val="bg1">
                    <a:lumMod val="95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57150" cap="sq" cmpd="dbl">
              <a:gradFill flip="none" rotWithShape="1">
                <a:gsLst>
                  <a:gs pos="0">
                    <a:schemeClr val="accent3">
                      <a:lumMod val="67000"/>
                    </a:schemeClr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miter lim="800000"/>
            </a:ln>
            <a:effectLst>
              <a:outerShdw blurRad="658642" dist="78945" sx="106780" sy="106780" algn="l" rotWithShape="0">
                <a:schemeClr val="bg1">
                  <a:lumMod val="75000"/>
                  <a:alpha val="74000"/>
                </a:schemeClr>
              </a:outerShdw>
            </a:effectLst>
            <a:scene3d>
              <a:camera prst="perspectiveRelaxed" fov="0">
                <a:rot lat="17595885" lon="3606833" rev="18022688"/>
              </a:camera>
              <a:lightRig rig="glow" dir="t">
                <a:rot lat="0" lon="0" rev="10200000"/>
              </a:lightRig>
            </a:scene3d>
            <a:sp3d z="6350" extrusionH="635000" contourW="38100" prstMaterial="powder">
              <a:bevelT w="63500" h="44450" prst="convex"/>
              <a:bevelB w="88900" h="12700" prst="cross"/>
              <a:extrusionClr>
                <a:srgbClr val="7381CD"/>
              </a:extrusionClr>
              <a:contourClr>
                <a:schemeClr val="bg2">
                  <a:lumMod val="90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rmAutofit/>
              <a:flatTx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9E638A9-53FC-91C5-1C06-857CE11BD755}"/>
                </a:ext>
              </a:extLst>
            </p:cNvPr>
            <p:cNvSpPr>
              <a:spLocks/>
            </p:cNvSpPr>
            <p:nvPr/>
          </p:nvSpPr>
          <p:spPr>
            <a:xfrm rot="240616">
              <a:off x="5075191" y="2374352"/>
              <a:ext cx="3603566" cy="1134059"/>
            </a:xfrm>
            <a:prstGeom prst="rect">
              <a:avLst/>
            </a:prstGeom>
            <a:gradFill flip="none" rotWithShape="1">
              <a:gsLst>
                <a:gs pos="35000">
                  <a:schemeClr val="bg1">
                    <a:lumMod val="95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57150" cap="sq" cmpd="dbl">
              <a:gradFill flip="none" rotWithShape="1">
                <a:gsLst>
                  <a:gs pos="0">
                    <a:schemeClr val="accent3">
                      <a:lumMod val="67000"/>
                    </a:schemeClr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miter lim="800000"/>
            </a:ln>
            <a:effectLst>
              <a:outerShdw blurRad="658642" dist="78945" sx="106780" sy="106780" algn="l" rotWithShape="0">
                <a:schemeClr val="bg1">
                  <a:lumMod val="75000"/>
                  <a:alpha val="74000"/>
                </a:schemeClr>
              </a:outerShdw>
            </a:effectLst>
            <a:scene3d>
              <a:camera prst="perspectiveRelaxed" fov="0">
                <a:rot lat="17595885" lon="3606833" rev="18022688"/>
              </a:camera>
              <a:lightRig rig="glow" dir="t">
                <a:rot lat="0" lon="0" rev="10200000"/>
              </a:lightRig>
            </a:scene3d>
            <a:sp3d z="6350" extrusionH="635000" contourW="38100" prstMaterial="powder">
              <a:bevelT w="63500" h="44450" prst="convex"/>
              <a:bevelB w="88900" h="12700" prst="cross"/>
              <a:extrusionClr>
                <a:srgbClr val="92D050"/>
              </a:extrusionClr>
              <a:contourClr>
                <a:schemeClr val="bg2">
                  <a:lumMod val="90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rmAutofit/>
              <a:flatTx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80128C2-C574-1E4B-C851-36DD983F467F}"/>
                </a:ext>
              </a:extLst>
            </p:cNvPr>
            <p:cNvSpPr>
              <a:spLocks/>
            </p:cNvSpPr>
            <p:nvPr/>
          </p:nvSpPr>
          <p:spPr>
            <a:xfrm rot="240616">
              <a:off x="5607398" y="1502913"/>
              <a:ext cx="3603566" cy="1134059"/>
            </a:xfrm>
            <a:prstGeom prst="rect">
              <a:avLst/>
            </a:prstGeom>
            <a:gradFill flip="none" rotWithShape="1">
              <a:gsLst>
                <a:gs pos="35000">
                  <a:schemeClr val="bg1">
                    <a:lumMod val="95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57150" cap="sq" cmpd="dbl">
              <a:gradFill flip="none" rotWithShape="1">
                <a:gsLst>
                  <a:gs pos="0">
                    <a:schemeClr val="accent3">
                      <a:lumMod val="67000"/>
                    </a:schemeClr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miter lim="800000"/>
            </a:ln>
            <a:effectLst>
              <a:outerShdw blurRad="658642" dist="78945" sx="106780" sy="106780" algn="l" rotWithShape="0">
                <a:schemeClr val="bg1">
                  <a:lumMod val="75000"/>
                  <a:alpha val="74000"/>
                </a:schemeClr>
              </a:outerShdw>
            </a:effectLst>
            <a:scene3d>
              <a:camera prst="perspectiveRelaxed" fov="0">
                <a:rot lat="17595885" lon="3606833" rev="18022688"/>
              </a:camera>
              <a:lightRig rig="glow" dir="t">
                <a:rot lat="0" lon="0" rev="10200000"/>
              </a:lightRig>
            </a:scene3d>
            <a:sp3d z="6350" extrusionH="635000" contourW="38100" prstMaterial="powder">
              <a:bevelT w="63500" h="44450" prst="convex"/>
              <a:bevelB w="88900" h="12700" prst="cross"/>
              <a:extrusionClr>
                <a:srgbClr val="DA8600"/>
              </a:extrusionClr>
              <a:contourClr>
                <a:schemeClr val="bg2">
                  <a:lumMod val="90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rmAutofit/>
              <a:flatTx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2" name="Up Arrow 71">
              <a:extLst>
                <a:ext uri="{FF2B5EF4-FFF2-40B4-BE49-F238E27FC236}">
                  <a16:creationId xmlns:a16="http://schemas.microsoft.com/office/drawing/2014/main" id="{8C0A2097-572B-9750-CF19-6B7AF91A7284}"/>
                </a:ext>
              </a:extLst>
            </p:cNvPr>
            <p:cNvSpPr/>
            <p:nvPr/>
          </p:nvSpPr>
          <p:spPr>
            <a:xfrm>
              <a:off x="9532488" y="2388439"/>
              <a:ext cx="582528" cy="3422214"/>
            </a:xfrm>
            <a:prstGeom prst="upArrow">
              <a:avLst>
                <a:gd name="adj1" fmla="val 33030"/>
                <a:gd name="adj2" fmla="val 95818"/>
              </a:avLst>
            </a:prstGeom>
            <a:gradFill flip="none" rotWithShape="1">
              <a:gsLst>
                <a:gs pos="70000">
                  <a:schemeClr val="accent2">
                    <a:alpha val="33508"/>
                    <a:lumMod val="30000"/>
                    <a:lumOff val="70000"/>
                  </a:schemeClr>
                </a:gs>
                <a:gs pos="17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 w="31750" cap="rnd" cmpd="dbl">
              <a:solidFill>
                <a:schemeClr val="tx1">
                  <a:lumMod val="65000"/>
                  <a:lumOff val="35000"/>
                  <a:alpha val="39450"/>
                </a:schemeClr>
              </a:solidFill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748400"/>
                        <a:gd name="csY0" fmla="*/ 869506 h 4201435"/>
                        <a:gd name="csX1" fmla="*/ 179616 w 748400"/>
                        <a:gd name="csY1" fmla="*/ 452143 h 4201435"/>
                        <a:gd name="csX2" fmla="*/ 374200 w 748400"/>
                        <a:gd name="csY2" fmla="*/ 0 h 4201435"/>
                        <a:gd name="csX3" fmla="*/ 557558 w 748400"/>
                        <a:gd name="csY3" fmla="*/ 426058 h 4201435"/>
                        <a:gd name="csX4" fmla="*/ 748400 w 748400"/>
                        <a:gd name="csY4" fmla="*/ 869506 h 4201435"/>
                        <a:gd name="csX5" fmla="*/ 510499 w 748400"/>
                        <a:gd name="csY5" fmla="*/ 869506 h 4201435"/>
                        <a:gd name="csX6" fmla="*/ 510499 w 748400"/>
                        <a:gd name="csY6" fmla="*/ 1435934 h 4201435"/>
                        <a:gd name="csX7" fmla="*/ 510499 w 748400"/>
                        <a:gd name="csY7" fmla="*/ 2135639 h 4201435"/>
                        <a:gd name="csX8" fmla="*/ 510499 w 748400"/>
                        <a:gd name="csY8" fmla="*/ 2702067 h 4201435"/>
                        <a:gd name="csX9" fmla="*/ 510499 w 748400"/>
                        <a:gd name="csY9" fmla="*/ 3335133 h 4201435"/>
                        <a:gd name="csX10" fmla="*/ 510499 w 748400"/>
                        <a:gd name="csY10" fmla="*/ 4201435 h 4201435"/>
                        <a:gd name="csX11" fmla="*/ 237901 w 748400"/>
                        <a:gd name="csY11" fmla="*/ 4201435 h 4201435"/>
                        <a:gd name="csX12" fmla="*/ 237901 w 748400"/>
                        <a:gd name="csY12" fmla="*/ 3601688 h 4201435"/>
                        <a:gd name="csX13" fmla="*/ 237901 w 748400"/>
                        <a:gd name="csY13" fmla="*/ 2868663 h 4201435"/>
                        <a:gd name="csX14" fmla="*/ 237901 w 748400"/>
                        <a:gd name="csY14" fmla="*/ 2235597 h 4201435"/>
                        <a:gd name="csX15" fmla="*/ 237901 w 748400"/>
                        <a:gd name="csY15" fmla="*/ 1502573 h 4201435"/>
                        <a:gd name="csX16" fmla="*/ 237901 w 748400"/>
                        <a:gd name="csY16" fmla="*/ 869506 h 4201435"/>
                        <a:gd name="csX17" fmla="*/ 0 w 748400"/>
                        <a:gd name="csY17" fmla="*/ 869506 h 420143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</a:cxnLst>
                      <a:rect l="l" t="t" r="r" b="b"/>
                      <a:pathLst>
                        <a:path w="748400" h="4201435" fill="none" extrusionOk="0">
                          <a:moveTo>
                            <a:pt x="0" y="869506"/>
                          </a:moveTo>
                          <a:cubicBezTo>
                            <a:pt x="79815" y="738278"/>
                            <a:pt x="110095" y="635366"/>
                            <a:pt x="179616" y="452143"/>
                          </a:cubicBezTo>
                          <a:cubicBezTo>
                            <a:pt x="249137" y="268920"/>
                            <a:pt x="311095" y="102758"/>
                            <a:pt x="374200" y="0"/>
                          </a:cubicBezTo>
                          <a:cubicBezTo>
                            <a:pt x="412850" y="131584"/>
                            <a:pt x="498768" y="312054"/>
                            <a:pt x="557558" y="426058"/>
                          </a:cubicBezTo>
                          <a:cubicBezTo>
                            <a:pt x="616348" y="540062"/>
                            <a:pt x="688264" y="695063"/>
                            <a:pt x="748400" y="869506"/>
                          </a:cubicBezTo>
                          <a:cubicBezTo>
                            <a:pt x="652401" y="874159"/>
                            <a:pt x="605696" y="879390"/>
                            <a:pt x="510499" y="869506"/>
                          </a:cubicBezTo>
                          <a:cubicBezTo>
                            <a:pt x="524233" y="988510"/>
                            <a:pt x="529995" y="1195259"/>
                            <a:pt x="510499" y="1435934"/>
                          </a:cubicBezTo>
                          <a:cubicBezTo>
                            <a:pt x="491003" y="1676609"/>
                            <a:pt x="529211" y="1981881"/>
                            <a:pt x="510499" y="2135639"/>
                          </a:cubicBezTo>
                          <a:cubicBezTo>
                            <a:pt x="491787" y="2289398"/>
                            <a:pt x="493110" y="2538705"/>
                            <a:pt x="510499" y="2702067"/>
                          </a:cubicBezTo>
                          <a:cubicBezTo>
                            <a:pt x="527888" y="2865429"/>
                            <a:pt x="487835" y="3202557"/>
                            <a:pt x="510499" y="3335133"/>
                          </a:cubicBezTo>
                          <a:cubicBezTo>
                            <a:pt x="533163" y="3467709"/>
                            <a:pt x="519488" y="3853352"/>
                            <a:pt x="510499" y="4201435"/>
                          </a:cubicBezTo>
                          <a:cubicBezTo>
                            <a:pt x="426662" y="4209126"/>
                            <a:pt x="366294" y="4195905"/>
                            <a:pt x="237901" y="4201435"/>
                          </a:cubicBezTo>
                          <a:cubicBezTo>
                            <a:pt x="254340" y="3910683"/>
                            <a:pt x="257098" y="3847675"/>
                            <a:pt x="237901" y="3601688"/>
                          </a:cubicBezTo>
                          <a:cubicBezTo>
                            <a:pt x="218704" y="3355701"/>
                            <a:pt x="214314" y="3181378"/>
                            <a:pt x="237901" y="2868663"/>
                          </a:cubicBezTo>
                          <a:cubicBezTo>
                            <a:pt x="261488" y="2555948"/>
                            <a:pt x="243582" y="2499492"/>
                            <a:pt x="237901" y="2235597"/>
                          </a:cubicBezTo>
                          <a:cubicBezTo>
                            <a:pt x="232220" y="1971702"/>
                            <a:pt x="220927" y="1708693"/>
                            <a:pt x="237901" y="1502573"/>
                          </a:cubicBezTo>
                          <a:cubicBezTo>
                            <a:pt x="254875" y="1296453"/>
                            <a:pt x="249305" y="1127032"/>
                            <a:pt x="237901" y="869506"/>
                          </a:cubicBezTo>
                          <a:cubicBezTo>
                            <a:pt x="184009" y="859055"/>
                            <a:pt x="50115" y="869618"/>
                            <a:pt x="0" y="869506"/>
                          </a:cubicBezTo>
                          <a:close/>
                        </a:path>
                        <a:path w="748400" h="4201435" stroke="0" extrusionOk="0">
                          <a:moveTo>
                            <a:pt x="0" y="869506"/>
                          </a:moveTo>
                          <a:cubicBezTo>
                            <a:pt x="71956" y="681294"/>
                            <a:pt x="106541" y="658484"/>
                            <a:pt x="183358" y="443448"/>
                          </a:cubicBezTo>
                          <a:cubicBezTo>
                            <a:pt x="260175" y="228412"/>
                            <a:pt x="315927" y="154036"/>
                            <a:pt x="374200" y="0"/>
                          </a:cubicBezTo>
                          <a:cubicBezTo>
                            <a:pt x="465846" y="173734"/>
                            <a:pt x="493159" y="284089"/>
                            <a:pt x="568784" y="452143"/>
                          </a:cubicBezTo>
                          <a:cubicBezTo>
                            <a:pt x="644409" y="620197"/>
                            <a:pt x="668654" y="729105"/>
                            <a:pt x="748400" y="869506"/>
                          </a:cubicBezTo>
                          <a:cubicBezTo>
                            <a:pt x="700377" y="861950"/>
                            <a:pt x="582242" y="867572"/>
                            <a:pt x="510499" y="869506"/>
                          </a:cubicBezTo>
                          <a:cubicBezTo>
                            <a:pt x="517982" y="1055484"/>
                            <a:pt x="506538" y="1434705"/>
                            <a:pt x="510499" y="1602530"/>
                          </a:cubicBezTo>
                          <a:cubicBezTo>
                            <a:pt x="514460" y="1770355"/>
                            <a:pt x="489315" y="2021941"/>
                            <a:pt x="510499" y="2335555"/>
                          </a:cubicBezTo>
                          <a:cubicBezTo>
                            <a:pt x="531683" y="2649170"/>
                            <a:pt x="500256" y="2780210"/>
                            <a:pt x="510499" y="3001941"/>
                          </a:cubicBezTo>
                          <a:cubicBezTo>
                            <a:pt x="520742" y="3223672"/>
                            <a:pt x="460439" y="3725751"/>
                            <a:pt x="510499" y="4201435"/>
                          </a:cubicBezTo>
                          <a:cubicBezTo>
                            <a:pt x="407514" y="4212255"/>
                            <a:pt x="327317" y="4198886"/>
                            <a:pt x="237901" y="4201435"/>
                          </a:cubicBezTo>
                          <a:cubicBezTo>
                            <a:pt x="222136" y="4056072"/>
                            <a:pt x="214073" y="3845167"/>
                            <a:pt x="237901" y="3635007"/>
                          </a:cubicBezTo>
                          <a:cubicBezTo>
                            <a:pt x="261729" y="3424847"/>
                            <a:pt x="236689" y="3231050"/>
                            <a:pt x="237901" y="2901983"/>
                          </a:cubicBezTo>
                          <a:cubicBezTo>
                            <a:pt x="239113" y="2572916"/>
                            <a:pt x="239468" y="2515634"/>
                            <a:pt x="237901" y="2302235"/>
                          </a:cubicBezTo>
                          <a:cubicBezTo>
                            <a:pt x="236334" y="2088836"/>
                            <a:pt x="239060" y="1821461"/>
                            <a:pt x="237901" y="1635850"/>
                          </a:cubicBezTo>
                          <a:cubicBezTo>
                            <a:pt x="236742" y="1450240"/>
                            <a:pt x="225087" y="1055010"/>
                            <a:pt x="237901" y="869506"/>
                          </a:cubicBezTo>
                          <a:cubicBezTo>
                            <a:pt x="142489" y="869730"/>
                            <a:pt x="49694" y="878309"/>
                            <a:pt x="0" y="86950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scene3d>
              <a:camera prst="perspectiveRight">
                <a:rot lat="0" lon="19799998" rev="0"/>
              </a:camera>
              <a:lightRig rig="glow" dir="t"/>
            </a:scene3d>
            <a:sp3d extrusionH="12700" contourW="6350" prstMaterial="flat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0B1E9A0-B395-D2A6-9B7A-CD51A071F4B6}"/>
                </a:ext>
              </a:extLst>
            </p:cNvPr>
            <p:cNvSpPr txBox="1"/>
            <p:nvPr/>
          </p:nvSpPr>
          <p:spPr>
            <a:xfrm>
              <a:off x="9980620" y="3292008"/>
              <a:ext cx="230066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a:rPr>
                <a:t>More capability</a:t>
              </a:r>
            </a:p>
            <a:p>
              <a:r>
                <a:rPr lang="en-US" dirty="0"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a:rPr>
                <a:t>More engineering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22FAEDF-839A-FEF0-5F15-3534C29410D5}"/>
                </a:ext>
              </a:extLst>
            </p:cNvPr>
            <p:cNvSpPr txBox="1"/>
            <p:nvPr/>
          </p:nvSpPr>
          <p:spPr>
            <a:xfrm>
              <a:off x="-163666" y="430187"/>
              <a:ext cx="576696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+mj-lt"/>
                </a:rPr>
                <a:t>Train Your Dragon: </a:t>
              </a:r>
            </a:p>
            <a:p>
              <a:pPr algn="ctr"/>
              <a:r>
                <a:rPr lang="en-US" sz="28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+mj-lt"/>
                </a:rPr>
                <a:t>Ways to Make it Work for You</a:t>
              </a:r>
              <a:endPara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12DCE8E-1B09-461D-77EB-FCB811059D0A}"/>
                </a:ext>
              </a:extLst>
            </p:cNvPr>
            <p:cNvSpPr txBox="1">
              <a:spLocks/>
            </p:cNvSpPr>
            <p:nvPr/>
          </p:nvSpPr>
          <p:spPr>
            <a:xfrm rot="361708">
              <a:off x="3150660" y="5784887"/>
              <a:ext cx="3381828" cy="572567"/>
            </a:xfrm>
            <a:prstGeom prst="rect">
              <a:avLst/>
            </a:prstGeom>
            <a:noFill/>
            <a:scene3d>
              <a:camera prst="perspectiveAbove" fov="7200000">
                <a:rot lat="599836" lon="16149" rev="50622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System Prompt (Modelfile)</a:t>
              </a:r>
            </a:p>
            <a:p>
              <a:pPr algn="ctr"/>
              <a:r>
                <a:rPr lang="en-US" sz="1400" i="1" dirty="0"/>
                <a:t>Role, tone, rules,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5B8E7A8-C984-3B49-D5E6-A7A7EE463A87}"/>
                </a:ext>
              </a:extLst>
            </p:cNvPr>
            <p:cNvSpPr txBox="1">
              <a:spLocks/>
            </p:cNvSpPr>
            <p:nvPr/>
          </p:nvSpPr>
          <p:spPr>
            <a:xfrm rot="361708">
              <a:off x="3904189" y="4853256"/>
              <a:ext cx="3381828" cy="922469"/>
            </a:xfrm>
            <a:prstGeom prst="rect">
              <a:avLst/>
            </a:prstGeom>
            <a:noFill/>
            <a:scene3d>
              <a:camera prst="perspectiveAbove" fov="5100000">
                <a:rot lat="20702286" lon="21594000" rev="53230"/>
              </a:camera>
              <a:lightRig rig="threePt" dir="t"/>
            </a:scene3d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1600" b="1" dirty="0"/>
                <a:t>Task Prompt / Output Contract</a:t>
              </a:r>
            </a:p>
            <a:p>
              <a:pPr algn="ctr"/>
              <a:r>
                <a:rPr lang="en-US" sz="1400" i="1" dirty="0"/>
                <a:t>Summary , Findings, Actions, Verify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6ACA00E-1934-C5B5-8E43-86DC1C9FC163}"/>
                </a:ext>
              </a:extLst>
            </p:cNvPr>
            <p:cNvSpPr txBox="1">
              <a:spLocks/>
            </p:cNvSpPr>
            <p:nvPr/>
          </p:nvSpPr>
          <p:spPr>
            <a:xfrm rot="361708">
              <a:off x="4231705" y="3914200"/>
              <a:ext cx="3381828" cy="922469"/>
            </a:xfrm>
            <a:prstGeom prst="rect">
              <a:avLst/>
            </a:prstGeom>
            <a:noFill/>
            <a:scene3d>
              <a:camera prst="perspectiveAbove" fov="5100000">
                <a:rot lat="20702286" lon="21595298" rev="53230"/>
              </a:camera>
              <a:lightRig rig="threePt" dir="t"/>
            </a:scene3d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1600" b="1" dirty="0"/>
                <a:t>Few- Shot Examples</a:t>
              </a:r>
            </a:p>
            <a:p>
              <a:pPr algn="ctr"/>
              <a:r>
                <a:rPr lang="en-US" sz="1400" i="1" dirty="0"/>
                <a:t>1-3 examples: input -&gt; ideal output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8D894C6-D776-289A-D816-DE2BF5E1BB0A}"/>
                </a:ext>
              </a:extLst>
            </p:cNvPr>
            <p:cNvSpPr txBox="1">
              <a:spLocks/>
            </p:cNvSpPr>
            <p:nvPr/>
          </p:nvSpPr>
          <p:spPr>
            <a:xfrm rot="361708">
              <a:off x="4862290" y="3065565"/>
              <a:ext cx="3381828" cy="922469"/>
            </a:xfrm>
            <a:prstGeom prst="rect">
              <a:avLst/>
            </a:prstGeom>
            <a:noFill/>
            <a:scene3d>
              <a:camera prst="perspectiveAbove" fov="5100000">
                <a:rot lat="20702286" lon="21595298" rev="53230"/>
              </a:camera>
              <a:lightRig rig="threePt" dir="t"/>
            </a:scene3d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1600" b="1" dirty="0"/>
                <a:t>RAG (Retrieve + Augment)</a:t>
              </a:r>
            </a:p>
            <a:p>
              <a:pPr algn="ctr"/>
              <a:r>
                <a:rPr lang="en-US" sz="1400" i="1" dirty="0"/>
                <a:t>Top-K chunks + citations 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8FB2C17-647D-0FD2-7D85-D4C9E1852276}"/>
                </a:ext>
              </a:extLst>
            </p:cNvPr>
            <p:cNvSpPr txBox="1">
              <a:spLocks/>
            </p:cNvSpPr>
            <p:nvPr/>
          </p:nvSpPr>
          <p:spPr>
            <a:xfrm rot="361708">
              <a:off x="5279718" y="2145897"/>
              <a:ext cx="3381828" cy="886723"/>
            </a:xfrm>
            <a:prstGeom prst="rect">
              <a:avLst/>
            </a:prstGeom>
            <a:noFill/>
            <a:scene3d>
              <a:camera prst="perspectiveAbove" fov="5100000">
                <a:rot lat="20702286" lon="21595298" rev="53230"/>
              </a:camera>
              <a:lightRig rig="threePt" dir="t"/>
            </a:scene3d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1600" b="1" dirty="0"/>
                <a:t>Tool / Internal APIs</a:t>
              </a:r>
            </a:p>
            <a:p>
              <a:pPr algn="ctr"/>
              <a:r>
                <a:rPr lang="en-US" sz="1400" i="1" dirty="0"/>
                <a:t>Allowed list lookups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C8B61DD-70BC-BE64-EF16-5A41B93AE41E}"/>
                </a:ext>
              </a:extLst>
            </p:cNvPr>
            <p:cNvSpPr txBox="1">
              <a:spLocks/>
            </p:cNvSpPr>
            <p:nvPr/>
          </p:nvSpPr>
          <p:spPr>
            <a:xfrm rot="361708">
              <a:off x="5961708" y="1290936"/>
              <a:ext cx="3381828" cy="922469"/>
            </a:xfrm>
            <a:prstGeom prst="rect">
              <a:avLst/>
            </a:prstGeom>
            <a:noFill/>
            <a:scene3d>
              <a:camera prst="perspectiveAbove" fov="5100000">
                <a:rot lat="20702286" lon="21595298" rev="53230"/>
              </a:camera>
              <a:lightRig rig="threePt" dir="t"/>
            </a:scene3d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1600" b="1" dirty="0"/>
                <a:t>Lora Adapters</a:t>
              </a:r>
            </a:p>
            <a:p>
              <a:pPr algn="ctr"/>
              <a:r>
                <a:rPr lang="en-US" sz="1400" i="1" dirty="0"/>
                <a:t>Lightweight fine-tuning adapter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5930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174D0-C86E-2266-F209-AEEB13BB4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yellow triangle sign with a black silhouette of a person with lightning bolt&#10;&#10;AI-generated content may be incorrect.">
            <a:extLst>
              <a:ext uri="{FF2B5EF4-FFF2-40B4-BE49-F238E27FC236}">
                <a16:creationId xmlns:a16="http://schemas.microsoft.com/office/drawing/2014/main" id="{33C7C94A-5680-CDCB-00EC-8E81FF543DB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3610" r="23610"/>
          <a:stretch>
            <a:fillRect/>
          </a:stretch>
        </p:blipFill>
        <p:spPr>
          <a:effectLst>
            <a:glow rad="551065">
              <a:srgbClr val="FF0000">
                <a:alpha val="81646"/>
              </a:srgbClr>
            </a:glow>
          </a:effec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496E2-8476-C9EA-068B-B9EFFB2601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Before you download a model, be sure to check the company’s </a:t>
            </a:r>
            <a:r>
              <a:rPr lang="en-US" dirty="0">
                <a:hlinkClick r:id="rId5"/>
              </a:rPr>
              <a:t>AI Governance Page </a:t>
            </a:r>
            <a:endParaRPr lang="en-US" dirty="0"/>
          </a:p>
          <a:p>
            <a:r>
              <a:rPr lang="en-US" dirty="0"/>
              <a:t>Only use </a:t>
            </a:r>
            <a:r>
              <a:rPr lang="en-US" dirty="0">
                <a:hlinkClick r:id="rId6"/>
              </a:rPr>
              <a:t>approved models </a:t>
            </a:r>
            <a:endParaRPr lang="en-US" dirty="0"/>
          </a:p>
          <a:p>
            <a:r>
              <a:rPr lang="en-US" dirty="0"/>
              <a:t>Ensure the model and your application isn’t performing any prohibited actions, like sending Lumen outside our network. </a:t>
            </a:r>
          </a:p>
          <a:p>
            <a:r>
              <a:rPr lang="en-US" dirty="0"/>
              <a:t>If you unsure, </a:t>
            </a:r>
            <a:r>
              <a:rPr lang="en-US" sz="2400" b="1" dirty="0">
                <a:solidFill>
                  <a:srgbClr val="FF0000"/>
                </a:solidFill>
              </a:rPr>
              <a:t>stop</a:t>
            </a:r>
            <a:r>
              <a:rPr lang="en-US" dirty="0"/>
              <a:t> and ask your friendly AI Ambassador or contact the DL for the AI Governance team at the email below.</a:t>
            </a:r>
          </a:p>
          <a:p>
            <a:pPr marL="0" indent="0">
              <a:buNone/>
            </a:pPr>
            <a:r>
              <a:rPr lang="en-US" dirty="0"/>
              <a:t>  </a:t>
            </a:r>
            <a:r>
              <a:rPr lang="en-US" i="1" u="sng" dirty="0">
                <a:hlinkClick r:id="rId7"/>
              </a:rPr>
              <a:t>AI-Governance@lumen.com</a:t>
            </a:r>
            <a:r>
              <a:rPr lang="en-US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6DF89F-6A65-B8DA-8731-2C31BFCBC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9685"/>
            <a:ext cx="6262396" cy="677049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ADLaM Display" panose="020F0502020204030204" pitchFamily="34" charset="0"/>
                <a:cs typeface="ADLaM Display" panose="020F0502020204030204" pitchFamily="34" charset="0"/>
              </a:rPr>
              <a:t>CHECK HERE FIRST!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CEFFF6-07DC-741A-DC26-11DC47906818}"/>
              </a:ext>
            </a:extLst>
          </p:cNvPr>
          <p:cNvSpPr txBox="1"/>
          <p:nvPr/>
        </p:nvSpPr>
        <p:spPr>
          <a:xfrm>
            <a:off x="7611036" y="5822950"/>
            <a:ext cx="3476065" cy="230832"/>
          </a:xfrm>
          <a:prstGeom prst="rect">
            <a:avLst/>
          </a:prstGeom>
          <a:noFill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flickr.com/photos/zigazou76/3702501888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8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657588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2000" accel="50000" autoRev="1" fill="remove" nodeType="after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animScale p14:bounceEnd="50000">
                                          <p:cBhvr>
                                            <p:cTn id="6" dur="2000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2000" accel="50000" autoRev="1" fill="remove" nodeType="afterEffect">
                                      <p:stCondLst>
                                        <p:cond delay="50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2000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1F91A-E0A4-715C-ECFF-C006558D8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B4D92E-A280-D35E-6569-4C78FAF20B6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9A036-B513-5419-0419-7FAA743500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2597" y="1090447"/>
            <a:ext cx="5920473" cy="500555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Notebook_prompting:</a:t>
            </a:r>
          </a:p>
          <a:p>
            <a:pPr lvl="1"/>
            <a:r>
              <a:rPr lang="en-US" i="1" dirty="0"/>
              <a:t>promptEngineering_example.ipynb:</a:t>
            </a:r>
          </a:p>
          <a:p>
            <a:pPr lvl="2"/>
            <a:r>
              <a:rPr lang="en-US" dirty="0"/>
              <a:t>Modelfile Manipulation</a:t>
            </a:r>
          </a:p>
          <a:p>
            <a:pPr lvl="2"/>
            <a:r>
              <a:rPr lang="en-US" dirty="0"/>
              <a:t>Environment setup/verification</a:t>
            </a:r>
          </a:p>
          <a:p>
            <a:pPr lvl="2"/>
            <a:r>
              <a:rPr lang="en-US" dirty="0"/>
              <a:t>Chat interaction using sample data</a:t>
            </a:r>
          </a:p>
          <a:p>
            <a:pPr lvl="2"/>
            <a:r>
              <a:rPr lang="en-US" dirty="0"/>
              <a:t>Adding interpretation instructions and using files</a:t>
            </a:r>
          </a:p>
          <a:p>
            <a:pPr lvl="2"/>
            <a:r>
              <a:rPr lang="en-US" dirty="0"/>
              <a:t>Image analysis (vision)</a:t>
            </a:r>
          </a:p>
          <a:p>
            <a:pPr marL="512064" lvl="2" indent="0">
              <a:buNone/>
            </a:pPr>
            <a:endParaRPr lang="en-US" dirty="0"/>
          </a:p>
          <a:p>
            <a:r>
              <a:rPr lang="en-US" b="1" dirty="0"/>
              <a:t>Notebook_rag:</a:t>
            </a:r>
          </a:p>
          <a:p>
            <a:pPr lvl="1"/>
            <a:r>
              <a:rPr lang="en-US" i="1" dirty="0"/>
              <a:t>rag_example.ipynb:</a:t>
            </a:r>
          </a:p>
          <a:p>
            <a:pPr lvl="2"/>
            <a:r>
              <a:rPr lang="en-US" dirty="0"/>
              <a:t>Introducing an embedding model</a:t>
            </a:r>
          </a:p>
          <a:p>
            <a:pPr lvl="2"/>
            <a:r>
              <a:rPr lang="en-US" dirty="0"/>
              <a:t>Add vectors via chunking</a:t>
            </a:r>
          </a:p>
          <a:p>
            <a:pPr lvl="2"/>
            <a:r>
              <a:rPr lang="en-US" dirty="0"/>
              <a:t>Build vector index</a:t>
            </a:r>
          </a:p>
          <a:p>
            <a:pPr lvl="2"/>
            <a:r>
              <a:rPr lang="en-US" dirty="0"/>
              <a:t>Retrieval of relevant chunks</a:t>
            </a:r>
          </a:p>
          <a:p>
            <a:pPr lvl="2"/>
            <a:r>
              <a:rPr lang="en-US" dirty="0"/>
              <a:t>Generating a response</a:t>
            </a:r>
          </a:p>
          <a:p>
            <a:pPr lvl="1"/>
            <a:r>
              <a:rPr lang="en-US" i="1" dirty="0"/>
              <a:t>rag_w_redaction_ex.ipynb:</a:t>
            </a:r>
          </a:p>
          <a:p>
            <a:pPr lvl="2"/>
            <a:r>
              <a:rPr lang="en-US" dirty="0"/>
              <a:t>Add redaction to output and input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82E51A-4BF7-932B-564B-724768D19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98" y="228600"/>
            <a:ext cx="5909398" cy="691414"/>
          </a:xfrm>
        </p:spPr>
        <p:txBody>
          <a:bodyPr/>
          <a:lstStyle/>
          <a:p>
            <a:r>
              <a:rPr lang="en-US" dirty="0"/>
              <a:t>Jupyter Notebooks</a:t>
            </a:r>
          </a:p>
        </p:txBody>
      </p:sp>
      <p:pic>
        <p:nvPicPr>
          <p:cNvPr id="6" name="Picture 5" descr="A generated image of a person sitting at a table with a computer with cat and a llama. There is a dragon sticker on the computer lid. They are excited to begin training.">
            <a:extLst>
              <a:ext uri="{FF2B5EF4-FFF2-40B4-BE49-F238E27FC236}">
                <a16:creationId xmlns:a16="http://schemas.microsoft.com/office/drawing/2014/main" id="{D21453CB-A7EE-577E-2427-FA9D7D92B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27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756400" y="1524000"/>
            <a:ext cx="53721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0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DCE2C0-5DBA-A321-5F2F-F05A5E813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47" y="365125"/>
            <a:ext cx="11669856" cy="1325563"/>
          </a:xfrm>
        </p:spPr>
        <p:txBody>
          <a:bodyPr anchor="ctr">
            <a:normAutofit/>
          </a:bodyPr>
          <a:lstStyle/>
          <a:p>
            <a:r>
              <a:rPr lang="en-US"/>
              <a:t>What variables make a model yours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829EA4-2DCD-B442-90F0-4D43F14C63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38" r="1" b="12993"/>
          <a:stretch>
            <a:fillRect/>
          </a:stretch>
        </p:blipFill>
        <p:spPr>
          <a:xfrm>
            <a:off x="278647" y="1690688"/>
            <a:ext cx="11669856" cy="43525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4086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Item 6">
            <a:extLst>
              <a:ext uri="{FF2B5EF4-FFF2-40B4-BE49-F238E27FC236}">
                <a16:creationId xmlns:a16="http://schemas.microsoft.com/office/drawing/2014/main" id="{3B8503E6-DB7E-2D0A-AA15-A8455E5D67F0}"/>
              </a:ext>
            </a:extLst>
          </p:cNvPr>
          <p:cNvGrpSpPr/>
          <p:nvPr/>
        </p:nvGrpSpPr>
        <p:grpSpPr>
          <a:xfrm>
            <a:off x="6387278" y="4466390"/>
            <a:ext cx="5062663" cy="1251074"/>
            <a:chOff x="616464" y="4466390"/>
            <a:chExt cx="5062663" cy="1251074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F546EEE5-7827-D4DB-44B0-AFBC7BD20988}"/>
                </a:ext>
              </a:extLst>
            </p:cNvPr>
            <p:cNvGrpSpPr/>
            <p:nvPr/>
          </p:nvGrpSpPr>
          <p:grpSpPr>
            <a:xfrm>
              <a:off x="1107127" y="4466390"/>
              <a:ext cx="4572000" cy="1251074"/>
              <a:chOff x="1114543" y="1593985"/>
              <a:chExt cx="4572000" cy="1251074"/>
            </a:xfrm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B14F2B09-DA48-FE45-C4F1-C52A1017E311}"/>
                  </a:ext>
                </a:extLst>
              </p:cNvPr>
              <p:cNvSpPr/>
              <p:nvPr/>
            </p:nvSpPr>
            <p:spPr>
              <a:xfrm>
                <a:off x="1114543" y="1593985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132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1A49AD96-FDCD-384F-1667-5ECF231F034C}"/>
                  </a:ext>
                </a:extLst>
              </p:cNvPr>
              <p:cNvSpPr txBox="1"/>
              <p:nvPr/>
            </p:nvSpPr>
            <p:spPr>
              <a:xfrm flipH="1">
                <a:off x="1891338" y="2170160"/>
                <a:ext cx="3640881" cy="5284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POST – model metadata</a:t>
                </a:r>
                <a:br>
                  <a:rPr lang="en-US" sz="1200" dirty="0">
                    <a:latin typeface="+mj-lt"/>
                    <a:ea typeface="+mn-ea"/>
                    <a:cs typeface="+mn-cs"/>
                  </a:rPr>
                </a:br>
                <a:r>
                  <a:rPr lang="en-US" sz="1200" dirty="0">
                    <a:latin typeface="+mj-lt"/>
                    <a:ea typeface="+mn-ea"/>
                    <a:cs typeface="+mn-cs"/>
                  </a:rPr>
                  <a:t>When to Use: To see detailed parameters</a:t>
                </a:r>
              </a:p>
            </p:txBody>
          </p:sp>
          <p:sp>
            <p:nvSpPr>
              <p:cNvPr id="133" name=".01">
                <a:extLst>
                  <a:ext uri="{FF2B5EF4-FFF2-40B4-BE49-F238E27FC236}">
                    <a16:creationId xmlns:a16="http://schemas.microsoft.com/office/drawing/2014/main" id="{B5608512-ECA5-572F-A2A2-BC1C7D301686}"/>
                  </a:ext>
                </a:extLst>
              </p:cNvPr>
              <p:cNvSpPr txBox="1"/>
              <p:nvPr/>
            </p:nvSpPr>
            <p:spPr>
              <a:xfrm flipH="1">
                <a:off x="1891339" y="1755215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 err="1">
                    <a:solidFill>
                      <a:schemeClr val="tx1"/>
                    </a:solidFill>
                    <a:latin typeface="+mj-lt"/>
                  </a:rPr>
                  <a:t>api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/show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43E65638-4648-6028-3BB9-83B9D65D8C4E}"/>
                </a:ext>
              </a:extLst>
            </p:cNvPr>
            <p:cNvGrpSpPr/>
            <p:nvPr/>
          </p:nvGrpSpPr>
          <p:grpSpPr>
            <a:xfrm>
              <a:off x="616464" y="4584853"/>
              <a:ext cx="1029508" cy="1029508"/>
              <a:chOff x="616464" y="1728923"/>
              <a:chExt cx="1029508" cy="1029508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B425FB58-49E2-1629-3888-3A69D941E528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7F43D804-AC49-BF6C-A85C-71AB151A69BB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50A461E2-6F17-6258-9B29-C7D093E669C0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80DB359E-AD71-78F4-290A-74A2D9E88A35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6</a:t>
                </a:r>
              </a:p>
            </p:txBody>
          </p:sp>
        </p:grpSp>
      </p:grpSp>
      <p:grpSp>
        <p:nvGrpSpPr>
          <p:cNvPr id="114" name="Item 5">
            <a:extLst>
              <a:ext uri="{FF2B5EF4-FFF2-40B4-BE49-F238E27FC236}">
                <a16:creationId xmlns:a16="http://schemas.microsoft.com/office/drawing/2014/main" id="{E6334101-0024-F244-44AD-6D47FC2666FE}"/>
              </a:ext>
            </a:extLst>
          </p:cNvPr>
          <p:cNvGrpSpPr/>
          <p:nvPr/>
        </p:nvGrpSpPr>
        <p:grpSpPr>
          <a:xfrm>
            <a:off x="6387278" y="2996960"/>
            <a:ext cx="5062663" cy="1286428"/>
            <a:chOff x="616464" y="2996960"/>
            <a:chExt cx="5062663" cy="1286428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041382C3-C4BB-3611-103A-35E262108C91}"/>
                </a:ext>
              </a:extLst>
            </p:cNvPr>
            <p:cNvGrpSpPr/>
            <p:nvPr/>
          </p:nvGrpSpPr>
          <p:grpSpPr>
            <a:xfrm>
              <a:off x="1107127" y="2996960"/>
              <a:ext cx="4572000" cy="1286428"/>
              <a:chOff x="1114543" y="1563577"/>
              <a:chExt cx="4572000" cy="1286428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6FE59AF-C828-3586-B477-D81C4E03D5BD}"/>
                  </a:ext>
                </a:extLst>
              </p:cNvPr>
              <p:cNvSpPr/>
              <p:nvPr/>
            </p:nvSpPr>
            <p:spPr>
              <a:xfrm>
                <a:off x="1114543" y="1563577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122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1D28D2CA-68F0-0501-FB4D-1354E0D0BC61}"/>
                  </a:ext>
                </a:extLst>
              </p:cNvPr>
              <p:cNvSpPr txBox="1"/>
              <p:nvPr/>
            </p:nvSpPr>
            <p:spPr>
              <a:xfrm flipH="1">
                <a:off x="1891337" y="2099928"/>
                <a:ext cx="3640881" cy="7500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GET – list local models</a:t>
                </a:r>
                <a:br>
                  <a:rPr lang="en-US" sz="1200" dirty="0">
                    <a:latin typeface="+mj-lt"/>
                    <a:ea typeface="+mn-ea"/>
                    <a:cs typeface="+mn-cs"/>
                  </a:rPr>
                </a:br>
                <a:r>
                  <a:rPr lang="en-US" sz="1200" dirty="0">
                    <a:latin typeface="+mj-lt"/>
                    <a:ea typeface="+mn-ea"/>
                    <a:cs typeface="+mn-cs"/>
                  </a:rPr>
                  <a:t>When to use: When you want a list of models on your machine</a:t>
                </a:r>
              </a:p>
            </p:txBody>
          </p:sp>
          <p:sp>
            <p:nvSpPr>
              <p:cNvPr id="123" name=".01">
                <a:extLst>
                  <a:ext uri="{FF2B5EF4-FFF2-40B4-BE49-F238E27FC236}">
                    <a16:creationId xmlns:a16="http://schemas.microsoft.com/office/drawing/2014/main" id="{FB171D1A-E0B7-EBAA-A613-5A4FE21DB18E}"/>
                  </a:ext>
                </a:extLst>
              </p:cNvPr>
              <p:cNvSpPr txBox="1"/>
              <p:nvPr/>
            </p:nvSpPr>
            <p:spPr>
              <a:xfrm flipH="1">
                <a:off x="1891337" y="1667939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 err="1">
                    <a:solidFill>
                      <a:schemeClr val="tx1"/>
                    </a:solidFill>
                    <a:latin typeface="+mj-lt"/>
                  </a:rPr>
                  <a:t>api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/tags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C7DFCD84-571B-D68D-2054-9191B52FDF6B}"/>
                </a:ext>
              </a:extLst>
            </p:cNvPr>
            <p:cNvGrpSpPr/>
            <p:nvPr/>
          </p:nvGrpSpPr>
          <p:grpSpPr>
            <a:xfrm>
              <a:off x="616464" y="3145831"/>
              <a:ext cx="1029508" cy="1029508"/>
              <a:chOff x="616464" y="1728923"/>
              <a:chExt cx="1029508" cy="1029508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C3082E7A-D59C-6BF0-F8E5-9D58953D260E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279D08EC-A2FB-4976-0E7F-A8A87DE184C4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344054C8-1CA8-355C-123E-17AFEAA4B98F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5EF88E0-9A4B-8DD0-C1D0-229405742631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5</a:t>
                </a:r>
              </a:p>
            </p:txBody>
          </p:sp>
        </p:grpSp>
      </p:grpSp>
      <p:grpSp>
        <p:nvGrpSpPr>
          <p:cNvPr id="104" name="Item 4">
            <a:extLst>
              <a:ext uri="{FF2B5EF4-FFF2-40B4-BE49-F238E27FC236}">
                <a16:creationId xmlns:a16="http://schemas.microsoft.com/office/drawing/2014/main" id="{FBF7DFDA-3F6C-14E2-FA5D-8EDE0EE0444E}"/>
              </a:ext>
            </a:extLst>
          </p:cNvPr>
          <p:cNvGrpSpPr/>
          <p:nvPr/>
        </p:nvGrpSpPr>
        <p:grpSpPr>
          <a:xfrm>
            <a:off x="6387278" y="1555262"/>
            <a:ext cx="5062663" cy="1270278"/>
            <a:chOff x="616464" y="1555262"/>
            <a:chExt cx="5062663" cy="1270278"/>
          </a:xfrm>
          <a:effectLst/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6F69E0D7-BD5F-81F5-2C7B-89D69DF94411}"/>
                </a:ext>
              </a:extLst>
            </p:cNvPr>
            <p:cNvGrpSpPr/>
            <p:nvPr/>
          </p:nvGrpSpPr>
          <p:grpSpPr>
            <a:xfrm>
              <a:off x="1107127" y="1555262"/>
              <a:ext cx="4572000" cy="1270278"/>
              <a:chOff x="1107127" y="1555262"/>
              <a:chExt cx="4572000" cy="1270278"/>
            </a:xfrm>
          </p:grpSpPr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AC8BBBF1-6124-3CA2-F970-8A82736807AB}"/>
                  </a:ext>
                </a:extLst>
              </p:cNvPr>
              <p:cNvSpPr/>
              <p:nvPr/>
            </p:nvSpPr>
            <p:spPr>
              <a:xfrm>
                <a:off x="1107127" y="1555262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112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C7371986-8981-F595-086C-EB26DE2E7E04}"/>
                  </a:ext>
                </a:extLst>
              </p:cNvPr>
              <p:cNvSpPr txBox="1"/>
              <p:nvPr/>
            </p:nvSpPr>
            <p:spPr>
              <a:xfrm flipH="1">
                <a:off x="1883921" y="2075463"/>
                <a:ext cx="3640881" cy="7500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POST – builds from a Modelfile</a:t>
                </a:r>
                <a:br>
                  <a:rPr lang="en-US" sz="1200" dirty="0">
                    <a:latin typeface="+mj-lt"/>
                    <a:ea typeface="+mn-ea"/>
                    <a:cs typeface="+mn-cs"/>
                  </a:rPr>
                </a:br>
                <a:r>
                  <a:rPr lang="en-US" sz="1200" dirty="0">
                    <a:latin typeface="+mj-lt"/>
                    <a:ea typeface="+mn-ea"/>
                    <a:cs typeface="+mn-cs"/>
                  </a:rPr>
                  <a:t>When to use: When you want pinned params/templates.</a:t>
                </a:r>
              </a:p>
            </p:txBody>
          </p:sp>
          <p:sp>
            <p:nvSpPr>
              <p:cNvPr id="113" name=".01">
                <a:extLst>
                  <a:ext uri="{FF2B5EF4-FFF2-40B4-BE49-F238E27FC236}">
                    <a16:creationId xmlns:a16="http://schemas.microsoft.com/office/drawing/2014/main" id="{A5E23DE5-14E2-87F5-56BF-A30E3148ECEA}"/>
                  </a:ext>
                </a:extLst>
              </p:cNvPr>
              <p:cNvSpPr txBox="1"/>
              <p:nvPr/>
            </p:nvSpPr>
            <p:spPr>
              <a:xfrm flipH="1">
                <a:off x="1883921" y="1642107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 err="1">
                    <a:solidFill>
                      <a:schemeClr val="tx1"/>
                    </a:solidFill>
                    <a:latin typeface="+mj-lt"/>
                  </a:rPr>
                  <a:t>api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/create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7F9BDEC6-B204-19A9-94A2-1EC584D40169}"/>
                </a:ext>
              </a:extLst>
            </p:cNvPr>
            <p:cNvGrpSpPr/>
            <p:nvPr/>
          </p:nvGrpSpPr>
          <p:grpSpPr>
            <a:xfrm>
              <a:off x="616464" y="1728923"/>
              <a:ext cx="1029508" cy="1029508"/>
              <a:chOff x="616464" y="1728923"/>
              <a:chExt cx="1029508" cy="1029508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F46AB498-FACB-F98C-C37F-4DD48D6329F4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EA234BC5-61D2-8513-F0A4-5A996C7DA188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06CEB468-5E18-5381-FDC5-51A793CF2948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D5CD8CE2-DBB6-11AB-55C7-4989737D8E75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4</a:t>
                </a:r>
              </a:p>
            </p:txBody>
          </p:sp>
        </p:grpSp>
      </p:grpSp>
      <p:grpSp>
        <p:nvGrpSpPr>
          <p:cNvPr id="103" name="Item 3">
            <a:extLst>
              <a:ext uri="{FF2B5EF4-FFF2-40B4-BE49-F238E27FC236}">
                <a16:creationId xmlns:a16="http://schemas.microsoft.com/office/drawing/2014/main" id="{0DEF7DDB-058A-8BD0-2588-2AD1C2677C30}"/>
              </a:ext>
            </a:extLst>
          </p:cNvPr>
          <p:cNvGrpSpPr/>
          <p:nvPr/>
        </p:nvGrpSpPr>
        <p:grpSpPr>
          <a:xfrm>
            <a:off x="616464" y="4466390"/>
            <a:ext cx="5062663" cy="1289304"/>
            <a:chOff x="616464" y="4466390"/>
            <a:chExt cx="5062663" cy="1290898"/>
          </a:xfrm>
          <a:effectLst/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9C512F6-181A-2172-ED6E-BC3A281EDFAB}"/>
                </a:ext>
              </a:extLst>
            </p:cNvPr>
            <p:cNvGrpSpPr/>
            <p:nvPr/>
          </p:nvGrpSpPr>
          <p:grpSpPr>
            <a:xfrm>
              <a:off x="1107127" y="4466390"/>
              <a:ext cx="4572000" cy="1290898"/>
              <a:chOff x="1114543" y="1593985"/>
              <a:chExt cx="4572000" cy="1290898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7DDC0F2-82F1-BF92-458F-236F6B88C684}"/>
                  </a:ext>
                </a:extLst>
              </p:cNvPr>
              <p:cNvSpPr/>
              <p:nvPr/>
            </p:nvSpPr>
            <p:spPr>
              <a:xfrm>
                <a:off x="1114543" y="1593985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65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B5447035-89A9-B5F2-CDDB-7109E6CEA2B8}"/>
                  </a:ext>
                </a:extLst>
              </p:cNvPr>
              <p:cNvSpPr txBox="1"/>
              <p:nvPr/>
            </p:nvSpPr>
            <p:spPr>
              <a:xfrm flipH="1">
                <a:off x="1905511" y="2134806"/>
                <a:ext cx="3640881" cy="7500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POST – vector embedding, chunks text into numeric vectors for search/RAG.</a:t>
                </a:r>
                <a:br>
                  <a:rPr lang="en-US" sz="1200" dirty="0">
                    <a:latin typeface="+mj-lt"/>
                    <a:ea typeface="+mn-ea"/>
                    <a:cs typeface="+mn-cs"/>
                  </a:rPr>
                </a:br>
                <a:r>
                  <a:rPr lang="en-US" sz="1200" dirty="0">
                    <a:latin typeface="+mj-lt"/>
                  </a:rPr>
                  <a:t>When to use: Searching documentation</a:t>
                </a:r>
                <a:endParaRPr lang="en-US" sz="1200" dirty="0"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66" name=".01">
                <a:extLst>
                  <a:ext uri="{FF2B5EF4-FFF2-40B4-BE49-F238E27FC236}">
                    <a16:creationId xmlns:a16="http://schemas.microsoft.com/office/drawing/2014/main" id="{3C179A1E-1783-7D7F-4429-E1191B5FD5CA}"/>
                  </a:ext>
                </a:extLst>
              </p:cNvPr>
              <p:cNvSpPr txBox="1"/>
              <p:nvPr/>
            </p:nvSpPr>
            <p:spPr>
              <a:xfrm flipH="1">
                <a:off x="1891338" y="1715391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 err="1">
                    <a:solidFill>
                      <a:schemeClr val="tx1"/>
                    </a:solidFill>
                    <a:latin typeface="+mj-lt"/>
                  </a:rPr>
                  <a:t>api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/embed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9907043C-6431-D9F7-F0A6-0A6B97088CE4}"/>
                </a:ext>
              </a:extLst>
            </p:cNvPr>
            <p:cNvGrpSpPr/>
            <p:nvPr/>
          </p:nvGrpSpPr>
          <p:grpSpPr>
            <a:xfrm>
              <a:off x="616464" y="4584853"/>
              <a:ext cx="1029508" cy="1029508"/>
              <a:chOff x="616464" y="1728923"/>
              <a:chExt cx="1029508" cy="1029508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BFB802CF-FCA8-1FCF-5314-49F8B1E9C31E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E6856D4A-4A03-5625-0F12-1795A2C2C440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D7797ED6-D897-3402-50B0-C905BCBAE40D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1BF39F7-3139-3FD0-0719-157B3351994A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3</a:t>
                </a:r>
              </a:p>
            </p:txBody>
          </p:sp>
        </p:grpSp>
      </p:grpSp>
      <p:grpSp>
        <p:nvGrpSpPr>
          <p:cNvPr id="102" name="Item 2">
            <a:extLst>
              <a:ext uri="{FF2B5EF4-FFF2-40B4-BE49-F238E27FC236}">
                <a16:creationId xmlns:a16="http://schemas.microsoft.com/office/drawing/2014/main" id="{1A17033F-22CE-34AC-B6CE-976DC2426EFF}"/>
              </a:ext>
            </a:extLst>
          </p:cNvPr>
          <p:cNvGrpSpPr/>
          <p:nvPr/>
        </p:nvGrpSpPr>
        <p:grpSpPr>
          <a:xfrm>
            <a:off x="616464" y="2989334"/>
            <a:ext cx="5070079" cy="1251074"/>
            <a:chOff x="616464" y="2989334"/>
            <a:chExt cx="5070079" cy="1251074"/>
          </a:xfrm>
          <a:effectLst/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E43A06F-DD27-F0FE-0FA6-F61B6B28A605}"/>
                </a:ext>
              </a:extLst>
            </p:cNvPr>
            <p:cNvGrpSpPr/>
            <p:nvPr/>
          </p:nvGrpSpPr>
          <p:grpSpPr>
            <a:xfrm>
              <a:off x="1114543" y="2989334"/>
              <a:ext cx="4572000" cy="1251074"/>
              <a:chOff x="1121959" y="1555951"/>
              <a:chExt cx="4572000" cy="1251074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8A5751F-DFB0-496C-9EA8-F1DF9C75543E}"/>
                  </a:ext>
                </a:extLst>
              </p:cNvPr>
              <p:cNvSpPr/>
              <p:nvPr/>
            </p:nvSpPr>
            <p:spPr>
              <a:xfrm>
                <a:off x="1121959" y="1555951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60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F5F1BA9F-0CB6-DE6D-0D40-96423BC115FC}"/>
                  </a:ext>
                </a:extLst>
              </p:cNvPr>
              <p:cNvSpPr txBox="1"/>
              <p:nvPr/>
            </p:nvSpPr>
            <p:spPr>
              <a:xfrm flipH="1">
                <a:off x="1891338" y="2043654"/>
                <a:ext cx="3640881" cy="7500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POST – role based messages </a:t>
                </a:r>
                <a:br>
                  <a:rPr lang="en-US" sz="1200" dirty="0">
                    <a:latin typeface="+mj-lt"/>
                    <a:ea typeface="+mn-ea"/>
                    <a:cs typeface="+mn-cs"/>
                  </a:rPr>
                </a:br>
                <a:r>
                  <a:rPr lang="en-US" sz="1200" dirty="0">
                    <a:latin typeface="+mj-lt"/>
                    <a:ea typeface="+mn-ea"/>
                    <a:cs typeface="+mn-cs"/>
                  </a:rPr>
                  <a:t>When to use: Conversation, retrieval and reasoning, built in history</a:t>
                </a:r>
              </a:p>
            </p:txBody>
          </p:sp>
          <p:sp>
            <p:nvSpPr>
              <p:cNvPr id="61" name=".01">
                <a:extLst>
                  <a:ext uri="{FF2B5EF4-FFF2-40B4-BE49-F238E27FC236}">
                    <a16:creationId xmlns:a16="http://schemas.microsoft.com/office/drawing/2014/main" id="{6CB3C3A5-9835-582D-50BE-3B39E87DEC62}"/>
                  </a:ext>
                </a:extLst>
              </p:cNvPr>
              <p:cNvSpPr txBox="1"/>
              <p:nvPr/>
            </p:nvSpPr>
            <p:spPr>
              <a:xfrm flipH="1">
                <a:off x="1891339" y="1702727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 err="1">
                    <a:solidFill>
                      <a:schemeClr val="tx1"/>
                    </a:solidFill>
                    <a:latin typeface="+mj-lt"/>
                  </a:rPr>
                  <a:t>api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/chat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610E0D6-1599-CFEF-0860-B04A975C33E1}"/>
                </a:ext>
              </a:extLst>
            </p:cNvPr>
            <p:cNvGrpSpPr/>
            <p:nvPr/>
          </p:nvGrpSpPr>
          <p:grpSpPr>
            <a:xfrm>
              <a:off x="616464" y="3145831"/>
              <a:ext cx="1029508" cy="1029508"/>
              <a:chOff x="616464" y="1728923"/>
              <a:chExt cx="1029508" cy="102950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0A31E748-737B-87E1-6F80-D12EEC746B5C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CC50CC08-9571-5E48-0BA9-03C75E9CCF7B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BE3EE217-4D75-D8A8-FDA2-19034F753340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A846E01-F43A-FE9B-4D3E-F0A5D77CE6C4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2</a:t>
                </a:r>
              </a:p>
            </p:txBody>
          </p:sp>
        </p:grpSp>
      </p:grpSp>
      <p:grpSp>
        <p:nvGrpSpPr>
          <p:cNvPr id="62" name="Item 1">
            <a:extLst>
              <a:ext uri="{FF2B5EF4-FFF2-40B4-BE49-F238E27FC236}">
                <a16:creationId xmlns:a16="http://schemas.microsoft.com/office/drawing/2014/main" id="{E59641C6-7DBF-0570-4380-F81CA4E7A366}"/>
              </a:ext>
            </a:extLst>
          </p:cNvPr>
          <p:cNvGrpSpPr/>
          <p:nvPr/>
        </p:nvGrpSpPr>
        <p:grpSpPr>
          <a:xfrm>
            <a:off x="616465" y="1593985"/>
            <a:ext cx="5070078" cy="1231555"/>
            <a:chOff x="616464" y="1593985"/>
            <a:chExt cx="5207138" cy="1287896"/>
          </a:xfrm>
          <a:effectLst/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D2CEA5A-49B7-A6DA-EB77-37CF11A0FD90}"/>
                </a:ext>
              </a:extLst>
            </p:cNvPr>
            <p:cNvGrpSpPr/>
            <p:nvPr/>
          </p:nvGrpSpPr>
          <p:grpSpPr>
            <a:xfrm>
              <a:off x="1114543" y="1593985"/>
              <a:ext cx="4709059" cy="1287896"/>
              <a:chOff x="1114543" y="1593985"/>
              <a:chExt cx="4709059" cy="128789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6AD7F16-51FF-EEB1-FDAD-8D50C8315C35}"/>
                  </a:ext>
                </a:extLst>
              </p:cNvPr>
              <p:cNvSpPr/>
              <p:nvPr/>
            </p:nvSpPr>
            <p:spPr>
              <a:xfrm>
                <a:off x="1114543" y="1593985"/>
                <a:ext cx="4709059" cy="128789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9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36C15B7B-2D86-EA37-8D7A-DC8AE699B7BD}"/>
                  </a:ext>
                </a:extLst>
              </p:cNvPr>
              <p:cNvSpPr txBox="1"/>
              <p:nvPr/>
            </p:nvSpPr>
            <p:spPr>
              <a:xfrm flipH="1">
                <a:off x="1898096" y="2123229"/>
                <a:ext cx="3640881" cy="5284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POST – single-turn completion (Prompt-&gt;return)</a:t>
                </a:r>
                <a:br>
                  <a:rPr lang="en-US" sz="1200" dirty="0">
                    <a:latin typeface="+mj-lt"/>
                    <a:ea typeface="+mn-ea"/>
                    <a:cs typeface="+mn-cs"/>
                  </a:rPr>
                </a:br>
                <a:r>
                  <a:rPr lang="en-US" sz="1200" dirty="0">
                    <a:latin typeface="+mj-lt"/>
                    <a:ea typeface="+mn-ea"/>
                    <a:cs typeface="+mn-cs"/>
                  </a:rPr>
                  <a:t>When to use: When you don’t need role/history</a:t>
                </a:r>
              </a:p>
            </p:txBody>
          </p:sp>
          <p:sp>
            <p:nvSpPr>
              <p:cNvPr id="10" name=".01">
                <a:extLst>
                  <a:ext uri="{FF2B5EF4-FFF2-40B4-BE49-F238E27FC236}">
                    <a16:creationId xmlns:a16="http://schemas.microsoft.com/office/drawing/2014/main" id="{869C2E9A-F64D-FF3C-4A6D-885A26A7377C}"/>
                  </a:ext>
                </a:extLst>
              </p:cNvPr>
              <p:cNvSpPr txBox="1"/>
              <p:nvPr/>
            </p:nvSpPr>
            <p:spPr>
              <a:xfrm flipH="1">
                <a:off x="1883922" y="1709954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 err="1">
                    <a:solidFill>
                      <a:schemeClr val="tx1"/>
                    </a:solidFill>
                    <a:latin typeface="+mj-lt"/>
                  </a:rPr>
                  <a:t>api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/generate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C176DB5-8083-289A-A0C8-20533A908853}"/>
                </a:ext>
              </a:extLst>
            </p:cNvPr>
            <p:cNvGrpSpPr/>
            <p:nvPr/>
          </p:nvGrpSpPr>
          <p:grpSpPr>
            <a:xfrm>
              <a:off x="616464" y="1728923"/>
              <a:ext cx="1029508" cy="1029508"/>
              <a:chOff x="616464" y="1728923"/>
              <a:chExt cx="1029508" cy="1029508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7C966229-0020-5E63-5FCA-2BB21A6BB54E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CE0D4BF3-1B57-7485-2FCD-3583F09C0A69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90FE9709-BC5A-BA85-B59A-552ADA271CD1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2B3640-430B-6AAC-A6EB-9826FCFBF83C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1</a:t>
                </a:r>
              </a:p>
            </p:txBody>
          </p:sp>
        </p:grp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06BE9D92-BB09-8754-0523-6EB4295AA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Frequently used Ollama API Endpoints</a:t>
            </a:r>
            <a:br>
              <a:rPr lang="en-US" sz="1000" i="1" dirty="0"/>
            </a:br>
            <a:endParaRPr lang="en-US" sz="10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2715AD-BF9A-B30D-E59E-E9FFAF2DB43B}"/>
              </a:ext>
            </a:extLst>
          </p:cNvPr>
          <p:cNvSpPr txBox="1"/>
          <p:nvPr/>
        </p:nvSpPr>
        <p:spPr>
          <a:xfrm>
            <a:off x="731533" y="5818242"/>
            <a:ext cx="8519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hlinkClick r:id="rId2"/>
              </a:rPr>
              <a:t>https://github.com/ollama/ollama/blob/main/docs/api.md#create-a-model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5536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5075876-DF50-8080-9F6B-0C0E27752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76087"/>
            <a:ext cx="6262396" cy="315289"/>
          </a:xfrm>
        </p:spPr>
        <p:txBody>
          <a:bodyPr>
            <a:noAutofit/>
          </a:bodyPr>
          <a:lstStyle/>
          <a:p>
            <a:r>
              <a:rPr lang="en-US" sz="2000" dirty="0"/>
              <a:t>Links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5E9468-7C7F-E235-1BB8-D9A6454EB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880057"/>
              </p:ext>
            </p:extLst>
          </p:nvPr>
        </p:nvGraphicFramePr>
        <p:xfrm>
          <a:off x="381000" y="727498"/>
          <a:ext cx="9933878" cy="575441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69207">
                  <a:extLst>
                    <a:ext uri="{9D8B030D-6E8A-4147-A177-3AD203B41FA5}">
                      <a16:colId xmlns:a16="http://schemas.microsoft.com/office/drawing/2014/main" val="4116267787"/>
                    </a:ext>
                  </a:extLst>
                </a:gridCol>
                <a:gridCol w="7364671">
                  <a:extLst>
                    <a:ext uri="{9D8B030D-6E8A-4147-A177-3AD203B41FA5}">
                      <a16:colId xmlns:a16="http://schemas.microsoft.com/office/drawing/2014/main" val="130508754"/>
                    </a:ext>
                  </a:extLst>
                </a:gridCol>
              </a:tblGrid>
              <a:tr h="355230">
                <a:tc>
                  <a:txBody>
                    <a:bodyPr/>
                    <a:lstStyle/>
                    <a:p>
                      <a:r>
                        <a:rPr lang="en-US" dirty="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308296"/>
                  </a:ext>
                </a:extLst>
              </a:tr>
              <a:tr h="621652">
                <a:tc>
                  <a:txBody>
                    <a:bodyPr/>
                    <a:lstStyle/>
                    <a:p>
                      <a:r>
                        <a:rPr lang="en-US" dirty="0"/>
                        <a:t>Lumen AI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https://</a:t>
                      </a:r>
                      <a:r>
                        <a:rPr lang="en-US" dirty="0" err="1"/>
                        <a:t>centurylink.sharepoint.com</a:t>
                      </a:r>
                      <a:r>
                        <a:rPr lang="en-US" dirty="0"/>
                        <a:t>/sites/</a:t>
                      </a:r>
                      <a:r>
                        <a:rPr lang="en-US" dirty="0" err="1"/>
                        <a:t>ILLegalCorpAdmin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SitePages</a:t>
                      </a:r>
                      <a:r>
                        <a:rPr lang="en-US" dirty="0"/>
                        <a:t>/AI-</a:t>
                      </a:r>
                      <a:r>
                        <a:rPr lang="en-US" dirty="0" err="1"/>
                        <a:t>Governance.aspx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dirty="0"/>
                        <a:t>email: DL-AI-Governance &lt;</a:t>
                      </a:r>
                      <a:r>
                        <a:rPr lang="en-US" dirty="0" err="1"/>
                        <a:t>DL-AI-Governance@lumen.com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683372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r>
                        <a:rPr lang="en-US" dirty="0"/>
                        <a:t>Ollama 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https://ollama.com/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254871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r>
                        <a:rPr lang="en-US" dirty="0"/>
                        <a:t>Ollama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https://github.com/ollama/ollama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992241"/>
                  </a:ext>
                </a:extLst>
              </a:tr>
              <a:tr h="621652">
                <a:tc>
                  <a:txBody>
                    <a:bodyPr/>
                    <a:lstStyle/>
                    <a:p>
                      <a:r>
                        <a:rPr lang="en-US" dirty="0"/>
                        <a:t>Ollama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https://ollama.readthedocs.io/en/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204900"/>
                  </a:ext>
                </a:extLst>
              </a:tr>
              <a:tr h="621652">
                <a:tc>
                  <a:txBody>
                    <a:bodyPr/>
                    <a:lstStyle/>
                    <a:p>
                      <a:r>
                        <a:rPr lang="en-US" dirty="0"/>
                        <a:t>Ollama Model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https://</a:t>
                      </a:r>
                      <a:r>
                        <a:rPr lang="en-US" dirty="0" err="1"/>
                        <a:t>github.com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ollama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ollama</a:t>
                      </a:r>
                      <a:r>
                        <a:rPr lang="en-US" dirty="0"/>
                        <a:t>/blob/main/docs/</a:t>
                      </a:r>
                      <a:r>
                        <a:rPr lang="en-US" dirty="0" err="1"/>
                        <a:t>modelfile.md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86572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r>
                        <a:rPr lang="en-US" dirty="0" err="1"/>
                        <a:t>Podman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5"/>
                        </a:rPr>
                        <a:t>https://podman.io/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53884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r>
                        <a:rPr lang="en-US" dirty="0"/>
                        <a:t>JavaScript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6"/>
                        </a:rPr>
                        <a:t>https://github.com/ollama/ollama-js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318009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Python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7"/>
                        </a:rPr>
                        <a:t>https://github.com/ollama/ollama-python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085420"/>
                  </a:ext>
                </a:extLst>
              </a:tr>
              <a:tr h="450895">
                <a:tc>
                  <a:txBody>
                    <a:bodyPr/>
                    <a:lstStyle/>
                    <a:p>
                      <a:r>
                        <a:rPr lang="en-US" dirty="0" err="1"/>
                        <a:t>LangChan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8"/>
                        </a:rPr>
                        <a:t>https://python.langchain.com/docs/integrations/chat/ollama/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597082"/>
                  </a:ext>
                </a:extLst>
              </a:tr>
              <a:tr h="621652">
                <a:tc>
                  <a:txBody>
                    <a:bodyPr/>
                    <a:lstStyle/>
                    <a:p>
                      <a:r>
                        <a:rPr lang="en-US" dirty="0" err="1"/>
                        <a:t>LangChan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Embeding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9"/>
                        </a:rPr>
                        <a:t>https://python.langchain.com/docs/integrations/text_embedding/ollama/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655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414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EDF5-0C56-B338-DA35-0A2E80668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AA256D-FBF8-2B6B-1534-D48AD40D9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76087"/>
            <a:ext cx="6262396" cy="315289"/>
          </a:xfrm>
        </p:spPr>
        <p:txBody>
          <a:bodyPr>
            <a:noAutofit/>
          </a:bodyPr>
          <a:lstStyle/>
          <a:p>
            <a:r>
              <a:rPr lang="en-US" sz="2000" dirty="0"/>
              <a:t>Links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699757-D519-AE36-99FC-4CB8D4D2C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103360"/>
              </p:ext>
            </p:extLst>
          </p:nvPr>
        </p:nvGraphicFramePr>
        <p:xfrm>
          <a:off x="381000" y="727498"/>
          <a:ext cx="10003854" cy="468790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69206">
                  <a:extLst>
                    <a:ext uri="{9D8B030D-6E8A-4147-A177-3AD203B41FA5}">
                      <a16:colId xmlns:a16="http://schemas.microsoft.com/office/drawing/2014/main" val="4116267787"/>
                    </a:ext>
                  </a:extLst>
                </a:gridCol>
                <a:gridCol w="7434648">
                  <a:extLst>
                    <a:ext uri="{9D8B030D-6E8A-4147-A177-3AD203B41FA5}">
                      <a16:colId xmlns:a16="http://schemas.microsoft.com/office/drawing/2014/main" val="130508754"/>
                    </a:ext>
                  </a:extLst>
                </a:gridCol>
              </a:tblGrid>
              <a:tr h="356629">
                <a:tc>
                  <a:txBody>
                    <a:bodyPr/>
                    <a:lstStyle/>
                    <a:p>
                      <a:r>
                        <a:rPr lang="en-US" dirty="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308296"/>
                  </a:ext>
                </a:extLst>
              </a:tr>
              <a:tr h="59438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Link to Jupyter Notebooks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683372"/>
                  </a:ext>
                </a:extLst>
              </a:tr>
              <a:tr h="3566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992241"/>
                  </a:ext>
                </a:extLst>
              </a:tr>
              <a:tr h="5943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204900"/>
                  </a:ext>
                </a:extLst>
              </a:tr>
              <a:tr h="5943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86572"/>
                  </a:ext>
                </a:extLst>
              </a:tr>
              <a:tr h="3566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53884"/>
                  </a:ext>
                </a:extLst>
              </a:tr>
              <a:tr h="3566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318009"/>
                  </a:ext>
                </a:extLst>
              </a:tr>
              <a:tr h="3566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085420"/>
                  </a:ext>
                </a:extLst>
              </a:tr>
              <a:tr h="4358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597082"/>
                  </a:ext>
                </a:extLst>
              </a:tr>
              <a:tr h="5943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655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817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603CF-A57D-0936-CA13-8151BBBBD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107" y="2766218"/>
            <a:ext cx="10412177" cy="1325563"/>
          </a:xfrm>
        </p:spPr>
        <p:txBody>
          <a:bodyPr/>
          <a:lstStyle/>
          <a:p>
            <a:r>
              <a:rPr lang="en-US" dirty="0"/>
              <a:t>Light Slide Section Divider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11E7BF-3957-B764-6A49-9614D5DE2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990600"/>
            <a:ext cx="6773066" cy="451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12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5EEA23-1B3E-0F08-BCA5-EC0E4A94EA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X/X/X</a:t>
            </a:r>
          </a:p>
          <a:p>
            <a:r>
              <a:rPr lang="en-US" dirty="0" err="1"/>
              <a:t>Firstname</a:t>
            </a:r>
            <a:r>
              <a:rPr lang="en-US" dirty="0"/>
              <a:t> Lastname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CA5E4-7132-F1E5-186B-45D4793146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1490586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EFFC2-3662-FCBF-028C-07125BC2A2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X/X/X</a:t>
            </a:r>
          </a:p>
          <a:p>
            <a:r>
              <a:rPr lang="en-US" dirty="0" err="1"/>
              <a:t>Firstname</a:t>
            </a:r>
            <a:r>
              <a:rPr lang="en-US" dirty="0"/>
              <a:t> Lastname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98E3E-3B6C-8F7B-6708-F31B7E27A5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3197680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7AA04C-90F4-A3ED-3843-636A424C8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 Slide Section Divider 2</a:t>
            </a:r>
          </a:p>
        </p:txBody>
      </p:sp>
    </p:spTree>
    <p:extLst>
      <p:ext uri="{BB962C8B-B14F-4D97-AF65-F5344CB8AC3E}">
        <p14:creationId xmlns:p14="http://schemas.microsoft.com/office/powerpoint/2010/main" val="3880672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7DDFA3-D943-AB43-70CA-BF9A474D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here</a:t>
            </a:r>
          </a:p>
        </p:txBody>
      </p:sp>
      <p:grpSp>
        <p:nvGrpSpPr>
          <p:cNvPr id="4" name="Item 5">
            <a:extLst>
              <a:ext uri="{FF2B5EF4-FFF2-40B4-BE49-F238E27FC236}">
                <a16:creationId xmlns:a16="http://schemas.microsoft.com/office/drawing/2014/main" id="{4C2AFCEB-75C5-AEA6-C68E-134AA01C6386}"/>
              </a:ext>
            </a:extLst>
          </p:cNvPr>
          <p:cNvGrpSpPr/>
          <p:nvPr/>
        </p:nvGrpSpPr>
        <p:grpSpPr>
          <a:xfrm>
            <a:off x="349830" y="5235435"/>
            <a:ext cx="11177572" cy="707886"/>
            <a:chOff x="349830" y="5235435"/>
            <a:chExt cx="11177572" cy="707886"/>
          </a:xfrm>
        </p:grpSpPr>
        <p:sp>
          <p:nvSpPr>
            <p:cNvPr id="5" name="Body Copy">
              <a:extLst>
                <a:ext uri="{FF2B5EF4-FFF2-40B4-BE49-F238E27FC236}">
                  <a16:creationId xmlns:a16="http://schemas.microsoft.com/office/drawing/2014/main" id="{ABDE2D5C-DAD4-CB0F-7CD2-D19728CB7AF6}"/>
                </a:ext>
              </a:extLst>
            </p:cNvPr>
            <p:cNvSpPr txBox="1"/>
            <p:nvPr/>
          </p:nvSpPr>
          <p:spPr>
            <a:xfrm>
              <a:off x="1469002" y="5235435"/>
              <a:ext cx="10058400" cy="707886"/>
            </a:xfrm>
            <a:prstGeom prst="rect">
              <a:avLst/>
            </a:prstGeom>
            <a:noFill/>
            <a:ln w="9525" cap="rnd" cmpd="sng" algn="ctr">
              <a:noFill/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spAutoFit/>
            </a:bodyPr>
            <a:lstStyle/>
            <a:p>
              <a:pPr marR="0" lvl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Tx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Lorem Ipsum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Lorem ipsum dolor sit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amet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,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consectetur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adipiscing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elit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, sed do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eiusmod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tempor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incididunt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ut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labore et dolore magna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aliqua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. </a:t>
              </a:r>
            </a:p>
          </p:txBody>
        </p:sp>
        <p:pic>
          <p:nvPicPr>
            <p:cNvPr id="6" name="Icon">
              <a:extLst>
                <a:ext uri="{FF2B5EF4-FFF2-40B4-BE49-F238E27FC236}">
                  <a16:creationId xmlns:a16="http://schemas.microsoft.com/office/drawing/2014/main" id="{C7444080-FF0A-E989-2672-C81F164E9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49830" y="5268755"/>
              <a:ext cx="629536" cy="629536"/>
            </a:xfrm>
            <a:prstGeom prst="rect">
              <a:avLst/>
            </a:prstGeom>
          </p:spPr>
        </p:pic>
      </p:grpSp>
      <p:grpSp>
        <p:nvGrpSpPr>
          <p:cNvPr id="7" name="Item 4">
            <a:extLst>
              <a:ext uri="{FF2B5EF4-FFF2-40B4-BE49-F238E27FC236}">
                <a16:creationId xmlns:a16="http://schemas.microsoft.com/office/drawing/2014/main" id="{33AF7729-BB95-841F-F439-DEA0E001B6E4}"/>
              </a:ext>
            </a:extLst>
          </p:cNvPr>
          <p:cNvGrpSpPr/>
          <p:nvPr/>
        </p:nvGrpSpPr>
        <p:grpSpPr>
          <a:xfrm>
            <a:off x="438225" y="4168635"/>
            <a:ext cx="11089177" cy="707886"/>
            <a:chOff x="438225" y="4168635"/>
            <a:chExt cx="11089177" cy="707886"/>
          </a:xfrm>
        </p:grpSpPr>
        <p:sp>
          <p:nvSpPr>
            <p:cNvPr id="8" name="Body Copy">
              <a:extLst>
                <a:ext uri="{FF2B5EF4-FFF2-40B4-BE49-F238E27FC236}">
                  <a16:creationId xmlns:a16="http://schemas.microsoft.com/office/drawing/2014/main" id="{30EF90C4-68A1-17BB-94D1-CDC1FDED1788}"/>
                </a:ext>
              </a:extLst>
            </p:cNvPr>
            <p:cNvSpPr txBox="1"/>
            <p:nvPr/>
          </p:nvSpPr>
          <p:spPr>
            <a:xfrm>
              <a:off x="1469002" y="4168635"/>
              <a:ext cx="10058400" cy="707886"/>
            </a:xfrm>
            <a:prstGeom prst="rect">
              <a:avLst/>
            </a:prstGeom>
            <a:noFill/>
            <a:ln w="9525" cap="rnd" cmpd="sng" algn="ctr">
              <a:noFill/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spAutoFit/>
            </a:bodyPr>
            <a:lstStyle/>
            <a:p>
              <a:pPr marR="0" lvl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Tx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Lorem Ipsum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Lorem ipsum dolor sit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amet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,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consectetur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adipiscing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elit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, sed do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eiusmod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tempor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incididunt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ut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labore et dolore magna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aliqua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. </a:t>
              </a:r>
            </a:p>
          </p:txBody>
        </p:sp>
        <p:pic>
          <p:nvPicPr>
            <p:cNvPr id="9" name="Icon">
              <a:extLst>
                <a:ext uri="{FF2B5EF4-FFF2-40B4-BE49-F238E27FC236}">
                  <a16:creationId xmlns:a16="http://schemas.microsoft.com/office/drawing/2014/main" id="{397433D5-833A-6545-8AF3-C35695047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38225" y="4253293"/>
              <a:ext cx="548640" cy="548640"/>
            </a:xfrm>
            <a:prstGeom prst="rect">
              <a:avLst/>
            </a:prstGeom>
          </p:spPr>
        </p:pic>
      </p:grpSp>
      <p:grpSp>
        <p:nvGrpSpPr>
          <p:cNvPr id="10" name="Item 3">
            <a:extLst>
              <a:ext uri="{FF2B5EF4-FFF2-40B4-BE49-F238E27FC236}">
                <a16:creationId xmlns:a16="http://schemas.microsoft.com/office/drawing/2014/main" id="{89962756-95DD-4786-67AE-D13109F5DECC}"/>
              </a:ext>
            </a:extLst>
          </p:cNvPr>
          <p:cNvGrpSpPr/>
          <p:nvPr/>
        </p:nvGrpSpPr>
        <p:grpSpPr>
          <a:xfrm>
            <a:off x="472000" y="3227731"/>
            <a:ext cx="11055402" cy="707886"/>
            <a:chOff x="472000" y="3227731"/>
            <a:chExt cx="11055402" cy="707886"/>
          </a:xfrm>
        </p:grpSpPr>
        <p:sp>
          <p:nvSpPr>
            <p:cNvPr id="11" name="Body Copy">
              <a:extLst>
                <a:ext uri="{FF2B5EF4-FFF2-40B4-BE49-F238E27FC236}">
                  <a16:creationId xmlns:a16="http://schemas.microsoft.com/office/drawing/2014/main" id="{0C6634F8-8C60-35E2-2B52-AD74C5AEC39E}"/>
                </a:ext>
              </a:extLst>
            </p:cNvPr>
            <p:cNvSpPr txBox="1"/>
            <p:nvPr/>
          </p:nvSpPr>
          <p:spPr>
            <a:xfrm>
              <a:off x="1469002" y="3227731"/>
              <a:ext cx="10058400" cy="707886"/>
            </a:xfrm>
            <a:prstGeom prst="rect">
              <a:avLst/>
            </a:prstGeom>
            <a:noFill/>
            <a:ln w="9525" cap="rnd" cmpd="sng" algn="ctr">
              <a:noFill/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spAutoFit/>
            </a:bodyPr>
            <a:lstStyle/>
            <a:p>
              <a:pPr marR="0" lvl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Tx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Lorem Ipsum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Lorem ipsum dolor sit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amet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,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consectetur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adipiscing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elit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, sed do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eiusmod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tempor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incididunt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ut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labore et dolore magna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aliqua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. </a:t>
              </a:r>
            </a:p>
          </p:txBody>
        </p:sp>
        <p:pic>
          <p:nvPicPr>
            <p:cNvPr id="12" name="Icon">
              <a:extLst>
                <a:ext uri="{FF2B5EF4-FFF2-40B4-BE49-F238E27FC236}">
                  <a16:creationId xmlns:a16="http://schemas.microsoft.com/office/drawing/2014/main" id="{19EFA460-E5FC-6A1A-0198-7EEA71DB3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472000" y="3257696"/>
              <a:ext cx="640080" cy="640080"/>
            </a:xfrm>
            <a:prstGeom prst="rect">
              <a:avLst/>
            </a:prstGeom>
          </p:spPr>
        </p:pic>
      </p:grpSp>
      <p:grpSp>
        <p:nvGrpSpPr>
          <p:cNvPr id="13" name="Item 2">
            <a:extLst>
              <a:ext uri="{FF2B5EF4-FFF2-40B4-BE49-F238E27FC236}">
                <a16:creationId xmlns:a16="http://schemas.microsoft.com/office/drawing/2014/main" id="{2E5F85E7-783B-8E02-F252-946092A0AFA9}"/>
              </a:ext>
            </a:extLst>
          </p:cNvPr>
          <p:cNvGrpSpPr/>
          <p:nvPr/>
        </p:nvGrpSpPr>
        <p:grpSpPr>
          <a:xfrm>
            <a:off x="432144" y="2233817"/>
            <a:ext cx="11095258" cy="707886"/>
            <a:chOff x="432144" y="2233817"/>
            <a:chExt cx="11095258" cy="707886"/>
          </a:xfrm>
        </p:grpSpPr>
        <p:sp>
          <p:nvSpPr>
            <p:cNvPr id="14" name="Body Copy">
              <a:extLst>
                <a:ext uri="{FF2B5EF4-FFF2-40B4-BE49-F238E27FC236}">
                  <a16:creationId xmlns:a16="http://schemas.microsoft.com/office/drawing/2014/main" id="{B6112BA7-7616-9732-7C76-3D003ECE3D27}"/>
                </a:ext>
              </a:extLst>
            </p:cNvPr>
            <p:cNvSpPr txBox="1"/>
            <p:nvPr/>
          </p:nvSpPr>
          <p:spPr>
            <a:xfrm>
              <a:off x="1469002" y="2233817"/>
              <a:ext cx="10058400" cy="707886"/>
            </a:xfrm>
            <a:prstGeom prst="rect">
              <a:avLst/>
            </a:prstGeom>
            <a:noFill/>
            <a:ln w="9525" cap="rnd" cmpd="sng" algn="ctr">
              <a:noFill/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spAutoFit/>
            </a:bodyPr>
            <a:lstStyle/>
            <a:p>
              <a:pPr marR="0" lvl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Tx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Lorem Ipsum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Lorem ipsum dolor sit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amet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,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consectetur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adipiscing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elit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, sed do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eiusmod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tempor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incididunt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ut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labore et dolore magna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aliqua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. </a:t>
              </a:r>
            </a:p>
          </p:txBody>
        </p:sp>
        <p:pic>
          <p:nvPicPr>
            <p:cNvPr id="15" name="Icon ">
              <a:extLst>
                <a:ext uri="{FF2B5EF4-FFF2-40B4-BE49-F238E27FC236}">
                  <a16:creationId xmlns:a16="http://schemas.microsoft.com/office/drawing/2014/main" id="{5638EA2D-9B9B-0BCC-2530-D873C2120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432144" y="2272234"/>
              <a:ext cx="640080" cy="640080"/>
            </a:xfrm>
            <a:prstGeom prst="rect">
              <a:avLst/>
            </a:prstGeom>
          </p:spPr>
        </p:pic>
      </p:grpSp>
      <p:grpSp>
        <p:nvGrpSpPr>
          <p:cNvPr id="16" name="Item 1">
            <a:extLst>
              <a:ext uri="{FF2B5EF4-FFF2-40B4-BE49-F238E27FC236}">
                <a16:creationId xmlns:a16="http://schemas.microsoft.com/office/drawing/2014/main" id="{96F63B96-7B13-7DB6-DC9F-49D565C986FC}"/>
              </a:ext>
            </a:extLst>
          </p:cNvPr>
          <p:cNvGrpSpPr/>
          <p:nvPr/>
        </p:nvGrpSpPr>
        <p:grpSpPr>
          <a:xfrm>
            <a:off x="472000" y="1292913"/>
            <a:ext cx="11055402" cy="707886"/>
            <a:chOff x="472000" y="1292913"/>
            <a:chExt cx="11055402" cy="707886"/>
          </a:xfrm>
        </p:grpSpPr>
        <p:sp>
          <p:nvSpPr>
            <p:cNvPr id="17" name="Body Copy">
              <a:extLst>
                <a:ext uri="{FF2B5EF4-FFF2-40B4-BE49-F238E27FC236}">
                  <a16:creationId xmlns:a16="http://schemas.microsoft.com/office/drawing/2014/main" id="{E05C6DA6-96EF-3255-7A30-553081E01BD1}"/>
                </a:ext>
              </a:extLst>
            </p:cNvPr>
            <p:cNvSpPr txBox="1"/>
            <p:nvPr/>
          </p:nvSpPr>
          <p:spPr>
            <a:xfrm>
              <a:off x="1469002" y="1292913"/>
              <a:ext cx="10058400" cy="707886"/>
            </a:xfrm>
            <a:prstGeom prst="rect">
              <a:avLst/>
            </a:prstGeom>
            <a:noFill/>
            <a:ln w="9525" cap="rnd" cmpd="sng" algn="ctr">
              <a:noFill/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9BA74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spAutoFit/>
            </a:bodyPr>
            <a:lstStyle/>
            <a:p>
              <a:pPr marR="0" lvl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Tx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Lorem Ipsum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Lorem ipsum dolor sit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amet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,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consectetur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adipiscing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elit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, sed do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eiusmod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tempor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incididunt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ut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 labore et dolore magna 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aliqua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Arial"/>
                  <a:sym typeface="Trebuchet MS" panose="020B0603020202020204" pitchFamily="34" charset="0"/>
                </a:rPr>
                <a:t>. </a:t>
              </a:r>
            </a:p>
          </p:txBody>
        </p:sp>
        <p:pic>
          <p:nvPicPr>
            <p:cNvPr id="18" name="Icon">
              <a:extLst>
                <a:ext uri="{FF2B5EF4-FFF2-40B4-BE49-F238E27FC236}">
                  <a16:creationId xmlns:a16="http://schemas.microsoft.com/office/drawing/2014/main" id="{E2A18E9D-9D4F-8137-05A3-490720443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472000" y="1313934"/>
              <a:ext cx="640080" cy="640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5330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495854-300C-39D9-97A7-245F6E48F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here</a:t>
            </a:r>
          </a:p>
        </p:txBody>
      </p:sp>
      <p:sp>
        <p:nvSpPr>
          <p:cNvPr id="4" name="Body Copy 3">
            <a:extLst>
              <a:ext uri="{FF2B5EF4-FFF2-40B4-BE49-F238E27FC236}">
                <a16:creationId xmlns:a16="http://schemas.microsoft.com/office/drawing/2014/main" id="{1BB11CD8-2D08-EC5B-FC16-8082CE6E304E}"/>
              </a:ext>
            </a:extLst>
          </p:cNvPr>
          <p:cNvSpPr txBox="1"/>
          <p:nvPr/>
        </p:nvSpPr>
        <p:spPr>
          <a:xfrm>
            <a:off x="8343853" y="3076201"/>
            <a:ext cx="2873830" cy="224676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spAutoFit/>
          </a:bodyPr>
          <a:lstStyle/>
          <a:p>
            <a:pPr marR="0" lvl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Lorem Ipsum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Lorem ipsum dolor sit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amet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consectetur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adipiscing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elit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sed do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eiusmod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tempor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incididunt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ut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labore et dolore magna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aliqua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. </a:t>
            </a:r>
          </a:p>
        </p:txBody>
      </p:sp>
      <p:pic>
        <p:nvPicPr>
          <p:cNvPr id="5" name="Icon 3">
            <a:extLst>
              <a:ext uri="{FF2B5EF4-FFF2-40B4-BE49-F238E27FC236}">
                <a16:creationId xmlns:a16="http://schemas.microsoft.com/office/drawing/2014/main" id="{0AF3692E-98DB-AEBD-65A4-F2E664CDE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35161" y="2103176"/>
            <a:ext cx="640080" cy="640080"/>
          </a:xfrm>
          <a:prstGeom prst="rect">
            <a:avLst/>
          </a:prstGeom>
        </p:spPr>
      </p:pic>
      <p:sp>
        <p:nvSpPr>
          <p:cNvPr id="6" name="Body Copy 2">
            <a:extLst>
              <a:ext uri="{FF2B5EF4-FFF2-40B4-BE49-F238E27FC236}">
                <a16:creationId xmlns:a16="http://schemas.microsoft.com/office/drawing/2014/main" id="{228DF047-0270-A203-CA5D-326C4B8B9C4C}"/>
              </a:ext>
            </a:extLst>
          </p:cNvPr>
          <p:cNvSpPr txBox="1"/>
          <p:nvPr/>
        </p:nvSpPr>
        <p:spPr>
          <a:xfrm>
            <a:off x="4547105" y="3076201"/>
            <a:ext cx="2873830" cy="224676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spAutoFit/>
          </a:bodyPr>
          <a:lstStyle/>
          <a:p>
            <a:pPr marR="0" lvl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Lorem Ipsum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Lorem ipsum dolor sit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amet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consectetur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adipiscing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elit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sed do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eiusmod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tempor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incididunt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ut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labore et dolore magna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aliqua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. </a:t>
            </a:r>
          </a:p>
        </p:txBody>
      </p:sp>
      <p:pic>
        <p:nvPicPr>
          <p:cNvPr id="7" name="Icon 2">
            <a:extLst>
              <a:ext uri="{FF2B5EF4-FFF2-40B4-BE49-F238E27FC236}">
                <a16:creationId xmlns:a16="http://schemas.microsoft.com/office/drawing/2014/main" id="{071413E7-7FCD-5E2C-36BA-31FEBFA8B4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63980" y="2103176"/>
            <a:ext cx="640080" cy="640080"/>
          </a:xfrm>
          <a:prstGeom prst="rect">
            <a:avLst/>
          </a:prstGeom>
        </p:spPr>
      </p:pic>
      <p:sp>
        <p:nvSpPr>
          <p:cNvPr id="8" name="Body Copy 1">
            <a:extLst>
              <a:ext uri="{FF2B5EF4-FFF2-40B4-BE49-F238E27FC236}">
                <a16:creationId xmlns:a16="http://schemas.microsoft.com/office/drawing/2014/main" id="{687AFBE5-4CBD-3929-ACCE-5FDAC51A7D00}"/>
              </a:ext>
            </a:extLst>
          </p:cNvPr>
          <p:cNvSpPr txBox="1"/>
          <p:nvPr/>
        </p:nvSpPr>
        <p:spPr>
          <a:xfrm>
            <a:off x="798285" y="3076201"/>
            <a:ext cx="2873830" cy="224676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spAutoFit/>
          </a:bodyPr>
          <a:lstStyle/>
          <a:p>
            <a:pPr marR="0" lvl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Lorem Ipsum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Lorem ipsum dolor sit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amet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consectetur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adipiscing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elit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sed do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eiusmod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tempor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incididunt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ut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labore et dolore magna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aliqua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. </a:t>
            </a:r>
          </a:p>
        </p:txBody>
      </p:sp>
      <p:pic>
        <p:nvPicPr>
          <p:cNvPr id="9" name="Icon 1">
            <a:extLst>
              <a:ext uri="{FF2B5EF4-FFF2-40B4-BE49-F238E27FC236}">
                <a16:creationId xmlns:a16="http://schemas.microsoft.com/office/drawing/2014/main" id="{5ADE6D5D-A91B-A971-2E2C-4D217CB87B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792800" y="2103176"/>
            <a:ext cx="64008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360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AB994A-B76A-24A4-AD34-C0B216D51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grpSp>
        <p:nvGrpSpPr>
          <p:cNvPr id="4" name="Item 6">
            <a:extLst>
              <a:ext uri="{FF2B5EF4-FFF2-40B4-BE49-F238E27FC236}">
                <a16:creationId xmlns:a16="http://schemas.microsoft.com/office/drawing/2014/main" id="{6337D16F-DCA2-12AF-DC4F-E45DD94A34B5}"/>
              </a:ext>
            </a:extLst>
          </p:cNvPr>
          <p:cNvGrpSpPr/>
          <p:nvPr/>
        </p:nvGrpSpPr>
        <p:grpSpPr>
          <a:xfrm>
            <a:off x="6387278" y="4466390"/>
            <a:ext cx="5062663" cy="1251074"/>
            <a:chOff x="616464" y="4466390"/>
            <a:chExt cx="5062663" cy="125107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72BBD94-6A3B-07DA-3046-6B85841898D4}"/>
                </a:ext>
              </a:extLst>
            </p:cNvPr>
            <p:cNvGrpSpPr/>
            <p:nvPr/>
          </p:nvGrpSpPr>
          <p:grpSpPr>
            <a:xfrm>
              <a:off x="1107127" y="4466390"/>
              <a:ext cx="4572000" cy="1251074"/>
              <a:chOff x="1114543" y="1593985"/>
              <a:chExt cx="4572000" cy="1251074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77745A8-97C0-C5DA-8A67-A08713F1A474}"/>
                  </a:ext>
                </a:extLst>
              </p:cNvPr>
              <p:cNvSpPr/>
              <p:nvPr/>
            </p:nvSpPr>
            <p:spPr>
              <a:xfrm>
                <a:off x="1114543" y="1593985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12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E753621A-0B0D-3BF0-4939-1BAF68EB0A29}"/>
                  </a:ext>
                </a:extLst>
              </p:cNvPr>
              <p:cNvSpPr txBox="1"/>
              <p:nvPr/>
            </p:nvSpPr>
            <p:spPr>
              <a:xfrm flipH="1">
                <a:off x="1891338" y="2170160"/>
                <a:ext cx="3640881" cy="5284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Sed do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eisusmod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tempor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incididunt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ut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labore et dolore magna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aliqua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.</a:t>
                </a:r>
              </a:p>
            </p:txBody>
          </p:sp>
          <p:sp>
            <p:nvSpPr>
              <p:cNvPr id="13" name=".01">
                <a:extLst>
                  <a:ext uri="{FF2B5EF4-FFF2-40B4-BE49-F238E27FC236}">
                    <a16:creationId xmlns:a16="http://schemas.microsoft.com/office/drawing/2014/main" id="{3CCD85B2-AA8E-301D-20A2-DC64B81AFF33}"/>
                  </a:ext>
                </a:extLst>
              </p:cNvPr>
              <p:cNvSpPr txBox="1"/>
              <p:nvPr/>
            </p:nvSpPr>
            <p:spPr>
              <a:xfrm flipH="1">
                <a:off x="1891339" y="1755215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Lorem ipsum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0A67D81-ECB9-746E-9048-D82DA63954D9}"/>
                </a:ext>
              </a:extLst>
            </p:cNvPr>
            <p:cNvGrpSpPr/>
            <p:nvPr/>
          </p:nvGrpSpPr>
          <p:grpSpPr>
            <a:xfrm>
              <a:off x="616464" y="4584853"/>
              <a:ext cx="1029508" cy="1029508"/>
              <a:chOff x="616464" y="1728923"/>
              <a:chExt cx="1029508" cy="102950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3D3ED10-97F5-7EDF-9B7C-460EE0B7FD40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EED6B27-3F3F-FC87-C3CC-8CC547365AC8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EE5449FF-2945-17B8-6E47-C18493D92FE2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498444-895B-6845-9BD2-05F3613C7B66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6</a:t>
                </a:r>
              </a:p>
            </p:txBody>
          </p:sp>
        </p:grpSp>
      </p:grpSp>
      <p:grpSp>
        <p:nvGrpSpPr>
          <p:cNvPr id="14" name="Item 5">
            <a:extLst>
              <a:ext uri="{FF2B5EF4-FFF2-40B4-BE49-F238E27FC236}">
                <a16:creationId xmlns:a16="http://schemas.microsoft.com/office/drawing/2014/main" id="{08BB77F8-43B8-6F1C-15FA-5865307164EA}"/>
              </a:ext>
            </a:extLst>
          </p:cNvPr>
          <p:cNvGrpSpPr/>
          <p:nvPr/>
        </p:nvGrpSpPr>
        <p:grpSpPr>
          <a:xfrm>
            <a:off x="6387278" y="3027368"/>
            <a:ext cx="5062663" cy="1251074"/>
            <a:chOff x="616464" y="3027368"/>
            <a:chExt cx="5062663" cy="125107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AAA4A1-F88E-549C-A35E-B794B640DD08}"/>
                </a:ext>
              </a:extLst>
            </p:cNvPr>
            <p:cNvGrpSpPr/>
            <p:nvPr/>
          </p:nvGrpSpPr>
          <p:grpSpPr>
            <a:xfrm>
              <a:off x="1107127" y="3027368"/>
              <a:ext cx="4572000" cy="1251074"/>
              <a:chOff x="1114543" y="1593985"/>
              <a:chExt cx="4572000" cy="1251074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4E3346D-E26C-7824-6340-B21767BD4D90}"/>
                  </a:ext>
                </a:extLst>
              </p:cNvPr>
              <p:cNvSpPr/>
              <p:nvPr/>
            </p:nvSpPr>
            <p:spPr>
              <a:xfrm>
                <a:off x="1114543" y="1593985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22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33CEAA2D-DD54-C667-CA77-4C00F7792101}"/>
                  </a:ext>
                </a:extLst>
              </p:cNvPr>
              <p:cNvSpPr txBox="1"/>
              <p:nvPr/>
            </p:nvSpPr>
            <p:spPr>
              <a:xfrm flipH="1">
                <a:off x="1891338" y="2170160"/>
                <a:ext cx="3640881" cy="5284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Sed do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eisusmod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tempor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incididunt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ut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labore et dolore magna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aliqua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.</a:t>
                </a:r>
              </a:p>
            </p:txBody>
          </p:sp>
          <p:sp>
            <p:nvSpPr>
              <p:cNvPr id="23" name=".01">
                <a:extLst>
                  <a:ext uri="{FF2B5EF4-FFF2-40B4-BE49-F238E27FC236}">
                    <a16:creationId xmlns:a16="http://schemas.microsoft.com/office/drawing/2014/main" id="{B561BE9E-64D7-9B2A-F8C0-520200C0F485}"/>
                  </a:ext>
                </a:extLst>
              </p:cNvPr>
              <p:cNvSpPr txBox="1"/>
              <p:nvPr/>
            </p:nvSpPr>
            <p:spPr>
              <a:xfrm flipH="1">
                <a:off x="1891339" y="1755215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Lorem ipsum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CC9048F-60D9-4D9A-C2EC-E31563257CE7}"/>
                </a:ext>
              </a:extLst>
            </p:cNvPr>
            <p:cNvGrpSpPr/>
            <p:nvPr/>
          </p:nvGrpSpPr>
          <p:grpSpPr>
            <a:xfrm>
              <a:off x="616464" y="3145831"/>
              <a:ext cx="1029508" cy="1029508"/>
              <a:chOff x="616464" y="1728923"/>
              <a:chExt cx="1029508" cy="102950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FE303127-C460-83F4-6B02-4C60217D922A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601772BB-A08A-39CE-08F0-6A62DA802147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018E077D-A840-D503-1ED6-45B40C15D156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F9F571-4F38-99D6-E1B4-1294CE337E43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5</a:t>
                </a:r>
              </a:p>
            </p:txBody>
          </p:sp>
        </p:grpSp>
      </p:grpSp>
      <p:grpSp>
        <p:nvGrpSpPr>
          <p:cNvPr id="24" name="Item 4">
            <a:extLst>
              <a:ext uri="{FF2B5EF4-FFF2-40B4-BE49-F238E27FC236}">
                <a16:creationId xmlns:a16="http://schemas.microsoft.com/office/drawing/2014/main" id="{C09CBB3B-9991-11F2-EF94-E7EFF1690206}"/>
              </a:ext>
            </a:extLst>
          </p:cNvPr>
          <p:cNvGrpSpPr/>
          <p:nvPr/>
        </p:nvGrpSpPr>
        <p:grpSpPr>
          <a:xfrm>
            <a:off x="6387278" y="1593985"/>
            <a:ext cx="5070079" cy="1251074"/>
            <a:chOff x="616464" y="1593985"/>
            <a:chExt cx="5070079" cy="125107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61CF493-F952-B128-3754-04C2564EFBC9}"/>
                </a:ext>
              </a:extLst>
            </p:cNvPr>
            <p:cNvGrpSpPr/>
            <p:nvPr/>
          </p:nvGrpSpPr>
          <p:grpSpPr>
            <a:xfrm>
              <a:off x="1114543" y="1593985"/>
              <a:ext cx="4572000" cy="1251074"/>
              <a:chOff x="1114543" y="1593985"/>
              <a:chExt cx="4572000" cy="1251074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F1777CA-49BC-FD86-D747-09E78763D400}"/>
                  </a:ext>
                </a:extLst>
              </p:cNvPr>
              <p:cNvSpPr/>
              <p:nvPr/>
            </p:nvSpPr>
            <p:spPr>
              <a:xfrm>
                <a:off x="1114543" y="1593985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32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3B2DCF61-0411-C0C5-265B-251BAABD6EDE}"/>
                  </a:ext>
                </a:extLst>
              </p:cNvPr>
              <p:cNvSpPr txBox="1"/>
              <p:nvPr/>
            </p:nvSpPr>
            <p:spPr>
              <a:xfrm flipH="1">
                <a:off x="1891338" y="2170160"/>
                <a:ext cx="3640881" cy="5284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Sed do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eisusmod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tempor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incididunt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ut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labore et dolore magna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aliqua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.</a:t>
                </a:r>
              </a:p>
            </p:txBody>
          </p:sp>
          <p:sp>
            <p:nvSpPr>
              <p:cNvPr id="33" name=".01">
                <a:extLst>
                  <a:ext uri="{FF2B5EF4-FFF2-40B4-BE49-F238E27FC236}">
                    <a16:creationId xmlns:a16="http://schemas.microsoft.com/office/drawing/2014/main" id="{8A09B8E8-B381-4105-6B77-B59701ED2C34}"/>
                  </a:ext>
                </a:extLst>
              </p:cNvPr>
              <p:cNvSpPr txBox="1"/>
              <p:nvPr/>
            </p:nvSpPr>
            <p:spPr>
              <a:xfrm flipH="1">
                <a:off x="1891339" y="1755215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Lorem ipsum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1F991D6-747B-66D2-5522-26E16B18FC04}"/>
                </a:ext>
              </a:extLst>
            </p:cNvPr>
            <p:cNvGrpSpPr/>
            <p:nvPr/>
          </p:nvGrpSpPr>
          <p:grpSpPr>
            <a:xfrm>
              <a:off x="616464" y="1728923"/>
              <a:ext cx="1029508" cy="1029508"/>
              <a:chOff x="616464" y="1728923"/>
              <a:chExt cx="1029508" cy="1029508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4AF9939B-C437-A7CB-83E2-596A89962CB8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6FEE2D6F-5F19-82A0-55B1-49AC563FA714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ECF1633D-6F3E-DDFD-E03A-C4886CE2CED1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91F413-FF44-B050-7556-1DE9A70848F2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4</a:t>
                </a:r>
              </a:p>
            </p:txBody>
          </p:sp>
        </p:grpSp>
      </p:grpSp>
      <p:grpSp>
        <p:nvGrpSpPr>
          <p:cNvPr id="34" name="Item 3">
            <a:extLst>
              <a:ext uri="{FF2B5EF4-FFF2-40B4-BE49-F238E27FC236}">
                <a16:creationId xmlns:a16="http://schemas.microsoft.com/office/drawing/2014/main" id="{FD71DCE1-7829-B079-B1AE-ED2A6FDDB999}"/>
              </a:ext>
            </a:extLst>
          </p:cNvPr>
          <p:cNvGrpSpPr/>
          <p:nvPr/>
        </p:nvGrpSpPr>
        <p:grpSpPr>
          <a:xfrm>
            <a:off x="616464" y="4466390"/>
            <a:ext cx="5062663" cy="1251074"/>
            <a:chOff x="616464" y="4466390"/>
            <a:chExt cx="5062663" cy="125107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BE1FC51-B696-05E0-20B5-9E3684E5B40F}"/>
                </a:ext>
              </a:extLst>
            </p:cNvPr>
            <p:cNvGrpSpPr/>
            <p:nvPr/>
          </p:nvGrpSpPr>
          <p:grpSpPr>
            <a:xfrm>
              <a:off x="1107127" y="4466390"/>
              <a:ext cx="4572000" cy="1251074"/>
              <a:chOff x="1114543" y="1593985"/>
              <a:chExt cx="4572000" cy="1251074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E23E6EF-CA5F-6014-3A42-A657D583D2D9}"/>
                  </a:ext>
                </a:extLst>
              </p:cNvPr>
              <p:cNvSpPr/>
              <p:nvPr/>
            </p:nvSpPr>
            <p:spPr>
              <a:xfrm>
                <a:off x="1114543" y="1593985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42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A28A95D3-19A2-D775-D407-3821832FC28E}"/>
                  </a:ext>
                </a:extLst>
              </p:cNvPr>
              <p:cNvSpPr txBox="1"/>
              <p:nvPr/>
            </p:nvSpPr>
            <p:spPr>
              <a:xfrm flipH="1">
                <a:off x="1891338" y="2170160"/>
                <a:ext cx="3640881" cy="5284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Sed do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eisusmod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tempor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incididunt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ut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labore et dolore magna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aliqua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.</a:t>
                </a:r>
              </a:p>
            </p:txBody>
          </p:sp>
          <p:sp>
            <p:nvSpPr>
              <p:cNvPr id="43" name=".01">
                <a:extLst>
                  <a:ext uri="{FF2B5EF4-FFF2-40B4-BE49-F238E27FC236}">
                    <a16:creationId xmlns:a16="http://schemas.microsoft.com/office/drawing/2014/main" id="{321DC44B-5EC2-725D-32F3-0AE174961781}"/>
                  </a:ext>
                </a:extLst>
              </p:cNvPr>
              <p:cNvSpPr txBox="1"/>
              <p:nvPr/>
            </p:nvSpPr>
            <p:spPr>
              <a:xfrm flipH="1">
                <a:off x="1891339" y="1755215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Lorem ipsum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43CFCEB-F116-8A46-F1D7-6070893AB0E5}"/>
                </a:ext>
              </a:extLst>
            </p:cNvPr>
            <p:cNvGrpSpPr/>
            <p:nvPr/>
          </p:nvGrpSpPr>
          <p:grpSpPr>
            <a:xfrm>
              <a:off x="616464" y="4584853"/>
              <a:ext cx="1029508" cy="1029508"/>
              <a:chOff x="616464" y="1728923"/>
              <a:chExt cx="1029508" cy="1029508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FE0AAE0A-ACB7-63B0-3035-2FD58F55610D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E6D2BE7E-2D21-4ECA-BD9F-801FB2844649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FF6BC246-36C9-DFDB-7066-7C7988828A8C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A5B2482-EB37-7B90-779A-0D34ED67363B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3</a:t>
                </a:r>
              </a:p>
            </p:txBody>
          </p:sp>
        </p:grpSp>
      </p:grpSp>
      <p:grpSp>
        <p:nvGrpSpPr>
          <p:cNvPr id="44" name="Item 2">
            <a:extLst>
              <a:ext uri="{FF2B5EF4-FFF2-40B4-BE49-F238E27FC236}">
                <a16:creationId xmlns:a16="http://schemas.microsoft.com/office/drawing/2014/main" id="{20F8FD29-64B6-D8E6-9442-F2F4601C88B4}"/>
              </a:ext>
            </a:extLst>
          </p:cNvPr>
          <p:cNvGrpSpPr/>
          <p:nvPr/>
        </p:nvGrpSpPr>
        <p:grpSpPr>
          <a:xfrm>
            <a:off x="616464" y="3027368"/>
            <a:ext cx="5062663" cy="1251074"/>
            <a:chOff x="616464" y="3027368"/>
            <a:chExt cx="5062663" cy="1251074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EF2D6A0-DE63-AAE2-9497-FE1212621422}"/>
                </a:ext>
              </a:extLst>
            </p:cNvPr>
            <p:cNvGrpSpPr/>
            <p:nvPr/>
          </p:nvGrpSpPr>
          <p:grpSpPr>
            <a:xfrm>
              <a:off x="1107127" y="3027368"/>
              <a:ext cx="4572000" cy="1251074"/>
              <a:chOff x="1114543" y="1593985"/>
              <a:chExt cx="4572000" cy="1251074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9BD4DAA-024B-60BF-D88F-693A29A02B8E}"/>
                  </a:ext>
                </a:extLst>
              </p:cNvPr>
              <p:cNvSpPr/>
              <p:nvPr/>
            </p:nvSpPr>
            <p:spPr>
              <a:xfrm>
                <a:off x="1114543" y="1593985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52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E08825B2-CFE9-1856-E7B6-79F692855D0E}"/>
                  </a:ext>
                </a:extLst>
              </p:cNvPr>
              <p:cNvSpPr txBox="1"/>
              <p:nvPr/>
            </p:nvSpPr>
            <p:spPr>
              <a:xfrm flipH="1">
                <a:off x="1891338" y="2170160"/>
                <a:ext cx="3640881" cy="5284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Sed do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eisusmod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tempor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incididunt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ut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labore et dolore magna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aliqua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.</a:t>
                </a:r>
              </a:p>
            </p:txBody>
          </p:sp>
          <p:sp>
            <p:nvSpPr>
              <p:cNvPr id="53" name=".01">
                <a:extLst>
                  <a:ext uri="{FF2B5EF4-FFF2-40B4-BE49-F238E27FC236}">
                    <a16:creationId xmlns:a16="http://schemas.microsoft.com/office/drawing/2014/main" id="{7FC3E8C1-F612-11C3-D7B4-946AA2C593DE}"/>
                  </a:ext>
                </a:extLst>
              </p:cNvPr>
              <p:cNvSpPr txBox="1"/>
              <p:nvPr/>
            </p:nvSpPr>
            <p:spPr>
              <a:xfrm flipH="1">
                <a:off x="1891339" y="1755215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Lorem ipsum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FE78C93-8027-5F46-438D-495BDE5BD2E3}"/>
                </a:ext>
              </a:extLst>
            </p:cNvPr>
            <p:cNvGrpSpPr/>
            <p:nvPr/>
          </p:nvGrpSpPr>
          <p:grpSpPr>
            <a:xfrm>
              <a:off x="616464" y="3145831"/>
              <a:ext cx="1029508" cy="1029508"/>
              <a:chOff x="616464" y="1728923"/>
              <a:chExt cx="1029508" cy="1029508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FA503245-2E20-FF03-3A28-6038A128B4BF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6CBF3105-6EC8-ADCC-4A81-C3B21B9E2B0B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40845B93-471D-8F04-A3C0-D03B9177A7DB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484FA69-D0C7-B135-A83B-E3FC841F158A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2</a:t>
                </a:r>
              </a:p>
            </p:txBody>
          </p:sp>
        </p:grpSp>
      </p:grpSp>
      <p:grpSp>
        <p:nvGrpSpPr>
          <p:cNvPr id="54" name="Item 1">
            <a:extLst>
              <a:ext uri="{FF2B5EF4-FFF2-40B4-BE49-F238E27FC236}">
                <a16:creationId xmlns:a16="http://schemas.microsoft.com/office/drawing/2014/main" id="{3F0B0832-8F9F-EAFE-1D4F-67C6A21EBE14}"/>
              </a:ext>
            </a:extLst>
          </p:cNvPr>
          <p:cNvGrpSpPr/>
          <p:nvPr/>
        </p:nvGrpSpPr>
        <p:grpSpPr>
          <a:xfrm>
            <a:off x="616464" y="1593985"/>
            <a:ext cx="5070079" cy="1251074"/>
            <a:chOff x="616464" y="1593985"/>
            <a:chExt cx="5070079" cy="1251074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E3A8629-DAD4-19C2-A9D7-1689D18BEAFB}"/>
                </a:ext>
              </a:extLst>
            </p:cNvPr>
            <p:cNvGrpSpPr/>
            <p:nvPr/>
          </p:nvGrpSpPr>
          <p:grpSpPr>
            <a:xfrm>
              <a:off x="1114543" y="1593985"/>
              <a:ext cx="4572000" cy="1251074"/>
              <a:chOff x="1114543" y="1593985"/>
              <a:chExt cx="4572000" cy="1251074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B2C31512-4B24-43F3-8507-7B86F299D8E7}"/>
                  </a:ext>
                </a:extLst>
              </p:cNvPr>
              <p:cNvSpPr/>
              <p:nvPr/>
            </p:nvSpPr>
            <p:spPr>
              <a:xfrm>
                <a:off x="1114543" y="1593985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62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58D41351-0DE9-CDA1-0954-09B35E6B030D}"/>
                  </a:ext>
                </a:extLst>
              </p:cNvPr>
              <p:cNvSpPr txBox="1"/>
              <p:nvPr/>
            </p:nvSpPr>
            <p:spPr>
              <a:xfrm flipH="1">
                <a:off x="1891338" y="2170160"/>
                <a:ext cx="3640881" cy="5284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Sed do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eisusmod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tempor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incididunt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ut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 labore et dolore magna </a:t>
                </a:r>
                <a:r>
                  <a:rPr lang="en-US" sz="1200" dirty="0" err="1">
                    <a:latin typeface="+mj-lt"/>
                    <a:ea typeface="+mn-ea"/>
                    <a:cs typeface="+mn-cs"/>
                  </a:rPr>
                  <a:t>aliqua</a:t>
                </a:r>
                <a:r>
                  <a:rPr lang="en-US" sz="1200" dirty="0">
                    <a:latin typeface="+mj-lt"/>
                    <a:ea typeface="+mn-ea"/>
                    <a:cs typeface="+mn-cs"/>
                  </a:rPr>
                  <a:t>.</a:t>
                </a:r>
              </a:p>
            </p:txBody>
          </p:sp>
          <p:sp>
            <p:nvSpPr>
              <p:cNvPr id="63" name=".01">
                <a:extLst>
                  <a:ext uri="{FF2B5EF4-FFF2-40B4-BE49-F238E27FC236}">
                    <a16:creationId xmlns:a16="http://schemas.microsoft.com/office/drawing/2014/main" id="{5CAD2778-7D90-6F35-8B5E-918B31819774}"/>
                  </a:ext>
                </a:extLst>
              </p:cNvPr>
              <p:cNvSpPr txBox="1"/>
              <p:nvPr/>
            </p:nvSpPr>
            <p:spPr>
              <a:xfrm flipH="1">
                <a:off x="1891339" y="1755215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Lorem ipsum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97C19082-B7A1-1521-0BBC-9731776C32F6}"/>
                </a:ext>
              </a:extLst>
            </p:cNvPr>
            <p:cNvGrpSpPr/>
            <p:nvPr/>
          </p:nvGrpSpPr>
          <p:grpSpPr>
            <a:xfrm>
              <a:off x="616464" y="1728923"/>
              <a:ext cx="1029508" cy="1029508"/>
              <a:chOff x="616464" y="1728923"/>
              <a:chExt cx="1029508" cy="1029508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1B3E6540-067C-6701-A770-B8F03BBB0981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88A52A4E-8B4D-6D7E-CA02-D06E0A8BAB1B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69D18637-1ECD-E17A-429A-1840775FB560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1A24DEC-2FA8-376B-268A-211DD482CD70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2248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FBE76B-EE1D-E3F5-A352-2A0F6173F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 in 2026</a:t>
            </a:r>
          </a:p>
        </p:txBody>
      </p:sp>
      <p:grpSp>
        <p:nvGrpSpPr>
          <p:cNvPr id="4" name="Item 3">
            <a:extLst>
              <a:ext uri="{FF2B5EF4-FFF2-40B4-BE49-F238E27FC236}">
                <a16:creationId xmlns:a16="http://schemas.microsoft.com/office/drawing/2014/main" id="{03E542FA-485C-FE30-87BD-5401678E92A6}"/>
              </a:ext>
            </a:extLst>
          </p:cNvPr>
          <p:cNvGrpSpPr/>
          <p:nvPr/>
        </p:nvGrpSpPr>
        <p:grpSpPr>
          <a:xfrm>
            <a:off x="8102969" y="1598495"/>
            <a:ext cx="3200400" cy="4299796"/>
            <a:chOff x="5276212" y="1575655"/>
            <a:chExt cx="1645920" cy="2259857"/>
          </a:xfrm>
        </p:grpSpPr>
        <p:grpSp>
          <p:nvGrpSpPr>
            <p:cNvPr id="5" name="Item 3 Graphics">
              <a:extLst>
                <a:ext uri="{FF2B5EF4-FFF2-40B4-BE49-F238E27FC236}">
                  <a16:creationId xmlns:a16="http://schemas.microsoft.com/office/drawing/2014/main" id="{E954D010-9A46-8F16-0D69-1E1684640CD1}"/>
                </a:ext>
              </a:extLst>
            </p:cNvPr>
            <p:cNvGrpSpPr/>
            <p:nvPr/>
          </p:nvGrpSpPr>
          <p:grpSpPr>
            <a:xfrm>
              <a:off x="5276212" y="1575655"/>
              <a:ext cx="1645920" cy="2259857"/>
              <a:chOff x="1614488" y="1575655"/>
              <a:chExt cx="1371600" cy="2259857"/>
            </a:xfrm>
          </p:grpSpPr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84988A83-612C-869A-68EC-F624121C0F81}"/>
                  </a:ext>
                </a:extLst>
              </p:cNvPr>
              <p:cNvSpPr/>
              <p:nvPr/>
            </p:nvSpPr>
            <p:spPr>
              <a:xfrm>
                <a:off x="1614488" y="1575655"/>
                <a:ext cx="1371600" cy="2259857"/>
              </a:xfrm>
              <a:prstGeom prst="rect">
                <a:avLst/>
              </a:prstGeom>
              <a:noFill/>
              <a:ln w="1905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10" name="Arrow 3">
                <a:extLst>
                  <a:ext uri="{FF2B5EF4-FFF2-40B4-BE49-F238E27FC236}">
                    <a16:creationId xmlns:a16="http://schemas.microsoft.com/office/drawing/2014/main" id="{AD61ADA6-C331-6333-5434-607AE089C0DD}"/>
                  </a:ext>
                </a:extLst>
              </p:cNvPr>
              <p:cNvSpPr/>
              <p:nvPr/>
            </p:nvSpPr>
            <p:spPr>
              <a:xfrm rot="5400000">
                <a:off x="2084419" y="1562926"/>
                <a:ext cx="431740" cy="457200"/>
              </a:xfrm>
              <a:prstGeom prst="homePlate">
                <a:avLst>
                  <a:gd name="adj" fmla="val 33489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</p:grpSp>
        <p:grpSp>
          <p:nvGrpSpPr>
            <p:cNvPr id="6" name="Item 3 Text">
              <a:extLst>
                <a:ext uri="{FF2B5EF4-FFF2-40B4-BE49-F238E27FC236}">
                  <a16:creationId xmlns:a16="http://schemas.microsoft.com/office/drawing/2014/main" id="{418B8673-B45A-76B9-E6CC-4EDE80BC6847}"/>
                </a:ext>
              </a:extLst>
            </p:cNvPr>
            <p:cNvGrpSpPr/>
            <p:nvPr/>
          </p:nvGrpSpPr>
          <p:grpSpPr>
            <a:xfrm>
              <a:off x="5402502" y="2152894"/>
              <a:ext cx="1400462" cy="736230"/>
              <a:chOff x="2935186" y="1540782"/>
              <a:chExt cx="2736567" cy="736230"/>
            </a:xfrm>
          </p:grpSpPr>
          <p:sp>
            <p:nvSpPr>
              <p:cNvPr id="7" name="Body Copy 3">
                <a:extLst>
                  <a:ext uri="{FF2B5EF4-FFF2-40B4-BE49-F238E27FC236}">
                    <a16:creationId xmlns:a16="http://schemas.microsoft.com/office/drawing/2014/main" id="{5576D5FE-2D66-D9A2-680C-B20BB2D2268E}"/>
                  </a:ext>
                </a:extLst>
              </p:cNvPr>
              <p:cNvSpPr txBox="1"/>
              <p:nvPr/>
            </p:nvSpPr>
            <p:spPr>
              <a:xfrm flipH="1">
                <a:off x="2935186" y="1874468"/>
                <a:ext cx="2736567" cy="40254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defPPr>
                  <a:defRPr lang="en-US"/>
                </a:defPPr>
                <a:lvl2pPr marL="687388" lvl="1"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  <a:defRPr sz="1400" kern="100">
                    <a:solidFill>
                      <a:srgbClr val="000000"/>
                    </a:solidFill>
                    <a:effectLst/>
                    <a:latin typeface="+mj-lt"/>
                    <a:ea typeface="Calibri" panose="020F0502020204030204" pitchFamily="34" charset="0"/>
                    <a:cs typeface="Arial" panose="020B0604020202020204" pitchFamily="34" charset="0"/>
                  </a:defRPr>
                </a:lvl2pPr>
              </a:lstStyle>
              <a:p>
                <a:pPr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n-US" sz="1400" kern="100">
                    <a:solidFill>
                      <a:srgbClr val="000000"/>
                    </a:solidFill>
                    <a:latin typeface="+mj-lt"/>
                    <a:ea typeface="Calibri" panose="020F0502020204030204" pitchFamily="34" charset="0"/>
                    <a:cs typeface="Arial" panose="020B0604020202020204" pitchFamily="34" charset="0"/>
                  </a:rPr>
                  <a:t>Lorem ipsum dolor sit</a:t>
                </a:r>
              </a:p>
              <a:p>
                <a:endParaRPr lang="en-US" sz="1400"/>
              </a:p>
              <a:p>
                <a:pPr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n-US" sz="1400" kern="100">
                    <a:solidFill>
                      <a:srgbClr val="000000"/>
                    </a:solidFill>
                    <a:latin typeface="+mj-lt"/>
                    <a:ea typeface="Calibri" panose="020F0502020204030204" pitchFamily="34" charset="0"/>
                    <a:cs typeface="Arial" panose="020B0604020202020204" pitchFamily="34" charset="0"/>
                  </a:rPr>
                  <a:t>Lorem ipsum dolor sit</a:t>
                </a:r>
              </a:p>
            </p:txBody>
          </p:sp>
          <p:sp>
            <p:nvSpPr>
              <p:cNvPr id="8" name="Subtitle 3">
                <a:extLst>
                  <a:ext uri="{FF2B5EF4-FFF2-40B4-BE49-F238E27FC236}">
                    <a16:creationId xmlns:a16="http://schemas.microsoft.com/office/drawing/2014/main" id="{60860A6B-4ED9-4BC8-9D98-43A1C439DC8C}"/>
                  </a:ext>
                </a:extLst>
              </p:cNvPr>
              <p:cNvSpPr txBox="1"/>
              <p:nvPr/>
            </p:nvSpPr>
            <p:spPr>
              <a:xfrm flipH="1">
                <a:off x="3019711" y="1540782"/>
                <a:ext cx="2553603" cy="2286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defPPr>
                  <a:defRPr lang="en-US"/>
                </a:defPPr>
                <a:lvl1pPr algn="ctr">
                  <a:lnSpc>
                    <a:spcPct val="90000"/>
                  </a:lnSpc>
                  <a:defRPr sz="2400" b="1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Roboto Medium"/>
                    <a:cs typeface="Roboto Medium"/>
                  </a:defRPr>
                </a:lvl1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Lorem ipsum</a:t>
                </a:r>
                <a:endParaRPr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1" name="Item 2">
            <a:extLst>
              <a:ext uri="{FF2B5EF4-FFF2-40B4-BE49-F238E27FC236}">
                <a16:creationId xmlns:a16="http://schemas.microsoft.com/office/drawing/2014/main" id="{639DD2F7-3867-74DE-440F-153DC3E29F9E}"/>
              </a:ext>
            </a:extLst>
          </p:cNvPr>
          <p:cNvGrpSpPr/>
          <p:nvPr/>
        </p:nvGrpSpPr>
        <p:grpSpPr>
          <a:xfrm>
            <a:off x="4405968" y="1598495"/>
            <a:ext cx="3198602" cy="4299796"/>
            <a:chOff x="4405968" y="1598495"/>
            <a:chExt cx="3198602" cy="4299796"/>
          </a:xfrm>
        </p:grpSpPr>
        <p:grpSp>
          <p:nvGrpSpPr>
            <p:cNvPr id="12" name="Item 2 Graphics">
              <a:extLst>
                <a:ext uri="{FF2B5EF4-FFF2-40B4-BE49-F238E27FC236}">
                  <a16:creationId xmlns:a16="http://schemas.microsoft.com/office/drawing/2014/main" id="{BE6C6A81-36C1-C4A3-B87C-8DB16C8ABCCB}"/>
                </a:ext>
              </a:extLst>
            </p:cNvPr>
            <p:cNvGrpSpPr/>
            <p:nvPr/>
          </p:nvGrpSpPr>
          <p:grpSpPr>
            <a:xfrm>
              <a:off x="4405968" y="1598495"/>
              <a:ext cx="3198602" cy="4299796"/>
              <a:chOff x="1614488" y="1575655"/>
              <a:chExt cx="1371600" cy="2259857"/>
            </a:xfrm>
          </p:grpSpPr>
          <p:sp>
            <p:nvSpPr>
              <p:cNvPr id="16" name="Rectangle 2">
                <a:extLst>
                  <a:ext uri="{FF2B5EF4-FFF2-40B4-BE49-F238E27FC236}">
                    <a16:creationId xmlns:a16="http://schemas.microsoft.com/office/drawing/2014/main" id="{C0F7B5C9-517B-76DB-6BFD-C08AE2F3C4F1}"/>
                  </a:ext>
                </a:extLst>
              </p:cNvPr>
              <p:cNvSpPr/>
              <p:nvPr/>
            </p:nvSpPr>
            <p:spPr>
              <a:xfrm>
                <a:off x="1614488" y="1575655"/>
                <a:ext cx="1371600" cy="2259857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17" name="Arrow 2">
                <a:extLst>
                  <a:ext uri="{FF2B5EF4-FFF2-40B4-BE49-F238E27FC236}">
                    <a16:creationId xmlns:a16="http://schemas.microsoft.com/office/drawing/2014/main" id="{1E4990D4-68A1-205A-4CDC-536BA09C9D9E}"/>
                  </a:ext>
                </a:extLst>
              </p:cNvPr>
              <p:cNvSpPr/>
              <p:nvPr/>
            </p:nvSpPr>
            <p:spPr>
              <a:xfrm rot="5400000">
                <a:off x="2084419" y="1562926"/>
                <a:ext cx="431740" cy="457200"/>
              </a:xfrm>
              <a:prstGeom prst="homePlate">
                <a:avLst>
                  <a:gd name="adj" fmla="val 33489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</p:grpSp>
        <p:grpSp>
          <p:nvGrpSpPr>
            <p:cNvPr id="13" name="Item 2 Text">
              <a:extLst>
                <a:ext uri="{FF2B5EF4-FFF2-40B4-BE49-F238E27FC236}">
                  <a16:creationId xmlns:a16="http://schemas.microsoft.com/office/drawing/2014/main" id="{E8BEACF2-6897-2AD6-C51C-53E5853CD663}"/>
                </a:ext>
              </a:extLst>
            </p:cNvPr>
            <p:cNvGrpSpPr/>
            <p:nvPr/>
          </p:nvGrpSpPr>
          <p:grpSpPr>
            <a:xfrm>
              <a:off x="4735456" y="2698061"/>
              <a:ext cx="2539628" cy="2808921"/>
              <a:chOff x="3019711" y="1541445"/>
              <a:chExt cx="2553604" cy="1476293"/>
            </a:xfrm>
          </p:grpSpPr>
          <p:sp>
            <p:nvSpPr>
              <p:cNvPr id="14" name="Body Copy 2">
                <a:extLst>
                  <a:ext uri="{FF2B5EF4-FFF2-40B4-BE49-F238E27FC236}">
                    <a16:creationId xmlns:a16="http://schemas.microsoft.com/office/drawing/2014/main" id="{680CB717-5084-2E86-D969-0077ABF9C384}"/>
                  </a:ext>
                </a:extLst>
              </p:cNvPr>
              <p:cNvSpPr txBox="1"/>
              <p:nvPr/>
            </p:nvSpPr>
            <p:spPr>
              <a:xfrm flipH="1">
                <a:off x="3019711" y="1880369"/>
                <a:ext cx="2553602" cy="11373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marL="230188"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n-US" sz="1400" kern="100">
                    <a:solidFill>
                      <a:srgbClr val="000000"/>
                    </a:solidFill>
                    <a:latin typeface="+mj-lt"/>
                    <a:ea typeface="Calibri" panose="020F0502020204030204" pitchFamily="34" charset="0"/>
                    <a:cs typeface="Arial" panose="020B0604020202020204" pitchFamily="34" charset="0"/>
                  </a:rPr>
                  <a:t>Lorem ipsum dolor sit</a:t>
                </a:r>
              </a:p>
              <a:p>
                <a:pPr marL="230188"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endParaRPr lang="en-US" sz="1400" kern="100">
                  <a:effectLst/>
                  <a:latin typeface="+mj-lt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230188"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n-US" sz="1400" kern="100">
                    <a:solidFill>
                      <a:srgbClr val="000000"/>
                    </a:solidFill>
                    <a:latin typeface="+mj-lt"/>
                    <a:ea typeface="Calibri" panose="020F0502020204030204" pitchFamily="34" charset="0"/>
                    <a:cs typeface="Arial" panose="020B0604020202020204" pitchFamily="34" charset="0"/>
                  </a:rPr>
                  <a:t>Lorem ipsum dolor sit</a:t>
                </a:r>
              </a:p>
              <a:p>
                <a:pPr marL="230188"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endParaRPr lang="en-US" sz="1400" kern="100">
                  <a:solidFill>
                    <a:srgbClr val="000000"/>
                  </a:solidFill>
                  <a:effectLst/>
                  <a:latin typeface="+mj-lt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230188"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n-US" sz="1400" kern="100">
                    <a:solidFill>
                      <a:srgbClr val="000000"/>
                    </a:solidFill>
                    <a:latin typeface="+mj-lt"/>
                    <a:ea typeface="Calibri" panose="020F0502020204030204" pitchFamily="34" charset="0"/>
                    <a:cs typeface="Arial" panose="020B0604020202020204" pitchFamily="34" charset="0"/>
                  </a:rPr>
                  <a:t>Lorem ipsum dolor sit</a:t>
                </a:r>
              </a:p>
              <a:p>
                <a:pPr marL="230188"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endParaRPr lang="en-US" sz="1400" kern="100">
                  <a:solidFill>
                    <a:srgbClr val="000000"/>
                  </a:solidFill>
                  <a:effectLst/>
                  <a:latin typeface="+mj-lt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230188"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n-US" sz="1400" kern="100">
                    <a:solidFill>
                      <a:srgbClr val="000000"/>
                    </a:solidFill>
                    <a:latin typeface="+mj-lt"/>
                    <a:ea typeface="Calibri" panose="020F0502020204030204" pitchFamily="34" charset="0"/>
                    <a:cs typeface="Arial" panose="020B0604020202020204" pitchFamily="34" charset="0"/>
                  </a:rPr>
                  <a:t>Lorem ipsum dolor sit</a:t>
                </a:r>
              </a:p>
              <a:p>
                <a:pPr marL="230188"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endParaRPr lang="en-US" sz="1400" kern="100">
                  <a:solidFill>
                    <a:srgbClr val="000000"/>
                  </a:solidFill>
                  <a:latin typeface="+mj-lt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230188"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n-US" sz="1400" kern="100">
                    <a:solidFill>
                      <a:srgbClr val="000000"/>
                    </a:solidFill>
                    <a:latin typeface="+mj-lt"/>
                    <a:ea typeface="Calibri" panose="020F0502020204030204" pitchFamily="34" charset="0"/>
                    <a:cs typeface="Arial" panose="020B0604020202020204" pitchFamily="34" charset="0"/>
                  </a:rPr>
                  <a:t>Lorem ipsum dolor sit</a:t>
                </a:r>
              </a:p>
            </p:txBody>
          </p:sp>
          <p:sp>
            <p:nvSpPr>
              <p:cNvPr id="15" name="Subtitle 2">
                <a:extLst>
                  <a:ext uri="{FF2B5EF4-FFF2-40B4-BE49-F238E27FC236}">
                    <a16:creationId xmlns:a16="http://schemas.microsoft.com/office/drawing/2014/main" id="{026A843A-A3E6-E765-FF45-5D7D7D8812EC}"/>
                  </a:ext>
                </a:extLst>
              </p:cNvPr>
              <p:cNvSpPr txBox="1"/>
              <p:nvPr/>
            </p:nvSpPr>
            <p:spPr>
              <a:xfrm flipH="1">
                <a:off x="3019712" y="1541445"/>
                <a:ext cx="2553603" cy="2286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defPPr>
                  <a:defRPr lang="en-US"/>
                </a:defPPr>
                <a:lvl1pPr algn="ctr">
                  <a:lnSpc>
                    <a:spcPct val="90000"/>
                  </a:lnSpc>
                  <a:defRPr sz="2400" b="1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Roboto Medium"/>
                    <a:cs typeface="Roboto Medium"/>
                  </a:defRPr>
                </a:lvl1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Lorem ipsum</a:t>
                </a:r>
                <a:endParaRPr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" name="Item 1">
            <a:extLst>
              <a:ext uri="{FF2B5EF4-FFF2-40B4-BE49-F238E27FC236}">
                <a16:creationId xmlns:a16="http://schemas.microsoft.com/office/drawing/2014/main" id="{D364CCC5-BAEF-3CCC-4B43-9E3E2E269E0E}"/>
              </a:ext>
            </a:extLst>
          </p:cNvPr>
          <p:cNvGrpSpPr/>
          <p:nvPr/>
        </p:nvGrpSpPr>
        <p:grpSpPr>
          <a:xfrm>
            <a:off x="764848" y="1593299"/>
            <a:ext cx="3199153" cy="4299797"/>
            <a:chOff x="855662" y="1575655"/>
            <a:chExt cx="1645920" cy="2255970"/>
          </a:xfrm>
        </p:grpSpPr>
        <p:grpSp>
          <p:nvGrpSpPr>
            <p:cNvPr id="19" name="Item 1 Graphics">
              <a:extLst>
                <a:ext uri="{FF2B5EF4-FFF2-40B4-BE49-F238E27FC236}">
                  <a16:creationId xmlns:a16="http://schemas.microsoft.com/office/drawing/2014/main" id="{9C94626A-F64A-EB4C-85EE-2460801B03FE}"/>
                </a:ext>
              </a:extLst>
            </p:cNvPr>
            <p:cNvGrpSpPr/>
            <p:nvPr/>
          </p:nvGrpSpPr>
          <p:grpSpPr>
            <a:xfrm>
              <a:off x="855662" y="1575655"/>
              <a:ext cx="1645920" cy="2255970"/>
              <a:chOff x="1614488" y="1575655"/>
              <a:chExt cx="1371600" cy="2255970"/>
            </a:xfrm>
          </p:grpSpPr>
          <p:sp>
            <p:nvSpPr>
              <p:cNvPr id="23" name="Rectangle 1">
                <a:extLst>
                  <a:ext uri="{FF2B5EF4-FFF2-40B4-BE49-F238E27FC236}">
                    <a16:creationId xmlns:a16="http://schemas.microsoft.com/office/drawing/2014/main" id="{A5211D8B-8F04-46DF-CA2A-A5732FDE4125}"/>
                  </a:ext>
                </a:extLst>
              </p:cNvPr>
              <p:cNvSpPr/>
              <p:nvPr/>
            </p:nvSpPr>
            <p:spPr>
              <a:xfrm>
                <a:off x="1614488" y="1575655"/>
                <a:ext cx="1371600" cy="2255970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24" name="Arrow 1">
                <a:extLst>
                  <a:ext uri="{FF2B5EF4-FFF2-40B4-BE49-F238E27FC236}">
                    <a16:creationId xmlns:a16="http://schemas.microsoft.com/office/drawing/2014/main" id="{64118BCB-9198-88AB-7B28-2C4B43ED12EC}"/>
                  </a:ext>
                </a:extLst>
              </p:cNvPr>
              <p:cNvSpPr/>
              <p:nvPr/>
            </p:nvSpPr>
            <p:spPr>
              <a:xfrm rot="5400000">
                <a:off x="2084419" y="1562926"/>
                <a:ext cx="431740" cy="457200"/>
              </a:xfrm>
              <a:prstGeom prst="homePlate">
                <a:avLst>
                  <a:gd name="adj" fmla="val 33489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</p:grpSp>
        <p:grpSp>
          <p:nvGrpSpPr>
            <p:cNvPr id="20" name="Item 1 Text">
              <a:extLst>
                <a:ext uri="{FF2B5EF4-FFF2-40B4-BE49-F238E27FC236}">
                  <a16:creationId xmlns:a16="http://schemas.microsoft.com/office/drawing/2014/main" id="{B51ABA19-C1D1-4915-D9D9-268F85FC2DE9}"/>
                </a:ext>
              </a:extLst>
            </p:cNvPr>
            <p:cNvGrpSpPr/>
            <p:nvPr/>
          </p:nvGrpSpPr>
          <p:grpSpPr>
            <a:xfrm>
              <a:off x="953302" y="2154978"/>
              <a:ext cx="1450637" cy="1020229"/>
              <a:chOff x="2879206" y="1542866"/>
              <a:chExt cx="2834612" cy="1020229"/>
            </a:xfrm>
          </p:grpSpPr>
          <p:sp>
            <p:nvSpPr>
              <p:cNvPr id="21" name="Body Copy 1">
                <a:extLst>
                  <a:ext uri="{FF2B5EF4-FFF2-40B4-BE49-F238E27FC236}">
                    <a16:creationId xmlns:a16="http://schemas.microsoft.com/office/drawing/2014/main" id="{2197CD54-C62C-1039-3803-501D04C6F31C}"/>
                  </a:ext>
                </a:extLst>
              </p:cNvPr>
              <p:cNvSpPr txBox="1"/>
              <p:nvPr/>
            </p:nvSpPr>
            <p:spPr>
              <a:xfrm flipH="1">
                <a:off x="2879206" y="1911452"/>
                <a:ext cx="2834610" cy="6516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marL="230188"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n-US" sz="1400" kern="100" dirty="0">
                    <a:solidFill>
                      <a:srgbClr val="000000"/>
                    </a:solidFill>
                    <a:latin typeface="+mj-lt"/>
                    <a:ea typeface="Calibri" panose="020F0502020204030204" pitchFamily="34" charset="0"/>
                    <a:cs typeface="Arial" panose="020B0604020202020204" pitchFamily="34" charset="0"/>
                  </a:rPr>
                  <a:t>Lorem ipsum dolor sit</a:t>
                </a:r>
              </a:p>
              <a:p>
                <a:pPr marL="230188"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endParaRPr lang="en-US" sz="1400" kern="100" dirty="0">
                  <a:solidFill>
                    <a:srgbClr val="000000"/>
                  </a:solidFill>
                  <a:latin typeface="+mj-lt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230188"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n-US" sz="1400" kern="100" dirty="0">
                    <a:solidFill>
                      <a:srgbClr val="000000"/>
                    </a:solidFill>
                    <a:latin typeface="+mj-lt"/>
                    <a:ea typeface="Calibri" panose="020F0502020204030204" pitchFamily="34" charset="0"/>
                    <a:cs typeface="Arial" panose="020B0604020202020204" pitchFamily="34" charset="0"/>
                  </a:rPr>
                  <a:t>Lorem ipsum dolor sit</a:t>
                </a:r>
              </a:p>
              <a:p>
                <a:pPr marL="230188"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endParaRPr lang="en-US" sz="1400" kern="100" dirty="0">
                  <a:solidFill>
                    <a:srgbClr val="000000"/>
                  </a:solidFill>
                  <a:latin typeface="+mj-lt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230188" indent="-230188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n-US" sz="1400" kern="100" dirty="0">
                    <a:solidFill>
                      <a:srgbClr val="000000"/>
                    </a:solidFill>
                    <a:latin typeface="+mj-lt"/>
                    <a:ea typeface="Calibri" panose="020F0502020204030204" pitchFamily="34" charset="0"/>
                    <a:cs typeface="Arial" panose="020B0604020202020204" pitchFamily="34" charset="0"/>
                  </a:rPr>
                  <a:t>Lorem ipsum dolor sit</a:t>
                </a:r>
              </a:p>
            </p:txBody>
          </p:sp>
          <p:sp>
            <p:nvSpPr>
              <p:cNvPr id="22" name="Subtitle 1">
                <a:extLst>
                  <a:ext uri="{FF2B5EF4-FFF2-40B4-BE49-F238E27FC236}">
                    <a16:creationId xmlns:a16="http://schemas.microsoft.com/office/drawing/2014/main" id="{08F8F9E6-97AF-5F47-1DC4-E28CDA768AB2}"/>
                  </a:ext>
                </a:extLst>
              </p:cNvPr>
              <p:cNvSpPr txBox="1"/>
              <p:nvPr/>
            </p:nvSpPr>
            <p:spPr>
              <a:xfrm flipH="1">
                <a:off x="2879208" y="1542866"/>
                <a:ext cx="2834610" cy="2282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+mj-lt"/>
                  </a:rPr>
                  <a:t>Lorem ipsum</a:t>
                </a:r>
                <a:endParaRPr sz="24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</p:grpSp>
      <p:pic>
        <p:nvPicPr>
          <p:cNvPr id="25" name="Icon 2" descr="Users with solid fill">
            <a:extLst>
              <a:ext uri="{FF2B5EF4-FFF2-40B4-BE49-F238E27FC236}">
                <a16:creationId xmlns:a16="http://schemas.microsoft.com/office/drawing/2014/main" id="{0270C1F6-39D3-CB16-387D-C9F5CD71C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1345" y="1623036"/>
            <a:ext cx="640080" cy="640080"/>
          </a:xfrm>
          <a:prstGeom prst="rect">
            <a:avLst/>
          </a:prstGeom>
        </p:spPr>
      </p:pic>
      <p:pic>
        <p:nvPicPr>
          <p:cNvPr id="26" name="Icon 3" descr="Magnifying glass with solid fill">
            <a:extLst>
              <a:ext uri="{FF2B5EF4-FFF2-40B4-BE49-F238E27FC236}">
                <a16:creationId xmlns:a16="http://schemas.microsoft.com/office/drawing/2014/main" id="{3C9977D8-C99D-9E21-5F7F-FA7700DC67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02370" y="1665076"/>
            <a:ext cx="548640" cy="548640"/>
          </a:xfrm>
          <a:prstGeom prst="rect">
            <a:avLst/>
          </a:prstGeom>
        </p:spPr>
      </p:pic>
      <p:pic>
        <p:nvPicPr>
          <p:cNvPr id="27" name="Icon 1" descr="Circles with arrows with solid fill">
            <a:extLst>
              <a:ext uri="{FF2B5EF4-FFF2-40B4-BE49-F238E27FC236}">
                <a16:creationId xmlns:a16="http://schemas.microsoft.com/office/drawing/2014/main" id="{C918E05A-0EA9-BE09-5885-ECD11C14FE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4384" y="1623036"/>
            <a:ext cx="64008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09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rk Teal Rectangle">
            <a:extLst>
              <a:ext uri="{FF2B5EF4-FFF2-40B4-BE49-F238E27FC236}">
                <a16:creationId xmlns:a16="http://schemas.microsoft.com/office/drawing/2014/main" id="{E8856D51-6096-1AAC-8E67-9B83186C21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7784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9" name="Footer">
            <a:extLst>
              <a:ext uri="{FF2B5EF4-FFF2-40B4-BE49-F238E27FC236}">
                <a16:creationId xmlns:a16="http://schemas.microsoft.com/office/drawing/2014/main" id="{5F51EB8D-FA9C-C25B-1A1B-410BACD6A84B}"/>
              </a:ext>
            </a:extLst>
          </p:cNvPr>
          <p:cNvSpPr txBox="1">
            <a:spLocks/>
          </p:cNvSpPr>
          <p:nvPr/>
        </p:nvSpPr>
        <p:spPr>
          <a:xfrm>
            <a:off x="665810" y="6444113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2026 Lumen Technologies. All Rights Reserved. 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2BF7D11E-389C-1E99-97E5-9050AC060E08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bg1"/>
                </a:solidFill>
                <a:latin typeface="Avenir Next LT Pro" panose="020B0504020202020204" pitchFamily="34" charset="77"/>
              </a:rPr>
              <a:pPr algn="l"/>
              <a:t>20</a:t>
            </a:fld>
            <a:endParaRPr lang="en-US" sz="800" b="0" i="0" dirty="0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grpSp>
        <p:nvGrpSpPr>
          <p:cNvPr id="55" name="Title">
            <a:extLst>
              <a:ext uri="{FF2B5EF4-FFF2-40B4-BE49-F238E27FC236}">
                <a16:creationId xmlns:a16="http://schemas.microsoft.com/office/drawing/2014/main" id="{D9C22A77-E966-8D54-B17B-DCB9E5FFBAA5}"/>
              </a:ext>
            </a:extLst>
          </p:cNvPr>
          <p:cNvGrpSpPr/>
          <p:nvPr/>
        </p:nvGrpSpPr>
        <p:grpSpPr>
          <a:xfrm>
            <a:off x="511779" y="1569857"/>
            <a:ext cx="2005842" cy="2802891"/>
            <a:chOff x="647700" y="1512224"/>
            <a:chExt cx="2005842" cy="2802891"/>
          </a:xfrm>
        </p:grpSpPr>
        <p:sp>
          <p:nvSpPr>
            <p:cNvPr id="9" name="Title 6">
              <a:extLst>
                <a:ext uri="{FF2B5EF4-FFF2-40B4-BE49-F238E27FC236}">
                  <a16:creationId xmlns:a16="http://schemas.microsoft.com/office/drawing/2014/main" id="{986D38BB-B2AC-0CDE-19CD-2EA1A3D92920}"/>
                </a:ext>
              </a:extLst>
            </p:cNvPr>
            <p:cNvSpPr txBox="1">
              <a:spLocks/>
            </p:cNvSpPr>
            <p:nvPr/>
          </p:nvSpPr>
          <p:spPr>
            <a:xfrm>
              <a:off x="648520" y="3029158"/>
              <a:ext cx="2005022" cy="1285957"/>
            </a:xfrm>
            <a:prstGeom prst="rect">
              <a:avLst/>
            </a:prstGeom>
          </p:spPr>
          <p:txBody>
            <a:bodyPr vert="horz" wrap="none" lIns="0" tIns="0" rIns="0" bIns="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7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j-ea"/>
                  <a:cs typeface="+mj-cs"/>
                </a:rPr>
                <a:t>Icons </a:t>
              </a:r>
              <a:br>
                <a:rPr kumimoji="0" lang="en-US" sz="50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j-ea"/>
                  <a:cs typeface="+mj-cs"/>
                </a:rPr>
              </a:br>
              <a:r>
                <a:rPr kumimoji="0" lang="en-US" sz="50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j-ea"/>
                  <a:cs typeface="+mj-cs"/>
                </a:rPr>
                <a:t>as </a:t>
              </a:r>
              <a:br>
                <a:rPr kumimoji="0" lang="en-US" sz="50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j-ea"/>
                  <a:cs typeface="+mj-cs"/>
                </a:rPr>
              </a:br>
              <a:r>
                <a:rPr kumimoji="0" lang="en-US" sz="50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j-ea"/>
                  <a:cs typeface="+mj-cs"/>
                </a:rPr>
                <a:t>bullets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F00209A-B1AC-3011-2F01-CB1108A12F3E}"/>
                </a:ext>
              </a:extLst>
            </p:cNvPr>
            <p:cNvGrpSpPr/>
            <p:nvPr/>
          </p:nvGrpSpPr>
          <p:grpSpPr>
            <a:xfrm>
              <a:off x="647700" y="1512224"/>
              <a:ext cx="1201529" cy="1212256"/>
              <a:chOff x="6276975" y="2886076"/>
              <a:chExt cx="355600" cy="358775"/>
            </a:xfrm>
            <a:solidFill>
              <a:schemeClr val="bg1"/>
            </a:solidFill>
          </p:grpSpPr>
          <p:sp>
            <p:nvSpPr>
              <p:cNvPr id="11" name="Freeform 658">
                <a:extLst>
                  <a:ext uri="{FF2B5EF4-FFF2-40B4-BE49-F238E27FC236}">
                    <a16:creationId xmlns:a16="http://schemas.microsoft.com/office/drawing/2014/main" id="{BF525FC3-73D4-EEB6-63E4-E524E37C2C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19850" y="3030538"/>
                <a:ext cx="212725" cy="214313"/>
              </a:xfrm>
              <a:custGeom>
                <a:avLst/>
                <a:gdLst>
                  <a:gd name="T0" fmla="*/ 29 w 57"/>
                  <a:gd name="T1" fmla="*/ 57 h 57"/>
                  <a:gd name="T2" fmla="*/ 27 w 57"/>
                  <a:gd name="T3" fmla="*/ 56 h 57"/>
                  <a:gd name="T4" fmla="*/ 0 w 57"/>
                  <a:gd name="T5" fmla="*/ 3 h 57"/>
                  <a:gd name="T6" fmla="*/ 1 w 57"/>
                  <a:gd name="T7" fmla="*/ 1 h 57"/>
                  <a:gd name="T8" fmla="*/ 3 w 57"/>
                  <a:gd name="T9" fmla="*/ 0 h 57"/>
                  <a:gd name="T10" fmla="*/ 56 w 57"/>
                  <a:gd name="T11" fmla="*/ 27 h 57"/>
                  <a:gd name="T12" fmla="*/ 57 w 57"/>
                  <a:gd name="T13" fmla="*/ 29 h 57"/>
                  <a:gd name="T14" fmla="*/ 56 w 57"/>
                  <a:gd name="T15" fmla="*/ 31 h 57"/>
                  <a:gd name="T16" fmla="*/ 36 w 57"/>
                  <a:gd name="T17" fmla="*/ 36 h 57"/>
                  <a:gd name="T18" fmla="*/ 31 w 57"/>
                  <a:gd name="T19" fmla="*/ 56 h 57"/>
                  <a:gd name="T20" fmla="*/ 29 w 57"/>
                  <a:gd name="T21" fmla="*/ 57 h 57"/>
                  <a:gd name="T22" fmla="*/ 29 w 57"/>
                  <a:gd name="T23" fmla="*/ 57 h 57"/>
                  <a:gd name="T24" fmla="*/ 6 w 57"/>
                  <a:gd name="T25" fmla="*/ 6 h 57"/>
                  <a:gd name="T26" fmla="*/ 28 w 57"/>
                  <a:gd name="T27" fmla="*/ 50 h 57"/>
                  <a:gd name="T28" fmla="*/ 32 w 57"/>
                  <a:gd name="T29" fmla="*/ 34 h 57"/>
                  <a:gd name="T30" fmla="*/ 34 w 57"/>
                  <a:gd name="T31" fmla="*/ 32 h 57"/>
                  <a:gd name="T32" fmla="*/ 50 w 57"/>
                  <a:gd name="T33" fmla="*/ 28 h 57"/>
                  <a:gd name="T34" fmla="*/ 6 w 57"/>
                  <a:gd name="T35" fmla="*/ 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7" h="57">
                    <a:moveTo>
                      <a:pt x="29" y="57"/>
                    </a:moveTo>
                    <a:cubicBezTo>
                      <a:pt x="28" y="57"/>
                      <a:pt x="27" y="57"/>
                      <a:pt x="27" y="56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56" y="27"/>
                      <a:pt x="56" y="27"/>
                      <a:pt x="56" y="27"/>
                    </a:cubicBezTo>
                    <a:cubicBezTo>
                      <a:pt x="57" y="27"/>
                      <a:pt x="57" y="28"/>
                      <a:pt x="57" y="29"/>
                    </a:cubicBezTo>
                    <a:cubicBezTo>
                      <a:pt x="57" y="30"/>
                      <a:pt x="57" y="30"/>
                      <a:pt x="56" y="31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1" y="56"/>
                      <a:pt x="31" y="56"/>
                      <a:pt x="31" y="56"/>
                    </a:cubicBezTo>
                    <a:cubicBezTo>
                      <a:pt x="30" y="57"/>
                      <a:pt x="30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lose/>
                    <a:moveTo>
                      <a:pt x="6" y="6"/>
                    </a:moveTo>
                    <a:cubicBezTo>
                      <a:pt x="28" y="50"/>
                      <a:pt x="28" y="50"/>
                      <a:pt x="28" y="50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2" y="33"/>
                      <a:pt x="33" y="32"/>
                      <a:pt x="34" y="32"/>
                    </a:cubicBezTo>
                    <a:cubicBezTo>
                      <a:pt x="50" y="28"/>
                      <a:pt x="50" y="28"/>
                      <a:pt x="50" y="28"/>
                    </a:cubicBezTo>
                    <a:lnTo>
                      <a:pt x="6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2" name="Freeform 659">
                <a:extLst>
                  <a:ext uri="{FF2B5EF4-FFF2-40B4-BE49-F238E27FC236}">
                    <a16:creationId xmlns:a16="http://schemas.microsoft.com/office/drawing/2014/main" id="{CB1A7C03-F351-E2F0-CD7D-A33E3B0CF4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6975" y="2886076"/>
                <a:ext cx="300038" cy="301625"/>
              </a:xfrm>
              <a:custGeom>
                <a:avLst/>
                <a:gdLst>
                  <a:gd name="T0" fmla="*/ 40 w 80"/>
                  <a:gd name="T1" fmla="*/ 80 h 80"/>
                  <a:gd name="T2" fmla="*/ 0 w 80"/>
                  <a:gd name="T3" fmla="*/ 40 h 80"/>
                  <a:gd name="T4" fmla="*/ 40 w 80"/>
                  <a:gd name="T5" fmla="*/ 0 h 80"/>
                  <a:gd name="T6" fmla="*/ 80 w 80"/>
                  <a:gd name="T7" fmla="*/ 40 h 80"/>
                  <a:gd name="T8" fmla="*/ 79 w 80"/>
                  <a:gd name="T9" fmla="*/ 47 h 80"/>
                  <a:gd name="T10" fmla="*/ 77 w 80"/>
                  <a:gd name="T11" fmla="*/ 48 h 80"/>
                  <a:gd name="T12" fmla="*/ 76 w 80"/>
                  <a:gd name="T13" fmla="*/ 46 h 80"/>
                  <a:gd name="T14" fmla="*/ 76 w 80"/>
                  <a:gd name="T15" fmla="*/ 40 h 80"/>
                  <a:gd name="T16" fmla="*/ 40 w 80"/>
                  <a:gd name="T17" fmla="*/ 4 h 80"/>
                  <a:gd name="T18" fmla="*/ 4 w 80"/>
                  <a:gd name="T19" fmla="*/ 40 h 80"/>
                  <a:gd name="T20" fmla="*/ 40 w 80"/>
                  <a:gd name="T21" fmla="*/ 76 h 80"/>
                  <a:gd name="T22" fmla="*/ 46 w 80"/>
                  <a:gd name="T23" fmla="*/ 76 h 80"/>
                  <a:gd name="T24" fmla="*/ 48 w 80"/>
                  <a:gd name="T25" fmla="*/ 77 h 80"/>
                  <a:gd name="T26" fmla="*/ 46 w 80"/>
                  <a:gd name="T27" fmla="*/ 79 h 80"/>
                  <a:gd name="T28" fmla="*/ 40 w 80"/>
                  <a:gd name="T29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80">
                    <a:moveTo>
                      <a:pt x="40" y="80"/>
                    </a:moveTo>
                    <a:cubicBezTo>
                      <a:pt x="18" y="80"/>
                      <a:pt x="0" y="62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2" y="0"/>
                      <a:pt x="80" y="18"/>
                      <a:pt x="80" y="40"/>
                    </a:cubicBezTo>
                    <a:cubicBezTo>
                      <a:pt x="80" y="42"/>
                      <a:pt x="80" y="44"/>
                      <a:pt x="79" y="47"/>
                    </a:cubicBezTo>
                    <a:cubicBezTo>
                      <a:pt x="79" y="48"/>
                      <a:pt x="78" y="48"/>
                      <a:pt x="77" y="48"/>
                    </a:cubicBezTo>
                    <a:cubicBezTo>
                      <a:pt x="76" y="48"/>
                      <a:pt x="75" y="47"/>
                      <a:pt x="76" y="46"/>
                    </a:cubicBezTo>
                    <a:cubicBezTo>
                      <a:pt x="76" y="44"/>
                      <a:pt x="76" y="42"/>
                      <a:pt x="76" y="40"/>
                    </a:cubicBezTo>
                    <a:cubicBezTo>
                      <a:pt x="76" y="20"/>
                      <a:pt x="60" y="4"/>
                      <a:pt x="40" y="4"/>
                    </a:cubicBezTo>
                    <a:cubicBezTo>
                      <a:pt x="20" y="4"/>
                      <a:pt x="4" y="20"/>
                      <a:pt x="4" y="40"/>
                    </a:cubicBezTo>
                    <a:cubicBezTo>
                      <a:pt x="4" y="60"/>
                      <a:pt x="20" y="76"/>
                      <a:pt x="40" y="76"/>
                    </a:cubicBezTo>
                    <a:cubicBezTo>
                      <a:pt x="42" y="76"/>
                      <a:pt x="44" y="76"/>
                      <a:pt x="46" y="76"/>
                    </a:cubicBezTo>
                    <a:cubicBezTo>
                      <a:pt x="47" y="75"/>
                      <a:pt x="48" y="76"/>
                      <a:pt x="48" y="77"/>
                    </a:cubicBezTo>
                    <a:cubicBezTo>
                      <a:pt x="48" y="78"/>
                      <a:pt x="48" y="79"/>
                      <a:pt x="46" y="79"/>
                    </a:cubicBezTo>
                    <a:cubicBezTo>
                      <a:pt x="44" y="80"/>
                      <a:pt x="42" y="80"/>
                      <a:pt x="40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3" name="Freeform 660">
                <a:extLst>
                  <a:ext uri="{FF2B5EF4-FFF2-40B4-BE49-F238E27FC236}">
                    <a16:creationId xmlns:a16="http://schemas.microsoft.com/office/drawing/2014/main" id="{03B41965-C6CD-509C-7F97-3152D794D3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37300" y="2946401"/>
                <a:ext cx="179388" cy="180975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46 w 48"/>
                  <a:gd name="T9" fmla="*/ 26 h 48"/>
                  <a:gd name="T10" fmla="*/ 44 w 48"/>
                  <a:gd name="T11" fmla="*/ 24 h 48"/>
                  <a:gd name="T12" fmla="*/ 24 w 48"/>
                  <a:gd name="T13" fmla="*/ 4 h 48"/>
                  <a:gd name="T14" fmla="*/ 4 w 48"/>
                  <a:gd name="T15" fmla="*/ 24 h 48"/>
                  <a:gd name="T16" fmla="*/ 24 w 48"/>
                  <a:gd name="T17" fmla="*/ 44 h 48"/>
                  <a:gd name="T18" fmla="*/ 26 w 48"/>
                  <a:gd name="T19" fmla="*/ 46 h 48"/>
                  <a:gd name="T20" fmla="*/ 24 w 48"/>
                  <a:gd name="T2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25"/>
                      <a:pt x="47" y="26"/>
                      <a:pt x="46" y="26"/>
                    </a:cubicBezTo>
                    <a:cubicBezTo>
                      <a:pt x="45" y="26"/>
                      <a:pt x="44" y="25"/>
                      <a:pt x="44" y="24"/>
                    </a:cubicBezTo>
                    <a:cubicBezTo>
                      <a:pt x="44" y="13"/>
                      <a:pt x="35" y="4"/>
                      <a:pt x="24" y="4"/>
                    </a:cubicBezTo>
                    <a:cubicBezTo>
                      <a:pt x="13" y="4"/>
                      <a:pt x="4" y="13"/>
                      <a:pt x="4" y="24"/>
                    </a:cubicBezTo>
                    <a:cubicBezTo>
                      <a:pt x="4" y="35"/>
                      <a:pt x="13" y="44"/>
                      <a:pt x="24" y="44"/>
                    </a:cubicBezTo>
                    <a:cubicBezTo>
                      <a:pt x="25" y="44"/>
                      <a:pt x="26" y="45"/>
                      <a:pt x="26" y="46"/>
                    </a:cubicBezTo>
                    <a:cubicBezTo>
                      <a:pt x="26" y="47"/>
                      <a:pt x="25" y="48"/>
                      <a:pt x="24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2FFF31C-A36D-F56E-9EB7-9CB0895EA742}"/>
              </a:ext>
            </a:extLst>
          </p:cNvPr>
          <p:cNvSpPr txBox="1"/>
          <p:nvPr/>
        </p:nvSpPr>
        <p:spPr>
          <a:xfrm>
            <a:off x="4198189" y="339678"/>
            <a:ext cx="7153552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cs typeface="Arial"/>
              </a:rPr>
              <a:t>Lorem ipsum dolor sit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adipiscing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elit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sed do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eiusmod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tempor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incididunt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ut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labore et dolore magna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aliqua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D7643E-D694-6608-4D3D-170D9C102824}"/>
              </a:ext>
            </a:extLst>
          </p:cNvPr>
          <p:cNvSpPr txBox="1"/>
          <p:nvPr/>
        </p:nvSpPr>
        <p:spPr>
          <a:xfrm>
            <a:off x="4198189" y="1658381"/>
            <a:ext cx="7153552" cy="75405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cs typeface="Arial"/>
              </a:rPr>
              <a:t>Lorem ipsum dolor sit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adipiscing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elit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sed do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eiusmod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tempor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incididunt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ut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labore et dolore magna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aliqua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C2FD4F-9731-687C-7EB5-AA8E491F46DD}"/>
              </a:ext>
            </a:extLst>
          </p:cNvPr>
          <p:cNvSpPr txBox="1"/>
          <p:nvPr/>
        </p:nvSpPr>
        <p:spPr>
          <a:xfrm>
            <a:off x="4198189" y="2977084"/>
            <a:ext cx="7153552" cy="75405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cs typeface="Arial"/>
              </a:rPr>
              <a:t>Lorem ipsum dolor sit</a:t>
            </a:r>
          </a:p>
          <a:p>
            <a:pPr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cs typeface="Arial"/>
              </a:rPr>
              <a:t>ENT XX%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cs typeface="Arial"/>
              </a:rPr>
              <a:t> I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cs typeface="Arial"/>
              </a:rPr>
              <a:t>PS XX%</a:t>
            </a:r>
            <a:r>
              <a:rPr lang="en-US" sz="1200" dirty="0">
                <a:latin typeface="+mj-lt"/>
                <a:cs typeface="Arial"/>
              </a:rPr>
              <a:t> MM </a:t>
            </a:r>
            <a:r>
              <a:rPr lang="en-US" sz="1200" b="1" dirty="0">
                <a:latin typeface="+mj-lt"/>
                <a:cs typeface="Arial"/>
              </a:rPr>
              <a:t>I</a:t>
            </a:r>
            <a:r>
              <a:rPr lang="en-US" sz="1200" dirty="0">
                <a:latin typeface="+mj-lt"/>
                <a:cs typeface="Arial"/>
              </a:rPr>
              <a:t>XX%</a:t>
            </a:r>
            <a:r>
              <a:rPr lang="en-US" sz="1200" b="1" dirty="0">
                <a:latin typeface="+mj-lt"/>
                <a:cs typeface="Arial"/>
              </a:rPr>
              <a:t> I </a:t>
            </a:r>
            <a:r>
              <a:rPr lang="en-US" sz="1200" dirty="0">
                <a:latin typeface="+mj-lt"/>
                <a:cs typeface="Arial"/>
              </a:rPr>
              <a:t>WS XX%</a:t>
            </a:r>
            <a:endParaRPr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adipiscing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elit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sed do.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DE1875-EFEA-FA84-626C-AC6EB59ADD9C}"/>
              </a:ext>
            </a:extLst>
          </p:cNvPr>
          <p:cNvSpPr txBox="1"/>
          <p:nvPr/>
        </p:nvSpPr>
        <p:spPr>
          <a:xfrm>
            <a:off x="4198189" y="4206482"/>
            <a:ext cx="7153552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cs typeface="Arial"/>
              </a:rPr>
              <a:t>Lorem ipsum dolor sit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adipiscing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elit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sed do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eiusmod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tempor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incididunt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ut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labore et dolore magna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aliqua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462C49-24DC-E006-468B-EF89CA7A2DB7}"/>
              </a:ext>
            </a:extLst>
          </p:cNvPr>
          <p:cNvSpPr txBox="1"/>
          <p:nvPr/>
        </p:nvSpPr>
        <p:spPr>
          <a:xfrm>
            <a:off x="4198190" y="5498300"/>
            <a:ext cx="7153552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cs typeface="Arial"/>
              </a:rPr>
              <a:t>Lorem ipsum dolor sit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adipiscing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elit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, sed do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eiusmod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tempor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incididunt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ut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 labore et dolore magna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aliqua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  <a:sym typeface="Trebuchet MS" panose="020B0603020202020204" pitchFamily="34" charset="0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cs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78BB000-ADF0-8862-BB9A-0056558C36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23376" y="1663372"/>
            <a:ext cx="793988" cy="758354"/>
          </a:xfrm>
          <a:prstGeom prst="ellipse">
            <a:avLst/>
          </a:prstGeom>
          <a:solidFill>
            <a:schemeClr val="accent2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3" name="Graphic 23" descr="Bullseye outline">
            <a:extLst>
              <a:ext uri="{FF2B5EF4-FFF2-40B4-BE49-F238E27FC236}">
                <a16:creationId xmlns:a16="http://schemas.microsoft.com/office/drawing/2014/main" id="{6AA4CA2A-DF96-6F03-5A0A-B5A16B55BC26}"/>
              </a:ext>
            </a:extLst>
          </p:cNvPr>
          <p:cNvGrpSpPr/>
          <p:nvPr/>
        </p:nvGrpSpPr>
        <p:grpSpPr>
          <a:xfrm>
            <a:off x="3504672" y="1822360"/>
            <a:ext cx="426570" cy="426569"/>
            <a:chOff x="2141112" y="1112859"/>
            <a:chExt cx="341522" cy="341521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6606AE4-C425-8822-F785-AD8B3C77DACE}"/>
                </a:ext>
              </a:extLst>
            </p:cNvPr>
            <p:cNvSpPr/>
            <p:nvPr/>
          </p:nvSpPr>
          <p:spPr>
            <a:xfrm>
              <a:off x="2141112" y="1134699"/>
              <a:ext cx="319655" cy="319680"/>
            </a:xfrm>
            <a:custGeom>
              <a:avLst/>
              <a:gdLst>
                <a:gd name="connsiteX0" fmla="*/ 287292 w 319655"/>
                <a:gd name="connsiteY0" fmla="*/ 78746 h 319680"/>
                <a:gd name="connsiteX1" fmla="*/ 240935 w 319655"/>
                <a:gd name="connsiteY1" fmla="*/ 287343 h 319680"/>
                <a:gd name="connsiteX2" fmla="*/ 32338 w 319655"/>
                <a:gd name="connsiteY2" fmla="*/ 240986 h 319680"/>
                <a:gd name="connsiteX3" fmla="*/ 78695 w 319655"/>
                <a:gd name="connsiteY3" fmla="*/ 32388 h 319680"/>
                <a:gd name="connsiteX4" fmla="*/ 240935 w 319655"/>
                <a:gd name="connsiteY4" fmla="*/ 32388 h 319680"/>
                <a:gd name="connsiteX5" fmla="*/ 240935 w 319655"/>
                <a:gd name="connsiteY5" fmla="*/ 22129 h 319680"/>
                <a:gd name="connsiteX6" fmla="*/ 22129 w 319655"/>
                <a:gd name="connsiteY6" fmla="*/ 78746 h 319680"/>
                <a:gd name="connsiteX7" fmla="*/ 78746 w 319655"/>
                <a:gd name="connsiteY7" fmla="*/ 297552 h 319680"/>
                <a:gd name="connsiteX8" fmla="*/ 297552 w 319655"/>
                <a:gd name="connsiteY8" fmla="*/ 240935 h 319680"/>
                <a:gd name="connsiteX9" fmla="*/ 297552 w 319655"/>
                <a:gd name="connsiteY9" fmla="*/ 78746 h 31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9655" h="319680">
                  <a:moveTo>
                    <a:pt x="287292" y="78746"/>
                  </a:moveTo>
                  <a:cubicBezTo>
                    <a:pt x="332094" y="149150"/>
                    <a:pt x="311339" y="242542"/>
                    <a:pt x="240935" y="287343"/>
                  </a:cubicBezTo>
                  <a:cubicBezTo>
                    <a:pt x="170531" y="332144"/>
                    <a:pt x="77139" y="311389"/>
                    <a:pt x="32338" y="240986"/>
                  </a:cubicBezTo>
                  <a:cubicBezTo>
                    <a:pt x="-12464" y="170582"/>
                    <a:pt x="8291" y="77190"/>
                    <a:pt x="78695" y="32388"/>
                  </a:cubicBezTo>
                  <a:cubicBezTo>
                    <a:pt x="128189" y="893"/>
                    <a:pt x="191441" y="893"/>
                    <a:pt x="240935" y="32388"/>
                  </a:cubicBezTo>
                  <a:lnTo>
                    <a:pt x="240935" y="22129"/>
                  </a:lnTo>
                  <a:cubicBezTo>
                    <a:pt x="164879" y="-22659"/>
                    <a:pt x="66916" y="2690"/>
                    <a:pt x="22129" y="78746"/>
                  </a:cubicBezTo>
                  <a:cubicBezTo>
                    <a:pt x="-22659" y="154802"/>
                    <a:pt x="2690" y="252765"/>
                    <a:pt x="78746" y="297552"/>
                  </a:cubicBezTo>
                  <a:cubicBezTo>
                    <a:pt x="154802" y="342340"/>
                    <a:pt x="252765" y="316991"/>
                    <a:pt x="297552" y="240935"/>
                  </a:cubicBezTo>
                  <a:cubicBezTo>
                    <a:pt x="327023" y="190888"/>
                    <a:pt x="327023" y="128793"/>
                    <a:pt x="297552" y="78746"/>
                  </a:cubicBez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1F191B5-3A41-C244-6020-77669C5994BD}"/>
                </a:ext>
              </a:extLst>
            </p:cNvPr>
            <p:cNvSpPr/>
            <p:nvPr/>
          </p:nvSpPr>
          <p:spPr>
            <a:xfrm>
              <a:off x="2198035" y="1191570"/>
              <a:ext cx="205879" cy="205887"/>
            </a:xfrm>
            <a:custGeom>
              <a:avLst/>
              <a:gdLst>
                <a:gd name="connsiteX0" fmla="*/ 162299 w 205879"/>
                <a:gd name="connsiteY0" fmla="*/ 18845 h 205887"/>
                <a:gd name="connsiteX1" fmla="*/ 18845 w 205879"/>
                <a:gd name="connsiteY1" fmla="*/ 43589 h 205887"/>
                <a:gd name="connsiteX2" fmla="*/ 43589 w 205879"/>
                <a:gd name="connsiteY2" fmla="*/ 187043 h 205887"/>
                <a:gd name="connsiteX3" fmla="*/ 187043 w 205879"/>
                <a:gd name="connsiteY3" fmla="*/ 162299 h 205887"/>
                <a:gd name="connsiteX4" fmla="*/ 187043 w 205879"/>
                <a:gd name="connsiteY4" fmla="*/ 43589 h 205887"/>
                <a:gd name="connsiteX5" fmla="*/ 180763 w 205879"/>
                <a:gd name="connsiteY5" fmla="*/ 49865 h 205887"/>
                <a:gd name="connsiteX6" fmla="*/ 156023 w 205879"/>
                <a:gd name="connsiteY6" fmla="*/ 180719 h 205887"/>
                <a:gd name="connsiteX7" fmla="*/ 25169 w 205879"/>
                <a:gd name="connsiteY7" fmla="*/ 155979 h 205887"/>
                <a:gd name="connsiteX8" fmla="*/ 49909 w 205879"/>
                <a:gd name="connsiteY8" fmla="*/ 25125 h 205887"/>
                <a:gd name="connsiteX9" fmla="*/ 156023 w 205879"/>
                <a:gd name="connsiteY9" fmla="*/ 25125 h 205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5879" h="205887">
                  <a:moveTo>
                    <a:pt x="162299" y="18845"/>
                  </a:moveTo>
                  <a:cubicBezTo>
                    <a:pt x="115852" y="-13936"/>
                    <a:pt x="51625" y="-2858"/>
                    <a:pt x="18845" y="43589"/>
                  </a:cubicBezTo>
                  <a:cubicBezTo>
                    <a:pt x="-13936" y="90036"/>
                    <a:pt x="-2858" y="154263"/>
                    <a:pt x="43589" y="187043"/>
                  </a:cubicBezTo>
                  <a:cubicBezTo>
                    <a:pt x="90036" y="219824"/>
                    <a:pt x="154262" y="208746"/>
                    <a:pt x="187043" y="162299"/>
                  </a:cubicBezTo>
                  <a:cubicBezTo>
                    <a:pt x="212158" y="126714"/>
                    <a:pt x="212158" y="79174"/>
                    <a:pt x="187043" y="43589"/>
                  </a:cubicBezTo>
                  <a:lnTo>
                    <a:pt x="180763" y="49865"/>
                  </a:lnTo>
                  <a:cubicBezTo>
                    <a:pt x="210066" y="92831"/>
                    <a:pt x="198989" y="151416"/>
                    <a:pt x="156023" y="180719"/>
                  </a:cubicBezTo>
                  <a:cubicBezTo>
                    <a:pt x="113057" y="210021"/>
                    <a:pt x="54472" y="198945"/>
                    <a:pt x="25169" y="155979"/>
                  </a:cubicBezTo>
                  <a:cubicBezTo>
                    <a:pt x="-4133" y="113012"/>
                    <a:pt x="6943" y="54427"/>
                    <a:pt x="49909" y="25125"/>
                  </a:cubicBezTo>
                  <a:cubicBezTo>
                    <a:pt x="81913" y="3298"/>
                    <a:pt x="124019" y="3298"/>
                    <a:pt x="156023" y="25125"/>
                  </a:cubicBez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D8E0B3B-4391-C712-FE39-063071883425}"/>
                </a:ext>
              </a:extLst>
            </p:cNvPr>
            <p:cNvSpPr/>
            <p:nvPr/>
          </p:nvSpPr>
          <p:spPr>
            <a:xfrm>
              <a:off x="2255121" y="1248419"/>
              <a:ext cx="91939" cy="91951"/>
            </a:xfrm>
            <a:custGeom>
              <a:avLst/>
              <a:gdLst>
                <a:gd name="connsiteX0" fmla="*/ 46019 w 91939"/>
                <a:gd name="connsiteY0" fmla="*/ 8759 h 91951"/>
                <a:gd name="connsiteX1" fmla="*/ 56834 w 91939"/>
                <a:gd name="connsiteY1" fmla="*/ 10373 h 91951"/>
                <a:gd name="connsiteX2" fmla="*/ 63661 w 91939"/>
                <a:gd name="connsiteY2" fmla="*/ 3551 h 91951"/>
                <a:gd name="connsiteX3" fmla="*/ 3550 w 91939"/>
                <a:gd name="connsiteY3" fmla="*/ 28291 h 91951"/>
                <a:gd name="connsiteX4" fmla="*/ 28290 w 91939"/>
                <a:gd name="connsiteY4" fmla="*/ 88401 h 91951"/>
                <a:gd name="connsiteX5" fmla="*/ 88401 w 91939"/>
                <a:gd name="connsiteY5" fmla="*/ 63661 h 91951"/>
                <a:gd name="connsiteX6" fmla="*/ 88401 w 91939"/>
                <a:gd name="connsiteY6" fmla="*/ 28291 h 91951"/>
                <a:gd name="connsiteX7" fmla="*/ 81579 w 91939"/>
                <a:gd name="connsiteY7" fmla="*/ 35117 h 91951"/>
                <a:gd name="connsiteX8" fmla="*/ 56829 w 91939"/>
                <a:gd name="connsiteY8" fmla="*/ 81498 h 91951"/>
                <a:gd name="connsiteX9" fmla="*/ 10448 w 91939"/>
                <a:gd name="connsiteY9" fmla="*/ 56748 h 91951"/>
                <a:gd name="connsiteX10" fmla="*/ 35198 w 91939"/>
                <a:gd name="connsiteY10" fmla="*/ 10367 h 91951"/>
                <a:gd name="connsiteX11" fmla="*/ 46019 w 91939"/>
                <a:gd name="connsiteY11" fmla="*/ 8759 h 91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1939" h="91951">
                  <a:moveTo>
                    <a:pt x="46019" y="8759"/>
                  </a:moveTo>
                  <a:cubicBezTo>
                    <a:pt x="49684" y="8761"/>
                    <a:pt x="53329" y="9304"/>
                    <a:pt x="56834" y="10373"/>
                  </a:cubicBezTo>
                  <a:lnTo>
                    <a:pt x="63661" y="3551"/>
                  </a:lnTo>
                  <a:cubicBezTo>
                    <a:pt x="40230" y="-6217"/>
                    <a:pt x="13318" y="4860"/>
                    <a:pt x="3550" y="28291"/>
                  </a:cubicBezTo>
                  <a:cubicBezTo>
                    <a:pt x="-6217" y="51722"/>
                    <a:pt x="4860" y="78634"/>
                    <a:pt x="28290" y="88401"/>
                  </a:cubicBezTo>
                  <a:cubicBezTo>
                    <a:pt x="51721" y="98168"/>
                    <a:pt x="78634" y="87092"/>
                    <a:pt x="88401" y="63661"/>
                  </a:cubicBezTo>
                  <a:cubicBezTo>
                    <a:pt x="93119" y="52343"/>
                    <a:pt x="93119" y="39609"/>
                    <a:pt x="88401" y="28291"/>
                  </a:cubicBezTo>
                  <a:lnTo>
                    <a:pt x="81579" y="35117"/>
                  </a:lnTo>
                  <a:cubicBezTo>
                    <a:pt x="87552" y="54759"/>
                    <a:pt x="76471" y="75525"/>
                    <a:pt x="56829" y="81498"/>
                  </a:cubicBezTo>
                  <a:cubicBezTo>
                    <a:pt x="37187" y="87471"/>
                    <a:pt x="16421" y="76390"/>
                    <a:pt x="10448" y="56748"/>
                  </a:cubicBezTo>
                  <a:cubicBezTo>
                    <a:pt x="4475" y="37106"/>
                    <a:pt x="15556" y="16340"/>
                    <a:pt x="35198" y="10367"/>
                  </a:cubicBezTo>
                  <a:cubicBezTo>
                    <a:pt x="38706" y="9301"/>
                    <a:pt x="42352" y="8759"/>
                    <a:pt x="46019" y="8759"/>
                  </a:cubicBez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A893CDB-08B6-B34C-9E0B-F2F657001780}"/>
                </a:ext>
              </a:extLst>
            </p:cNvPr>
            <p:cNvSpPr/>
            <p:nvPr/>
          </p:nvSpPr>
          <p:spPr>
            <a:xfrm>
              <a:off x="2296713" y="1112859"/>
              <a:ext cx="185921" cy="185920"/>
            </a:xfrm>
            <a:custGeom>
              <a:avLst/>
              <a:gdLst>
                <a:gd name="connsiteX0" fmla="*/ 185589 w 185921"/>
                <a:gd name="connsiteY0" fmla="*/ 42058 h 185920"/>
                <a:gd name="connsiteX1" fmla="*/ 181548 w 185921"/>
                <a:gd name="connsiteY1" fmla="*/ 39359 h 185920"/>
                <a:gd name="connsiteX2" fmla="*/ 146561 w 185921"/>
                <a:gd name="connsiteY2" fmla="*/ 39359 h 185920"/>
                <a:gd name="connsiteX3" fmla="*/ 146561 w 185921"/>
                <a:gd name="connsiteY3" fmla="*/ 4372 h 185920"/>
                <a:gd name="connsiteX4" fmla="*/ 142187 w 185921"/>
                <a:gd name="connsiteY4" fmla="*/ 0 h 185920"/>
                <a:gd name="connsiteX5" fmla="*/ 139096 w 185921"/>
                <a:gd name="connsiteY5" fmla="*/ 1280 h 185920"/>
                <a:gd name="connsiteX6" fmla="*/ 99736 w 185921"/>
                <a:gd name="connsiteY6" fmla="*/ 40641 h 185920"/>
                <a:gd name="connsiteX7" fmla="*/ 98454 w 185921"/>
                <a:gd name="connsiteY7" fmla="*/ 43733 h 185920"/>
                <a:gd name="connsiteX8" fmla="*/ 98454 w 185921"/>
                <a:gd name="connsiteY8" fmla="*/ 81282 h 185920"/>
                <a:gd name="connsiteX9" fmla="*/ 1335 w 185921"/>
                <a:gd name="connsiteY9" fmla="*/ 178401 h 185920"/>
                <a:gd name="connsiteX10" fmla="*/ 1228 w 185921"/>
                <a:gd name="connsiteY10" fmla="*/ 184585 h 185920"/>
                <a:gd name="connsiteX11" fmla="*/ 7412 w 185921"/>
                <a:gd name="connsiteY11" fmla="*/ 184692 h 185920"/>
                <a:gd name="connsiteX12" fmla="*/ 7519 w 185921"/>
                <a:gd name="connsiteY12" fmla="*/ 184585 h 185920"/>
                <a:gd name="connsiteX13" fmla="*/ 104638 w 185921"/>
                <a:gd name="connsiteY13" fmla="*/ 87466 h 185920"/>
                <a:gd name="connsiteX14" fmla="*/ 142188 w 185921"/>
                <a:gd name="connsiteY14" fmla="*/ 87466 h 185920"/>
                <a:gd name="connsiteX15" fmla="*/ 145280 w 185921"/>
                <a:gd name="connsiteY15" fmla="*/ 86185 h 185920"/>
                <a:gd name="connsiteX16" fmla="*/ 184640 w 185921"/>
                <a:gd name="connsiteY16" fmla="*/ 46824 h 185920"/>
                <a:gd name="connsiteX17" fmla="*/ 185589 w 185921"/>
                <a:gd name="connsiteY17" fmla="*/ 42058 h 185920"/>
                <a:gd name="connsiteX18" fmla="*/ 107201 w 185921"/>
                <a:gd name="connsiteY18" fmla="*/ 45543 h 185920"/>
                <a:gd name="connsiteX19" fmla="*/ 137740 w 185921"/>
                <a:gd name="connsiteY19" fmla="*/ 15004 h 185920"/>
                <a:gd name="connsiteX20" fmla="*/ 137814 w 185921"/>
                <a:gd name="connsiteY20" fmla="*/ 15035 h 185920"/>
                <a:gd name="connsiteX21" fmla="*/ 137814 w 185921"/>
                <a:gd name="connsiteY21" fmla="*/ 41922 h 185920"/>
                <a:gd name="connsiteX22" fmla="*/ 107201 w 185921"/>
                <a:gd name="connsiteY22" fmla="*/ 72535 h 185920"/>
                <a:gd name="connsiteX23" fmla="*/ 140377 w 185921"/>
                <a:gd name="connsiteY23" fmla="*/ 78719 h 185920"/>
                <a:gd name="connsiteX24" fmla="*/ 113385 w 185921"/>
                <a:gd name="connsiteY24" fmla="*/ 78719 h 185920"/>
                <a:gd name="connsiteX25" fmla="*/ 143998 w 185921"/>
                <a:gd name="connsiteY25" fmla="*/ 48106 h 185920"/>
                <a:gd name="connsiteX26" fmla="*/ 170885 w 185921"/>
                <a:gd name="connsiteY26" fmla="*/ 48106 h 185920"/>
                <a:gd name="connsiteX27" fmla="*/ 170916 w 185921"/>
                <a:gd name="connsiteY27" fmla="*/ 48180 h 18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5921" h="185920">
                  <a:moveTo>
                    <a:pt x="185589" y="42058"/>
                  </a:moveTo>
                  <a:cubicBezTo>
                    <a:pt x="184911" y="40424"/>
                    <a:pt x="183316" y="39359"/>
                    <a:pt x="181548" y="39359"/>
                  </a:cubicBezTo>
                  <a:lnTo>
                    <a:pt x="146561" y="39359"/>
                  </a:lnTo>
                  <a:lnTo>
                    <a:pt x="146561" y="4372"/>
                  </a:lnTo>
                  <a:cubicBezTo>
                    <a:pt x="146561" y="1957"/>
                    <a:pt x="144602" y="0"/>
                    <a:pt x="142187" y="0"/>
                  </a:cubicBezTo>
                  <a:cubicBezTo>
                    <a:pt x="141027" y="0"/>
                    <a:pt x="139916" y="461"/>
                    <a:pt x="139096" y="1280"/>
                  </a:cubicBezTo>
                  <a:lnTo>
                    <a:pt x="99736" y="40641"/>
                  </a:lnTo>
                  <a:cubicBezTo>
                    <a:pt x="98916" y="41461"/>
                    <a:pt x="98455" y="42573"/>
                    <a:pt x="98454" y="43733"/>
                  </a:cubicBezTo>
                  <a:lnTo>
                    <a:pt x="98454" y="81282"/>
                  </a:lnTo>
                  <a:lnTo>
                    <a:pt x="1335" y="178401"/>
                  </a:lnTo>
                  <a:cubicBezTo>
                    <a:pt x="-402" y="180079"/>
                    <a:pt x="-450" y="182847"/>
                    <a:pt x="1228" y="184585"/>
                  </a:cubicBezTo>
                  <a:cubicBezTo>
                    <a:pt x="2906" y="186322"/>
                    <a:pt x="5675" y="186370"/>
                    <a:pt x="7412" y="184692"/>
                  </a:cubicBezTo>
                  <a:cubicBezTo>
                    <a:pt x="7448" y="184657"/>
                    <a:pt x="7484" y="184621"/>
                    <a:pt x="7519" y="184585"/>
                  </a:cubicBezTo>
                  <a:lnTo>
                    <a:pt x="104638" y="87466"/>
                  </a:lnTo>
                  <a:lnTo>
                    <a:pt x="142188" y="87466"/>
                  </a:lnTo>
                  <a:cubicBezTo>
                    <a:pt x="143347" y="87466"/>
                    <a:pt x="144460" y="87005"/>
                    <a:pt x="145280" y="86185"/>
                  </a:cubicBezTo>
                  <a:lnTo>
                    <a:pt x="184640" y="46824"/>
                  </a:lnTo>
                  <a:cubicBezTo>
                    <a:pt x="185891" y="45574"/>
                    <a:pt x="186266" y="43692"/>
                    <a:pt x="185589" y="42058"/>
                  </a:cubicBezTo>
                  <a:close/>
                  <a:moveTo>
                    <a:pt x="107201" y="45543"/>
                  </a:moveTo>
                  <a:lnTo>
                    <a:pt x="137740" y="15004"/>
                  </a:lnTo>
                  <a:cubicBezTo>
                    <a:pt x="137779" y="14965"/>
                    <a:pt x="137814" y="14978"/>
                    <a:pt x="137814" y="15035"/>
                  </a:cubicBezTo>
                  <a:lnTo>
                    <a:pt x="137814" y="41922"/>
                  </a:lnTo>
                  <a:lnTo>
                    <a:pt x="107201" y="72535"/>
                  </a:lnTo>
                  <a:close/>
                  <a:moveTo>
                    <a:pt x="140377" y="78719"/>
                  </a:moveTo>
                  <a:lnTo>
                    <a:pt x="113385" y="78719"/>
                  </a:lnTo>
                  <a:lnTo>
                    <a:pt x="143998" y="48106"/>
                  </a:lnTo>
                  <a:lnTo>
                    <a:pt x="170885" y="48106"/>
                  </a:lnTo>
                  <a:cubicBezTo>
                    <a:pt x="170942" y="48106"/>
                    <a:pt x="170955" y="48141"/>
                    <a:pt x="170916" y="48180"/>
                  </a:cubicBezTo>
                  <a:close/>
                </a:path>
              </a:pathLst>
            </a:custGeom>
            <a:grpFill/>
            <a:ln w="43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DE3E4E57-642A-2273-1D7D-34DEE8854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23376" y="2977728"/>
            <a:ext cx="758354" cy="758354"/>
          </a:xfrm>
          <a:prstGeom prst="ellipse">
            <a:avLst/>
          </a:prstGeom>
          <a:solidFill>
            <a:schemeClr val="accent2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6FC2F8F-3F44-D3D4-4287-378649FAB61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323373" y="4233085"/>
            <a:ext cx="758353" cy="758353"/>
            <a:chOff x="2861088" y="3511790"/>
            <a:chExt cx="844618" cy="844618"/>
          </a:xfrm>
        </p:grpSpPr>
        <p:pic>
          <p:nvPicPr>
            <p:cNvPr id="29" name="Graphic 28" descr="Plug outline">
              <a:extLst>
                <a:ext uri="{FF2B5EF4-FFF2-40B4-BE49-F238E27FC236}">
                  <a16:creationId xmlns:a16="http://schemas.microsoft.com/office/drawing/2014/main" id="{40BA79B8-9D41-AE83-CC22-069B02945E5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03172" y="3540201"/>
              <a:ext cx="478585" cy="478585"/>
            </a:xfrm>
            <a:prstGeom prst="rect">
              <a:avLst/>
            </a:prstGeom>
          </p:spPr>
        </p:pic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5DFFEFD-E231-CD52-C9A4-AE13380122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61088" y="3511790"/>
              <a:ext cx="844618" cy="844618"/>
            </a:xfrm>
            <a:prstGeom prst="ellipse">
              <a:avLst/>
            </a:prstGeom>
            <a:solidFill>
              <a:schemeClr val="accent2"/>
            </a:solidFill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D3FF73DE-FEE3-0A97-66F9-2BC10FCE20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77961" y="308816"/>
            <a:ext cx="793988" cy="758354"/>
          </a:xfrm>
          <a:prstGeom prst="ellipse">
            <a:avLst/>
          </a:prstGeom>
          <a:solidFill>
            <a:schemeClr val="accent2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D10925A-8C65-E285-137E-09FCBC1353B4}"/>
              </a:ext>
            </a:extLst>
          </p:cNvPr>
          <p:cNvSpPr/>
          <p:nvPr/>
        </p:nvSpPr>
        <p:spPr>
          <a:xfrm>
            <a:off x="3323376" y="5488456"/>
            <a:ext cx="758354" cy="758354"/>
          </a:xfrm>
          <a:prstGeom prst="ellipse">
            <a:avLst/>
          </a:prstGeom>
          <a:solidFill>
            <a:schemeClr val="accent2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4" name="Graphic 3" descr="Bar chart outline">
            <a:extLst>
              <a:ext uri="{FF2B5EF4-FFF2-40B4-BE49-F238E27FC236}">
                <a16:creationId xmlns:a16="http://schemas.microsoft.com/office/drawing/2014/main" id="{E63A2301-2450-38C7-FBB4-627731B67D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6637" y="414613"/>
            <a:ext cx="488098" cy="488098"/>
          </a:xfrm>
          <a:prstGeom prst="rect">
            <a:avLst/>
          </a:prstGeom>
        </p:spPr>
      </p:pic>
      <p:grpSp>
        <p:nvGrpSpPr>
          <p:cNvPr id="40" name="Graphic 38" descr="Checklist outline">
            <a:extLst>
              <a:ext uri="{FF2B5EF4-FFF2-40B4-BE49-F238E27FC236}">
                <a16:creationId xmlns:a16="http://schemas.microsoft.com/office/drawing/2014/main" id="{685988C4-8FC4-2241-E40B-6213C68BCC0F}"/>
              </a:ext>
            </a:extLst>
          </p:cNvPr>
          <p:cNvGrpSpPr/>
          <p:nvPr/>
        </p:nvGrpSpPr>
        <p:grpSpPr>
          <a:xfrm>
            <a:off x="3553562" y="3174891"/>
            <a:ext cx="268828" cy="358437"/>
            <a:chOff x="3397010" y="2958456"/>
            <a:chExt cx="571500" cy="762000"/>
          </a:xfrm>
          <a:solidFill>
            <a:schemeClr val="bg1"/>
          </a:solidFill>
        </p:grpSpPr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882E227F-30DE-2AB1-CB81-681401F2EEF6}"/>
                </a:ext>
              </a:extLst>
            </p:cNvPr>
            <p:cNvSpPr/>
            <p:nvPr/>
          </p:nvSpPr>
          <p:spPr>
            <a:xfrm>
              <a:off x="3495050" y="3066021"/>
              <a:ext cx="137293" cy="105927"/>
            </a:xfrm>
            <a:custGeom>
              <a:avLst/>
              <a:gdLst>
                <a:gd name="connsiteX0" fmla="*/ 44834 w 137293"/>
                <a:gd name="connsiteY0" fmla="*/ 78991 h 105927"/>
                <a:gd name="connsiteX1" fmla="*/ 13468 w 137293"/>
                <a:gd name="connsiteY1" fmla="*/ 47625 h 105927"/>
                <a:gd name="connsiteX2" fmla="*/ 0 w 137293"/>
                <a:gd name="connsiteY2" fmla="*/ 61093 h 105927"/>
                <a:gd name="connsiteX3" fmla="*/ 44834 w 137293"/>
                <a:gd name="connsiteY3" fmla="*/ 105928 h 105927"/>
                <a:gd name="connsiteX4" fmla="*/ 137293 w 137293"/>
                <a:gd name="connsiteY4" fmla="*/ 13468 h 105927"/>
                <a:gd name="connsiteX5" fmla="*/ 123825 w 137293"/>
                <a:gd name="connsiteY5" fmla="*/ 0 h 105927"/>
                <a:gd name="connsiteX6" fmla="*/ 44834 w 137293"/>
                <a:gd name="connsiteY6" fmla="*/ 78991 h 10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293" h="105927">
                  <a:moveTo>
                    <a:pt x="44834" y="78991"/>
                  </a:moveTo>
                  <a:lnTo>
                    <a:pt x="13468" y="47625"/>
                  </a:lnTo>
                  <a:lnTo>
                    <a:pt x="0" y="61093"/>
                  </a:lnTo>
                  <a:lnTo>
                    <a:pt x="44834" y="105928"/>
                  </a:lnTo>
                  <a:lnTo>
                    <a:pt x="137293" y="13468"/>
                  </a:lnTo>
                  <a:lnTo>
                    <a:pt x="123825" y="0"/>
                  </a:lnTo>
                  <a:lnTo>
                    <a:pt x="44834" y="7899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E31E02A9-1BA4-1325-38C7-EB2A657EF5AE}"/>
                </a:ext>
              </a:extLst>
            </p:cNvPr>
            <p:cNvSpPr/>
            <p:nvPr/>
          </p:nvSpPr>
          <p:spPr>
            <a:xfrm>
              <a:off x="3692285" y="3120381"/>
              <a:ext cx="180975" cy="19050"/>
            </a:xfrm>
            <a:custGeom>
              <a:avLst/>
              <a:gdLst>
                <a:gd name="connsiteX0" fmla="*/ 0 w 180975"/>
                <a:gd name="connsiteY0" fmla="*/ 0 h 19050"/>
                <a:gd name="connsiteX1" fmla="*/ 180975 w 180975"/>
                <a:gd name="connsiteY1" fmla="*/ 0 h 19050"/>
                <a:gd name="connsiteX2" fmla="*/ 180975 w 180975"/>
                <a:gd name="connsiteY2" fmla="*/ 19050 h 19050"/>
                <a:gd name="connsiteX3" fmla="*/ 0 w 180975"/>
                <a:gd name="connsiteY3" fmla="*/ 1905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975" h="19050">
                  <a:moveTo>
                    <a:pt x="0" y="0"/>
                  </a:moveTo>
                  <a:lnTo>
                    <a:pt x="180975" y="0"/>
                  </a:lnTo>
                  <a:lnTo>
                    <a:pt x="180975" y="19050"/>
                  </a:lnTo>
                  <a:lnTo>
                    <a:pt x="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C7AF0F8B-DD78-5E90-EBC3-2EE72244707D}"/>
                </a:ext>
              </a:extLst>
            </p:cNvPr>
            <p:cNvSpPr/>
            <p:nvPr/>
          </p:nvSpPr>
          <p:spPr>
            <a:xfrm>
              <a:off x="3495050" y="3208896"/>
              <a:ext cx="137293" cy="105927"/>
            </a:xfrm>
            <a:custGeom>
              <a:avLst/>
              <a:gdLst>
                <a:gd name="connsiteX0" fmla="*/ 44834 w 137293"/>
                <a:gd name="connsiteY0" fmla="*/ 78991 h 105927"/>
                <a:gd name="connsiteX1" fmla="*/ 13468 w 137293"/>
                <a:gd name="connsiteY1" fmla="*/ 47625 h 105927"/>
                <a:gd name="connsiteX2" fmla="*/ 0 w 137293"/>
                <a:gd name="connsiteY2" fmla="*/ 61093 h 105927"/>
                <a:gd name="connsiteX3" fmla="*/ 44834 w 137293"/>
                <a:gd name="connsiteY3" fmla="*/ 105928 h 105927"/>
                <a:gd name="connsiteX4" fmla="*/ 137293 w 137293"/>
                <a:gd name="connsiteY4" fmla="*/ 13468 h 105927"/>
                <a:gd name="connsiteX5" fmla="*/ 123825 w 137293"/>
                <a:gd name="connsiteY5" fmla="*/ 0 h 105927"/>
                <a:gd name="connsiteX6" fmla="*/ 44834 w 137293"/>
                <a:gd name="connsiteY6" fmla="*/ 78991 h 10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293" h="105927">
                  <a:moveTo>
                    <a:pt x="44834" y="78991"/>
                  </a:moveTo>
                  <a:lnTo>
                    <a:pt x="13468" y="47625"/>
                  </a:lnTo>
                  <a:lnTo>
                    <a:pt x="0" y="61093"/>
                  </a:lnTo>
                  <a:lnTo>
                    <a:pt x="44834" y="105928"/>
                  </a:lnTo>
                  <a:lnTo>
                    <a:pt x="137293" y="13468"/>
                  </a:lnTo>
                  <a:lnTo>
                    <a:pt x="123825" y="0"/>
                  </a:lnTo>
                  <a:lnTo>
                    <a:pt x="44834" y="7899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6589CEA7-8353-49F3-EC9D-0E6B0A98B80A}"/>
                </a:ext>
              </a:extLst>
            </p:cNvPr>
            <p:cNvSpPr/>
            <p:nvPr/>
          </p:nvSpPr>
          <p:spPr>
            <a:xfrm>
              <a:off x="3692285" y="3263256"/>
              <a:ext cx="180975" cy="19050"/>
            </a:xfrm>
            <a:custGeom>
              <a:avLst/>
              <a:gdLst>
                <a:gd name="connsiteX0" fmla="*/ 0 w 180975"/>
                <a:gd name="connsiteY0" fmla="*/ 0 h 19050"/>
                <a:gd name="connsiteX1" fmla="*/ 180975 w 180975"/>
                <a:gd name="connsiteY1" fmla="*/ 0 h 19050"/>
                <a:gd name="connsiteX2" fmla="*/ 180975 w 180975"/>
                <a:gd name="connsiteY2" fmla="*/ 19050 h 19050"/>
                <a:gd name="connsiteX3" fmla="*/ 0 w 180975"/>
                <a:gd name="connsiteY3" fmla="*/ 1905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975" h="19050">
                  <a:moveTo>
                    <a:pt x="0" y="0"/>
                  </a:moveTo>
                  <a:lnTo>
                    <a:pt x="180975" y="0"/>
                  </a:lnTo>
                  <a:lnTo>
                    <a:pt x="180975" y="19050"/>
                  </a:lnTo>
                  <a:lnTo>
                    <a:pt x="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6DA7403E-9494-C8A8-FD8E-A64A7A589CD5}"/>
                </a:ext>
              </a:extLst>
            </p:cNvPr>
            <p:cNvSpPr/>
            <p:nvPr/>
          </p:nvSpPr>
          <p:spPr>
            <a:xfrm>
              <a:off x="3495050" y="3351771"/>
              <a:ext cx="137293" cy="105927"/>
            </a:xfrm>
            <a:custGeom>
              <a:avLst/>
              <a:gdLst>
                <a:gd name="connsiteX0" fmla="*/ 44834 w 137293"/>
                <a:gd name="connsiteY0" fmla="*/ 78991 h 105927"/>
                <a:gd name="connsiteX1" fmla="*/ 13468 w 137293"/>
                <a:gd name="connsiteY1" fmla="*/ 47625 h 105927"/>
                <a:gd name="connsiteX2" fmla="*/ 0 w 137293"/>
                <a:gd name="connsiteY2" fmla="*/ 61093 h 105927"/>
                <a:gd name="connsiteX3" fmla="*/ 44834 w 137293"/>
                <a:gd name="connsiteY3" fmla="*/ 105928 h 105927"/>
                <a:gd name="connsiteX4" fmla="*/ 137293 w 137293"/>
                <a:gd name="connsiteY4" fmla="*/ 13468 h 105927"/>
                <a:gd name="connsiteX5" fmla="*/ 123825 w 137293"/>
                <a:gd name="connsiteY5" fmla="*/ 0 h 105927"/>
                <a:gd name="connsiteX6" fmla="*/ 44834 w 137293"/>
                <a:gd name="connsiteY6" fmla="*/ 78991 h 10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293" h="105927">
                  <a:moveTo>
                    <a:pt x="44834" y="78991"/>
                  </a:moveTo>
                  <a:lnTo>
                    <a:pt x="13468" y="47625"/>
                  </a:lnTo>
                  <a:lnTo>
                    <a:pt x="0" y="61093"/>
                  </a:lnTo>
                  <a:lnTo>
                    <a:pt x="44834" y="105928"/>
                  </a:lnTo>
                  <a:lnTo>
                    <a:pt x="137293" y="13468"/>
                  </a:lnTo>
                  <a:lnTo>
                    <a:pt x="123825" y="0"/>
                  </a:lnTo>
                  <a:lnTo>
                    <a:pt x="44834" y="7899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929BA5A-96F5-6E62-1A9D-FF3D49FBFA13}"/>
                </a:ext>
              </a:extLst>
            </p:cNvPr>
            <p:cNvSpPr/>
            <p:nvPr/>
          </p:nvSpPr>
          <p:spPr>
            <a:xfrm>
              <a:off x="3692285" y="3406131"/>
              <a:ext cx="180975" cy="19050"/>
            </a:xfrm>
            <a:custGeom>
              <a:avLst/>
              <a:gdLst>
                <a:gd name="connsiteX0" fmla="*/ 0 w 180975"/>
                <a:gd name="connsiteY0" fmla="*/ 0 h 19050"/>
                <a:gd name="connsiteX1" fmla="*/ 180975 w 180975"/>
                <a:gd name="connsiteY1" fmla="*/ 0 h 19050"/>
                <a:gd name="connsiteX2" fmla="*/ 180975 w 180975"/>
                <a:gd name="connsiteY2" fmla="*/ 19050 h 19050"/>
                <a:gd name="connsiteX3" fmla="*/ 0 w 180975"/>
                <a:gd name="connsiteY3" fmla="*/ 1905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975" h="19050">
                  <a:moveTo>
                    <a:pt x="0" y="0"/>
                  </a:moveTo>
                  <a:lnTo>
                    <a:pt x="180975" y="0"/>
                  </a:lnTo>
                  <a:lnTo>
                    <a:pt x="180975" y="19050"/>
                  </a:lnTo>
                  <a:lnTo>
                    <a:pt x="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C81AD991-7FD7-574B-0BBC-BDB0A440012F}"/>
                </a:ext>
              </a:extLst>
            </p:cNvPr>
            <p:cNvSpPr/>
            <p:nvPr/>
          </p:nvSpPr>
          <p:spPr>
            <a:xfrm>
              <a:off x="3495050" y="3494646"/>
              <a:ext cx="137293" cy="105927"/>
            </a:xfrm>
            <a:custGeom>
              <a:avLst/>
              <a:gdLst>
                <a:gd name="connsiteX0" fmla="*/ 44834 w 137293"/>
                <a:gd name="connsiteY0" fmla="*/ 78991 h 105927"/>
                <a:gd name="connsiteX1" fmla="*/ 13468 w 137293"/>
                <a:gd name="connsiteY1" fmla="*/ 47625 h 105927"/>
                <a:gd name="connsiteX2" fmla="*/ 0 w 137293"/>
                <a:gd name="connsiteY2" fmla="*/ 61093 h 105927"/>
                <a:gd name="connsiteX3" fmla="*/ 44834 w 137293"/>
                <a:gd name="connsiteY3" fmla="*/ 105928 h 105927"/>
                <a:gd name="connsiteX4" fmla="*/ 137293 w 137293"/>
                <a:gd name="connsiteY4" fmla="*/ 13468 h 105927"/>
                <a:gd name="connsiteX5" fmla="*/ 123825 w 137293"/>
                <a:gd name="connsiteY5" fmla="*/ 0 h 105927"/>
                <a:gd name="connsiteX6" fmla="*/ 44834 w 137293"/>
                <a:gd name="connsiteY6" fmla="*/ 78991 h 10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293" h="105927">
                  <a:moveTo>
                    <a:pt x="44834" y="78991"/>
                  </a:moveTo>
                  <a:lnTo>
                    <a:pt x="13468" y="47625"/>
                  </a:lnTo>
                  <a:lnTo>
                    <a:pt x="0" y="61093"/>
                  </a:lnTo>
                  <a:lnTo>
                    <a:pt x="44834" y="105928"/>
                  </a:lnTo>
                  <a:lnTo>
                    <a:pt x="137293" y="13468"/>
                  </a:lnTo>
                  <a:lnTo>
                    <a:pt x="123825" y="0"/>
                  </a:lnTo>
                  <a:lnTo>
                    <a:pt x="44834" y="7899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2FAF148D-B68E-98DC-5F0D-C6DD6014FE4C}"/>
                </a:ext>
              </a:extLst>
            </p:cNvPr>
            <p:cNvSpPr/>
            <p:nvPr/>
          </p:nvSpPr>
          <p:spPr>
            <a:xfrm>
              <a:off x="3692285" y="3549006"/>
              <a:ext cx="180975" cy="19050"/>
            </a:xfrm>
            <a:custGeom>
              <a:avLst/>
              <a:gdLst>
                <a:gd name="connsiteX0" fmla="*/ 0 w 180975"/>
                <a:gd name="connsiteY0" fmla="*/ 0 h 19050"/>
                <a:gd name="connsiteX1" fmla="*/ 180975 w 180975"/>
                <a:gd name="connsiteY1" fmla="*/ 0 h 19050"/>
                <a:gd name="connsiteX2" fmla="*/ 180975 w 180975"/>
                <a:gd name="connsiteY2" fmla="*/ 19050 h 19050"/>
                <a:gd name="connsiteX3" fmla="*/ 0 w 180975"/>
                <a:gd name="connsiteY3" fmla="*/ 1905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975" h="19050">
                  <a:moveTo>
                    <a:pt x="0" y="0"/>
                  </a:moveTo>
                  <a:lnTo>
                    <a:pt x="180975" y="0"/>
                  </a:lnTo>
                  <a:lnTo>
                    <a:pt x="180975" y="19050"/>
                  </a:lnTo>
                  <a:lnTo>
                    <a:pt x="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22F0CC53-1ED3-399C-14ED-99C57481D52F}"/>
                </a:ext>
              </a:extLst>
            </p:cNvPr>
            <p:cNvSpPr/>
            <p:nvPr/>
          </p:nvSpPr>
          <p:spPr>
            <a:xfrm>
              <a:off x="3397010" y="2958456"/>
              <a:ext cx="571500" cy="762000"/>
            </a:xfrm>
            <a:custGeom>
              <a:avLst/>
              <a:gdLst>
                <a:gd name="connsiteX0" fmla="*/ 0 w 571500"/>
                <a:gd name="connsiteY0" fmla="*/ 762000 h 762000"/>
                <a:gd name="connsiteX1" fmla="*/ 571500 w 571500"/>
                <a:gd name="connsiteY1" fmla="*/ 762000 h 762000"/>
                <a:gd name="connsiteX2" fmla="*/ 571500 w 571500"/>
                <a:gd name="connsiteY2" fmla="*/ 0 h 762000"/>
                <a:gd name="connsiteX3" fmla="*/ 0 w 571500"/>
                <a:gd name="connsiteY3" fmla="*/ 0 h 762000"/>
                <a:gd name="connsiteX4" fmla="*/ 19050 w 571500"/>
                <a:gd name="connsiteY4" fmla="*/ 19050 h 762000"/>
                <a:gd name="connsiteX5" fmla="*/ 552450 w 571500"/>
                <a:gd name="connsiteY5" fmla="*/ 19050 h 762000"/>
                <a:gd name="connsiteX6" fmla="*/ 552450 w 571500"/>
                <a:gd name="connsiteY6" fmla="*/ 742950 h 762000"/>
                <a:gd name="connsiteX7" fmla="*/ 19050 w 571500"/>
                <a:gd name="connsiteY7" fmla="*/ 74295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1500" h="762000">
                  <a:moveTo>
                    <a:pt x="0" y="762000"/>
                  </a:moveTo>
                  <a:lnTo>
                    <a:pt x="571500" y="762000"/>
                  </a:lnTo>
                  <a:lnTo>
                    <a:pt x="571500" y="0"/>
                  </a:lnTo>
                  <a:lnTo>
                    <a:pt x="0" y="0"/>
                  </a:lnTo>
                  <a:close/>
                  <a:moveTo>
                    <a:pt x="19050" y="19050"/>
                  </a:moveTo>
                  <a:lnTo>
                    <a:pt x="552450" y="19050"/>
                  </a:lnTo>
                  <a:lnTo>
                    <a:pt x="552450" y="742950"/>
                  </a:lnTo>
                  <a:lnTo>
                    <a:pt x="19050" y="7429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2" name="Graphic 50" descr="Harvey Balls 80% outline">
            <a:extLst>
              <a:ext uri="{FF2B5EF4-FFF2-40B4-BE49-F238E27FC236}">
                <a16:creationId xmlns:a16="http://schemas.microsoft.com/office/drawing/2014/main" id="{DBAF8E69-9D61-0714-F316-AAFC5F5ED9B7}"/>
              </a:ext>
            </a:extLst>
          </p:cNvPr>
          <p:cNvGrpSpPr/>
          <p:nvPr/>
        </p:nvGrpSpPr>
        <p:grpSpPr>
          <a:xfrm>
            <a:off x="3511950" y="4428681"/>
            <a:ext cx="362047" cy="361998"/>
            <a:chOff x="3506936" y="4430293"/>
            <a:chExt cx="362047" cy="361998"/>
          </a:xfrm>
          <a:solidFill>
            <a:schemeClr val="bg1"/>
          </a:solidFill>
        </p:grpSpPr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3531C83C-AA8D-9318-CAB3-EB86FA3F6F73}"/>
                </a:ext>
              </a:extLst>
            </p:cNvPr>
            <p:cNvSpPr/>
            <p:nvPr/>
          </p:nvSpPr>
          <p:spPr>
            <a:xfrm>
              <a:off x="3588230" y="4472146"/>
              <a:ext cx="13258" cy="13268"/>
            </a:xfrm>
            <a:custGeom>
              <a:avLst/>
              <a:gdLst>
                <a:gd name="connsiteX0" fmla="*/ 8015 w 13258"/>
                <a:gd name="connsiteY0" fmla="*/ 0 h 13268"/>
                <a:gd name="connsiteX1" fmla="*/ 0 w 13258"/>
                <a:gd name="connsiteY1" fmla="*/ 5648 h 13268"/>
                <a:gd name="connsiteX2" fmla="*/ 5715 w 13258"/>
                <a:gd name="connsiteY2" fmla="*/ 13268 h 13268"/>
                <a:gd name="connsiteX3" fmla="*/ 13259 w 13258"/>
                <a:gd name="connsiteY3" fmla="*/ 7958 h 1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58" h="13268">
                  <a:moveTo>
                    <a:pt x="8015" y="0"/>
                  </a:moveTo>
                  <a:cubicBezTo>
                    <a:pt x="5285" y="1806"/>
                    <a:pt x="2613" y="3690"/>
                    <a:pt x="0" y="5648"/>
                  </a:cubicBezTo>
                  <a:lnTo>
                    <a:pt x="5715" y="13268"/>
                  </a:lnTo>
                  <a:cubicBezTo>
                    <a:pt x="8172" y="11430"/>
                    <a:pt x="10692" y="9649"/>
                    <a:pt x="13259" y="795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622E7613-77F3-1C38-A31F-AD25EA1852E3}"/>
                </a:ext>
              </a:extLst>
            </p:cNvPr>
            <p:cNvSpPr/>
            <p:nvPr/>
          </p:nvSpPr>
          <p:spPr>
            <a:xfrm>
              <a:off x="3631154" y="4451477"/>
              <a:ext cx="12025" cy="12030"/>
            </a:xfrm>
            <a:custGeom>
              <a:avLst/>
              <a:gdLst>
                <a:gd name="connsiteX0" fmla="*/ 9315 w 12025"/>
                <a:gd name="connsiteY0" fmla="*/ 0 h 12030"/>
                <a:gd name="connsiteX1" fmla="*/ 0 w 12025"/>
                <a:gd name="connsiteY1" fmla="*/ 3081 h 12030"/>
                <a:gd name="connsiteX2" fmla="*/ 3258 w 12025"/>
                <a:gd name="connsiteY2" fmla="*/ 12030 h 12030"/>
                <a:gd name="connsiteX3" fmla="*/ 12025 w 12025"/>
                <a:gd name="connsiteY3" fmla="*/ 9134 h 12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25" h="12030">
                  <a:moveTo>
                    <a:pt x="9315" y="0"/>
                  </a:moveTo>
                  <a:cubicBezTo>
                    <a:pt x="6166" y="952"/>
                    <a:pt x="3061" y="1980"/>
                    <a:pt x="0" y="3081"/>
                  </a:cubicBezTo>
                  <a:lnTo>
                    <a:pt x="3258" y="12030"/>
                  </a:lnTo>
                  <a:cubicBezTo>
                    <a:pt x="6144" y="10976"/>
                    <a:pt x="9066" y="10011"/>
                    <a:pt x="12025" y="913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B785B656-F5E3-88E6-E285-CC64FC3EA699}"/>
                </a:ext>
              </a:extLst>
            </p:cNvPr>
            <p:cNvSpPr/>
            <p:nvPr/>
          </p:nvSpPr>
          <p:spPr>
            <a:xfrm>
              <a:off x="3654728" y="4446248"/>
              <a:ext cx="11015" cy="11001"/>
            </a:xfrm>
            <a:custGeom>
              <a:avLst/>
              <a:gdLst>
                <a:gd name="connsiteX0" fmla="*/ 9649 w 11015"/>
                <a:gd name="connsiteY0" fmla="*/ 0 h 11001"/>
                <a:gd name="connsiteX1" fmla="*/ 0 w 11015"/>
                <a:gd name="connsiteY1" fmla="*/ 1662 h 11001"/>
                <a:gd name="connsiteX2" fmla="*/ 1905 w 11015"/>
                <a:gd name="connsiteY2" fmla="*/ 11001 h 11001"/>
                <a:gd name="connsiteX3" fmla="*/ 11016 w 11015"/>
                <a:gd name="connsiteY3" fmla="*/ 9430 h 11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5" h="11001">
                  <a:moveTo>
                    <a:pt x="9649" y="0"/>
                  </a:moveTo>
                  <a:cubicBezTo>
                    <a:pt x="6401" y="463"/>
                    <a:pt x="3185" y="1018"/>
                    <a:pt x="0" y="1662"/>
                  </a:cubicBezTo>
                  <a:lnTo>
                    <a:pt x="1905" y="11001"/>
                  </a:lnTo>
                  <a:cubicBezTo>
                    <a:pt x="4912" y="10386"/>
                    <a:pt x="7949" y="9862"/>
                    <a:pt x="11016" y="943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B22DB0DB-74EF-F30F-28A7-A14055ED4590}"/>
                </a:ext>
              </a:extLst>
            </p:cNvPr>
            <p:cNvSpPr/>
            <p:nvPr/>
          </p:nvSpPr>
          <p:spPr>
            <a:xfrm>
              <a:off x="3608837" y="4460178"/>
              <a:ext cx="12777" cy="12787"/>
            </a:xfrm>
            <a:custGeom>
              <a:avLst/>
              <a:gdLst>
                <a:gd name="connsiteX0" fmla="*/ 8744 w 12777"/>
                <a:gd name="connsiteY0" fmla="*/ 0 h 12787"/>
                <a:gd name="connsiteX1" fmla="*/ 0 w 12777"/>
                <a:gd name="connsiteY1" fmla="*/ 4405 h 12787"/>
                <a:gd name="connsiteX2" fmla="*/ 4534 w 12777"/>
                <a:gd name="connsiteY2" fmla="*/ 12787 h 12787"/>
                <a:gd name="connsiteX3" fmla="*/ 12778 w 12777"/>
                <a:gd name="connsiteY3" fmla="*/ 8634 h 1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77" h="12787">
                  <a:moveTo>
                    <a:pt x="8744" y="0"/>
                  </a:moveTo>
                  <a:cubicBezTo>
                    <a:pt x="5782" y="1387"/>
                    <a:pt x="2867" y="2856"/>
                    <a:pt x="0" y="4405"/>
                  </a:cubicBezTo>
                  <a:lnTo>
                    <a:pt x="4534" y="12787"/>
                  </a:lnTo>
                  <a:cubicBezTo>
                    <a:pt x="7239" y="11320"/>
                    <a:pt x="9987" y="9936"/>
                    <a:pt x="12778" y="863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4268B7D-9254-7581-B05D-B7543BD3BB0A}"/>
                </a:ext>
              </a:extLst>
            </p:cNvPr>
            <p:cNvSpPr/>
            <p:nvPr/>
          </p:nvSpPr>
          <p:spPr>
            <a:xfrm>
              <a:off x="3540743" y="4524643"/>
              <a:ext cx="12996" cy="12992"/>
            </a:xfrm>
            <a:custGeom>
              <a:avLst/>
              <a:gdLst>
                <a:gd name="connsiteX0" fmla="*/ 4872 w 12996"/>
                <a:gd name="connsiteY0" fmla="*/ 0 h 12992"/>
                <a:gd name="connsiteX1" fmla="*/ 0 w 12996"/>
                <a:gd name="connsiteY1" fmla="*/ 8520 h 12992"/>
                <a:gd name="connsiteX2" fmla="*/ 8411 w 12996"/>
                <a:gd name="connsiteY2" fmla="*/ 12992 h 12992"/>
                <a:gd name="connsiteX3" fmla="*/ 12997 w 12996"/>
                <a:gd name="connsiteY3" fmla="*/ 4967 h 12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96" h="12992">
                  <a:moveTo>
                    <a:pt x="4872" y="0"/>
                  </a:moveTo>
                  <a:cubicBezTo>
                    <a:pt x="3167" y="2787"/>
                    <a:pt x="1543" y="5628"/>
                    <a:pt x="0" y="8520"/>
                  </a:cubicBezTo>
                  <a:lnTo>
                    <a:pt x="8411" y="12992"/>
                  </a:lnTo>
                  <a:cubicBezTo>
                    <a:pt x="9862" y="10268"/>
                    <a:pt x="11390" y="7593"/>
                    <a:pt x="12997" y="496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DBFCC95-0ECA-D3C2-E45A-84328C94B6C5}"/>
                </a:ext>
              </a:extLst>
            </p:cNvPr>
            <p:cNvSpPr/>
            <p:nvPr/>
          </p:nvSpPr>
          <p:spPr>
            <a:xfrm>
              <a:off x="3553811" y="4504731"/>
              <a:ext cx="13377" cy="13373"/>
            </a:xfrm>
            <a:custGeom>
              <a:avLst/>
              <a:gdLst>
                <a:gd name="connsiteX0" fmla="*/ 6053 w 13377"/>
                <a:gd name="connsiteY0" fmla="*/ 0 h 13373"/>
                <a:gd name="connsiteX1" fmla="*/ 0 w 13377"/>
                <a:gd name="connsiteY1" fmla="*/ 7715 h 13373"/>
                <a:gd name="connsiteX2" fmla="*/ 7663 w 13377"/>
                <a:gd name="connsiteY2" fmla="*/ 13373 h 13373"/>
                <a:gd name="connsiteX3" fmla="*/ 13378 w 13377"/>
                <a:gd name="connsiteY3" fmla="*/ 6101 h 13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77" h="13373">
                  <a:moveTo>
                    <a:pt x="6053" y="0"/>
                  </a:moveTo>
                  <a:cubicBezTo>
                    <a:pt x="3961" y="2511"/>
                    <a:pt x="1943" y="5083"/>
                    <a:pt x="0" y="7715"/>
                  </a:cubicBezTo>
                  <a:lnTo>
                    <a:pt x="7663" y="13373"/>
                  </a:lnTo>
                  <a:cubicBezTo>
                    <a:pt x="9498" y="10887"/>
                    <a:pt x="11403" y="8463"/>
                    <a:pt x="13378" y="610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05149E6E-F067-A199-6108-15820970A2BA}"/>
                </a:ext>
              </a:extLst>
            </p:cNvPr>
            <p:cNvSpPr/>
            <p:nvPr/>
          </p:nvSpPr>
          <p:spPr>
            <a:xfrm>
              <a:off x="3569761" y="4487115"/>
              <a:ext cx="13458" cy="13458"/>
            </a:xfrm>
            <a:custGeom>
              <a:avLst/>
              <a:gdLst>
                <a:gd name="connsiteX0" fmla="*/ 7101 w 13458"/>
                <a:gd name="connsiteY0" fmla="*/ 0 h 13458"/>
                <a:gd name="connsiteX1" fmla="*/ 0 w 13458"/>
                <a:gd name="connsiteY1" fmla="*/ 6744 h 13458"/>
                <a:gd name="connsiteX2" fmla="*/ 6758 w 13458"/>
                <a:gd name="connsiteY2" fmla="*/ 13459 h 13458"/>
                <a:gd name="connsiteX3" fmla="*/ 13459 w 13458"/>
                <a:gd name="connsiteY3" fmla="*/ 7087 h 1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8" h="13458">
                  <a:moveTo>
                    <a:pt x="7101" y="0"/>
                  </a:moveTo>
                  <a:cubicBezTo>
                    <a:pt x="4669" y="2181"/>
                    <a:pt x="2302" y="4429"/>
                    <a:pt x="0" y="6744"/>
                  </a:cubicBezTo>
                  <a:lnTo>
                    <a:pt x="6758" y="13459"/>
                  </a:lnTo>
                  <a:cubicBezTo>
                    <a:pt x="8930" y="11271"/>
                    <a:pt x="11163" y="9147"/>
                    <a:pt x="13459" y="708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8311F3C8-5E1B-34D6-ABDE-4BDC66511564}"/>
                </a:ext>
              </a:extLst>
            </p:cNvPr>
            <p:cNvSpPr/>
            <p:nvPr/>
          </p:nvSpPr>
          <p:spPr>
            <a:xfrm>
              <a:off x="3506936" y="4430293"/>
              <a:ext cx="362047" cy="361998"/>
            </a:xfrm>
            <a:custGeom>
              <a:avLst/>
              <a:gdLst>
                <a:gd name="connsiteX0" fmla="*/ 181006 w 362047"/>
                <a:gd name="connsiteY0" fmla="*/ 0 h 361998"/>
                <a:gd name="connsiteX1" fmla="*/ 176244 w 362047"/>
                <a:gd name="connsiteY1" fmla="*/ 4763 h 361998"/>
                <a:gd name="connsiteX2" fmla="*/ 176244 w 362047"/>
                <a:gd name="connsiteY2" fmla="*/ 174308 h 361998"/>
                <a:gd name="connsiteX3" fmla="*/ 14976 w 362047"/>
                <a:gd name="connsiteY3" fmla="*/ 121787 h 361998"/>
                <a:gd name="connsiteX4" fmla="*/ 8975 w 362047"/>
                <a:gd name="connsiteY4" fmla="*/ 124839 h 361998"/>
                <a:gd name="connsiteX5" fmla="*/ 124888 w 362047"/>
                <a:gd name="connsiteY5" fmla="*/ 353024 h 361998"/>
                <a:gd name="connsiteX6" fmla="*/ 353073 w 362047"/>
                <a:gd name="connsiteY6" fmla="*/ 237111 h 361998"/>
                <a:gd name="connsiteX7" fmla="*/ 237159 w 362047"/>
                <a:gd name="connsiteY7" fmla="*/ 8926 h 361998"/>
                <a:gd name="connsiteX8" fmla="*/ 181006 w 362047"/>
                <a:gd name="connsiteY8" fmla="*/ 0 h 361998"/>
                <a:gd name="connsiteX9" fmla="*/ 181040 w 362047"/>
                <a:gd name="connsiteY9" fmla="*/ 352425 h 361998"/>
                <a:gd name="connsiteX10" fmla="*/ 9589 w 362047"/>
                <a:gd name="connsiteY10" fmla="*/ 180871 h 361998"/>
                <a:gd name="connsiteX11" fmla="*/ 16614 w 362047"/>
                <a:gd name="connsiteY11" fmla="*/ 132340 h 361998"/>
                <a:gd name="connsiteX12" fmla="*/ 179535 w 362047"/>
                <a:gd name="connsiteY12" fmla="*/ 185404 h 361998"/>
                <a:gd name="connsiteX13" fmla="*/ 183821 w 362047"/>
                <a:gd name="connsiteY13" fmla="*/ 184728 h 361998"/>
                <a:gd name="connsiteX14" fmla="*/ 185783 w 362047"/>
                <a:gd name="connsiteY14" fmla="*/ 180875 h 361998"/>
                <a:gd name="connsiteX15" fmla="*/ 185783 w 362047"/>
                <a:gd name="connsiteY15" fmla="*/ 9592 h 361998"/>
                <a:gd name="connsiteX16" fmla="*/ 352385 w 362047"/>
                <a:gd name="connsiteY16" fmla="*/ 185756 h 361998"/>
                <a:gd name="connsiteX17" fmla="*/ 181040 w 362047"/>
                <a:gd name="connsiteY17" fmla="*/ 352425 h 361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62047" h="361998">
                  <a:moveTo>
                    <a:pt x="181006" y="0"/>
                  </a:moveTo>
                  <a:cubicBezTo>
                    <a:pt x="178376" y="0"/>
                    <a:pt x="176244" y="2132"/>
                    <a:pt x="176244" y="4763"/>
                  </a:cubicBezTo>
                  <a:lnTo>
                    <a:pt x="176244" y="174308"/>
                  </a:lnTo>
                  <a:lnTo>
                    <a:pt x="14976" y="121787"/>
                  </a:lnTo>
                  <a:cubicBezTo>
                    <a:pt x="12476" y="120974"/>
                    <a:pt x="9790" y="122340"/>
                    <a:pt x="8975" y="124839"/>
                  </a:cubicBezTo>
                  <a:cubicBezTo>
                    <a:pt x="-22028" y="219859"/>
                    <a:pt x="29868" y="322021"/>
                    <a:pt x="124888" y="353024"/>
                  </a:cubicBezTo>
                  <a:cubicBezTo>
                    <a:pt x="219908" y="384027"/>
                    <a:pt x="322070" y="332131"/>
                    <a:pt x="353073" y="237111"/>
                  </a:cubicBezTo>
                  <a:cubicBezTo>
                    <a:pt x="384075" y="142091"/>
                    <a:pt x="332179" y="39929"/>
                    <a:pt x="237159" y="8926"/>
                  </a:cubicBezTo>
                  <a:cubicBezTo>
                    <a:pt x="219029" y="3011"/>
                    <a:pt x="200077" y="-2"/>
                    <a:pt x="181006" y="0"/>
                  </a:cubicBezTo>
                  <a:close/>
                  <a:moveTo>
                    <a:pt x="181040" y="352425"/>
                  </a:moveTo>
                  <a:cubicBezTo>
                    <a:pt x="86322" y="352396"/>
                    <a:pt x="9561" y="275589"/>
                    <a:pt x="9589" y="180871"/>
                  </a:cubicBezTo>
                  <a:cubicBezTo>
                    <a:pt x="9594" y="164441"/>
                    <a:pt x="11960" y="148097"/>
                    <a:pt x="16614" y="132340"/>
                  </a:cubicBezTo>
                  <a:lnTo>
                    <a:pt x="179535" y="185404"/>
                  </a:lnTo>
                  <a:cubicBezTo>
                    <a:pt x="180990" y="185872"/>
                    <a:pt x="182580" y="185621"/>
                    <a:pt x="183821" y="184728"/>
                  </a:cubicBezTo>
                  <a:cubicBezTo>
                    <a:pt x="185054" y="183832"/>
                    <a:pt x="185783" y="182399"/>
                    <a:pt x="185783" y="180875"/>
                  </a:cubicBezTo>
                  <a:lnTo>
                    <a:pt x="185783" y="9592"/>
                  </a:lnTo>
                  <a:cubicBezTo>
                    <a:pt x="280435" y="12232"/>
                    <a:pt x="355026" y="91103"/>
                    <a:pt x="352385" y="185756"/>
                  </a:cubicBezTo>
                  <a:cubicBezTo>
                    <a:pt x="349797" y="278532"/>
                    <a:pt x="273852" y="352405"/>
                    <a:pt x="181040" y="35242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4" name="Graphic 62" descr="Folder outline">
            <a:extLst>
              <a:ext uri="{FF2B5EF4-FFF2-40B4-BE49-F238E27FC236}">
                <a16:creationId xmlns:a16="http://schemas.microsoft.com/office/drawing/2014/main" id="{ECE9552D-69C6-6D17-FF52-7A20D2049245}"/>
              </a:ext>
            </a:extLst>
          </p:cNvPr>
          <p:cNvSpPr/>
          <p:nvPr/>
        </p:nvSpPr>
        <p:spPr>
          <a:xfrm>
            <a:off x="3494296" y="5721098"/>
            <a:ext cx="387358" cy="293211"/>
          </a:xfrm>
          <a:custGeom>
            <a:avLst/>
            <a:gdLst>
              <a:gd name="connsiteX0" fmla="*/ 20938 w 387358"/>
              <a:gd name="connsiteY0" fmla="*/ 293211 h 293211"/>
              <a:gd name="connsiteX1" fmla="*/ 366420 w 387358"/>
              <a:gd name="connsiteY1" fmla="*/ 293211 h 293211"/>
              <a:gd name="connsiteX2" fmla="*/ 387358 w 387358"/>
              <a:gd name="connsiteY2" fmla="*/ 272273 h 293211"/>
              <a:gd name="connsiteX3" fmla="*/ 387358 w 387358"/>
              <a:gd name="connsiteY3" fmla="*/ 62827 h 293211"/>
              <a:gd name="connsiteX4" fmla="*/ 366420 w 387358"/>
              <a:gd name="connsiteY4" fmla="*/ 41889 h 293211"/>
              <a:gd name="connsiteX5" fmla="*/ 188445 w 387358"/>
              <a:gd name="connsiteY5" fmla="*/ 41889 h 293211"/>
              <a:gd name="connsiteX6" fmla="*/ 130864 w 387358"/>
              <a:gd name="connsiteY6" fmla="*/ 3677 h 293211"/>
              <a:gd name="connsiteX7" fmla="*/ 119348 w 387358"/>
              <a:gd name="connsiteY7" fmla="*/ 13 h 293211"/>
              <a:gd name="connsiteX8" fmla="*/ 20938 w 387358"/>
              <a:gd name="connsiteY8" fmla="*/ 13 h 293211"/>
              <a:gd name="connsiteX9" fmla="*/ 0 w 387358"/>
              <a:gd name="connsiteY9" fmla="*/ 20951 h 293211"/>
              <a:gd name="connsiteX10" fmla="*/ 0 w 387358"/>
              <a:gd name="connsiteY10" fmla="*/ 272268 h 293211"/>
              <a:gd name="connsiteX11" fmla="*/ 20938 w 387358"/>
              <a:gd name="connsiteY11" fmla="*/ 293211 h 293211"/>
              <a:gd name="connsiteX12" fmla="*/ 10469 w 387358"/>
              <a:gd name="connsiteY12" fmla="*/ 20940 h 293211"/>
              <a:gd name="connsiteX13" fmla="*/ 20938 w 387358"/>
              <a:gd name="connsiteY13" fmla="*/ 10471 h 293211"/>
              <a:gd name="connsiteX14" fmla="*/ 119348 w 387358"/>
              <a:gd name="connsiteY14" fmla="*/ 10471 h 293211"/>
              <a:gd name="connsiteX15" fmla="*/ 124159 w 387358"/>
              <a:gd name="connsiteY15" fmla="*/ 11707 h 293211"/>
              <a:gd name="connsiteX16" fmla="*/ 124599 w 387358"/>
              <a:gd name="connsiteY16" fmla="*/ 12073 h 293211"/>
              <a:gd name="connsiteX17" fmla="*/ 125075 w 387358"/>
              <a:gd name="connsiteY17" fmla="*/ 12387 h 293211"/>
              <a:gd name="connsiteX18" fmla="*/ 182655 w 387358"/>
              <a:gd name="connsiteY18" fmla="*/ 50599 h 293211"/>
              <a:gd name="connsiteX19" fmla="*/ 185272 w 387358"/>
              <a:gd name="connsiteY19" fmla="*/ 52348 h 293211"/>
              <a:gd name="connsiteX20" fmla="*/ 366420 w 387358"/>
              <a:gd name="connsiteY20" fmla="*/ 52348 h 293211"/>
              <a:gd name="connsiteX21" fmla="*/ 376889 w 387358"/>
              <a:gd name="connsiteY21" fmla="*/ 62817 h 293211"/>
              <a:gd name="connsiteX22" fmla="*/ 376889 w 387358"/>
              <a:gd name="connsiteY22" fmla="*/ 272268 h 293211"/>
              <a:gd name="connsiteX23" fmla="*/ 366420 w 387358"/>
              <a:gd name="connsiteY23" fmla="*/ 282737 h 293211"/>
              <a:gd name="connsiteX24" fmla="*/ 20938 w 387358"/>
              <a:gd name="connsiteY24" fmla="*/ 282737 h 293211"/>
              <a:gd name="connsiteX25" fmla="*/ 10469 w 387358"/>
              <a:gd name="connsiteY25" fmla="*/ 272268 h 2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87358" h="293211">
                <a:moveTo>
                  <a:pt x="20938" y="293211"/>
                </a:moveTo>
                <a:lnTo>
                  <a:pt x="366420" y="293211"/>
                </a:lnTo>
                <a:cubicBezTo>
                  <a:pt x="377969" y="293174"/>
                  <a:pt x="387321" y="283822"/>
                  <a:pt x="387358" y="272273"/>
                </a:cubicBezTo>
                <a:lnTo>
                  <a:pt x="387358" y="62827"/>
                </a:lnTo>
                <a:cubicBezTo>
                  <a:pt x="387321" y="51279"/>
                  <a:pt x="377969" y="41926"/>
                  <a:pt x="366420" y="41889"/>
                </a:cubicBezTo>
                <a:lnTo>
                  <a:pt x="188445" y="41889"/>
                </a:lnTo>
                <a:lnTo>
                  <a:pt x="130864" y="3677"/>
                </a:lnTo>
                <a:cubicBezTo>
                  <a:pt x="127569" y="1153"/>
                  <a:pt x="123496" y="-143"/>
                  <a:pt x="119348" y="13"/>
                </a:cubicBezTo>
                <a:lnTo>
                  <a:pt x="20938" y="13"/>
                </a:lnTo>
                <a:cubicBezTo>
                  <a:pt x="9389" y="47"/>
                  <a:pt x="35" y="9401"/>
                  <a:pt x="0" y="20951"/>
                </a:cubicBezTo>
                <a:lnTo>
                  <a:pt x="0" y="272268"/>
                </a:lnTo>
                <a:cubicBezTo>
                  <a:pt x="31" y="283820"/>
                  <a:pt x="9387" y="293177"/>
                  <a:pt x="20938" y="293211"/>
                </a:cubicBezTo>
                <a:close/>
                <a:moveTo>
                  <a:pt x="10469" y="20940"/>
                </a:moveTo>
                <a:cubicBezTo>
                  <a:pt x="10469" y="15158"/>
                  <a:pt x="15156" y="10471"/>
                  <a:pt x="20938" y="10471"/>
                </a:cubicBezTo>
                <a:lnTo>
                  <a:pt x="119348" y="10471"/>
                </a:lnTo>
                <a:cubicBezTo>
                  <a:pt x="121043" y="10352"/>
                  <a:pt x="122731" y="10785"/>
                  <a:pt x="124159" y="11707"/>
                </a:cubicBezTo>
                <a:lnTo>
                  <a:pt x="124599" y="12073"/>
                </a:lnTo>
                <a:lnTo>
                  <a:pt x="125075" y="12387"/>
                </a:lnTo>
                <a:lnTo>
                  <a:pt x="182655" y="50599"/>
                </a:lnTo>
                <a:lnTo>
                  <a:pt x="185272" y="52348"/>
                </a:lnTo>
                <a:lnTo>
                  <a:pt x="366420" y="52348"/>
                </a:lnTo>
                <a:cubicBezTo>
                  <a:pt x="372202" y="52348"/>
                  <a:pt x="376889" y="57035"/>
                  <a:pt x="376889" y="62817"/>
                </a:cubicBezTo>
                <a:lnTo>
                  <a:pt x="376889" y="272268"/>
                </a:lnTo>
                <a:cubicBezTo>
                  <a:pt x="376889" y="278050"/>
                  <a:pt x="372202" y="282737"/>
                  <a:pt x="366420" y="282737"/>
                </a:cubicBezTo>
                <a:lnTo>
                  <a:pt x="20938" y="282737"/>
                </a:lnTo>
                <a:cubicBezTo>
                  <a:pt x="15156" y="282737"/>
                  <a:pt x="10469" y="278050"/>
                  <a:pt x="10469" y="272268"/>
                </a:cubicBezTo>
                <a:close/>
              </a:path>
            </a:pathLst>
          </a:custGeom>
          <a:solidFill>
            <a:schemeClr val="bg1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63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93D501-2AA2-A576-F310-414A7B286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over time</a:t>
            </a:r>
          </a:p>
        </p:txBody>
      </p:sp>
      <p:graphicFrame>
        <p:nvGraphicFramePr>
          <p:cNvPr id="17" name="Chart 3">
            <a:extLst>
              <a:ext uri="{FF2B5EF4-FFF2-40B4-BE49-F238E27FC236}">
                <a16:creationId xmlns:a16="http://schemas.microsoft.com/office/drawing/2014/main" id="{7F28AEB9-B3B5-D3D0-A907-92EEF2530A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0558500"/>
              </p:ext>
            </p:extLst>
          </p:nvPr>
        </p:nvGraphicFramePr>
        <p:xfrm>
          <a:off x="101866" y="4437948"/>
          <a:ext cx="6409390" cy="2075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8" name="Divider Line">
            <a:extLst>
              <a:ext uri="{FF2B5EF4-FFF2-40B4-BE49-F238E27FC236}">
                <a16:creationId xmlns:a16="http://schemas.microsoft.com/office/drawing/2014/main" id="{DC98DB03-3DC5-FC79-80A7-F6F1E5A8E650}"/>
              </a:ext>
            </a:extLst>
          </p:cNvPr>
          <p:cNvCxnSpPr>
            <a:cxnSpLocks/>
          </p:cNvCxnSpPr>
          <p:nvPr/>
        </p:nvCxnSpPr>
        <p:spPr>
          <a:xfrm>
            <a:off x="563900" y="4391100"/>
            <a:ext cx="59893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hart 2">
            <a:extLst>
              <a:ext uri="{FF2B5EF4-FFF2-40B4-BE49-F238E27FC236}">
                <a16:creationId xmlns:a16="http://schemas.microsoft.com/office/drawing/2014/main" id="{6A1885ED-131A-7541-D854-8D4BEC6E45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174851"/>
              </p:ext>
            </p:extLst>
          </p:nvPr>
        </p:nvGraphicFramePr>
        <p:xfrm>
          <a:off x="119269" y="2666054"/>
          <a:ext cx="6281532" cy="1632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20" name="Divider Line">
            <a:extLst>
              <a:ext uri="{FF2B5EF4-FFF2-40B4-BE49-F238E27FC236}">
                <a16:creationId xmlns:a16="http://schemas.microsoft.com/office/drawing/2014/main" id="{ED3A2174-7A78-3773-E413-CFC6EB095AA0}"/>
              </a:ext>
            </a:extLst>
          </p:cNvPr>
          <p:cNvCxnSpPr>
            <a:cxnSpLocks/>
          </p:cNvCxnSpPr>
          <p:nvPr/>
        </p:nvCxnSpPr>
        <p:spPr>
          <a:xfrm>
            <a:off x="511911" y="2925208"/>
            <a:ext cx="59893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hart 1">
            <a:extLst>
              <a:ext uri="{FF2B5EF4-FFF2-40B4-BE49-F238E27FC236}">
                <a16:creationId xmlns:a16="http://schemas.microsoft.com/office/drawing/2014/main" id="{F15CD37F-2914-CAAB-111A-D5C9D7FE52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1411293"/>
              </p:ext>
            </p:extLst>
          </p:nvPr>
        </p:nvGraphicFramePr>
        <p:xfrm>
          <a:off x="37709" y="1278835"/>
          <a:ext cx="6442892" cy="1502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Dark Teal Ebar">
            <a:extLst>
              <a:ext uri="{FF2B5EF4-FFF2-40B4-BE49-F238E27FC236}">
                <a16:creationId xmlns:a16="http://schemas.microsoft.com/office/drawing/2014/main" id="{9F0FF2B0-FCBC-D0D3-1149-D887045BA76C}"/>
              </a:ext>
            </a:extLst>
          </p:cNvPr>
          <p:cNvSpPr/>
          <p:nvPr/>
        </p:nvSpPr>
        <p:spPr>
          <a:xfrm flipH="1">
            <a:off x="7760043" y="4539049"/>
            <a:ext cx="4055158" cy="1419341"/>
          </a:xfrm>
          <a:custGeom>
            <a:avLst/>
            <a:gdLst>
              <a:gd name="connsiteX0" fmla="*/ 457210 w 8455844"/>
              <a:gd name="connsiteY0" fmla="*/ 0 h 2743199"/>
              <a:gd name="connsiteX1" fmla="*/ 7998635 w 8455844"/>
              <a:gd name="connsiteY1" fmla="*/ 0 h 2743199"/>
              <a:gd name="connsiteX2" fmla="*/ 8455844 w 8455844"/>
              <a:gd name="connsiteY2" fmla="*/ 457209 h 2743199"/>
              <a:gd name="connsiteX3" fmla="*/ 8455844 w 8455844"/>
              <a:gd name="connsiteY3" fmla="*/ 2285990 h 2743199"/>
              <a:gd name="connsiteX4" fmla="*/ 7998635 w 8455844"/>
              <a:gd name="connsiteY4" fmla="*/ 2743199 h 2743199"/>
              <a:gd name="connsiteX5" fmla="*/ 7721505 w 8455844"/>
              <a:gd name="connsiteY5" fmla="*/ 2743199 h 2743199"/>
              <a:gd name="connsiteX6" fmla="*/ 457210 w 8455844"/>
              <a:gd name="connsiteY6" fmla="*/ 2743199 h 2743199"/>
              <a:gd name="connsiteX7" fmla="*/ 0 w 8455844"/>
              <a:gd name="connsiteY7" fmla="*/ 2743199 h 2743199"/>
              <a:gd name="connsiteX8" fmla="*/ 0 w 8455844"/>
              <a:gd name="connsiteY8" fmla="*/ 561543 h 2743199"/>
              <a:gd name="connsiteX9" fmla="*/ 1 w 8455844"/>
              <a:gd name="connsiteY9" fmla="*/ 561543 h 2743199"/>
              <a:gd name="connsiteX10" fmla="*/ 1 w 8455844"/>
              <a:gd name="connsiteY10" fmla="*/ 457209 h 2743199"/>
              <a:gd name="connsiteX11" fmla="*/ 457210 w 8455844"/>
              <a:gd name="connsiteY11" fmla="*/ 0 h 2743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455844" h="2743199">
                <a:moveTo>
                  <a:pt x="457210" y="0"/>
                </a:moveTo>
                <a:lnTo>
                  <a:pt x="7998635" y="0"/>
                </a:lnTo>
                <a:cubicBezTo>
                  <a:pt x="8251145" y="0"/>
                  <a:pt x="8455844" y="204699"/>
                  <a:pt x="8455844" y="457209"/>
                </a:cubicBezTo>
                <a:lnTo>
                  <a:pt x="8455844" y="2285990"/>
                </a:lnTo>
                <a:cubicBezTo>
                  <a:pt x="8455844" y="2538500"/>
                  <a:pt x="8251145" y="2743199"/>
                  <a:pt x="7998635" y="2743199"/>
                </a:cubicBezTo>
                <a:lnTo>
                  <a:pt x="7721505" y="2743199"/>
                </a:lnTo>
                <a:lnTo>
                  <a:pt x="457210" y="2743199"/>
                </a:lnTo>
                <a:lnTo>
                  <a:pt x="0" y="2743199"/>
                </a:lnTo>
                <a:lnTo>
                  <a:pt x="0" y="561543"/>
                </a:lnTo>
                <a:lnTo>
                  <a:pt x="1" y="561543"/>
                </a:lnTo>
                <a:lnTo>
                  <a:pt x="1" y="457209"/>
                </a:lnTo>
                <a:cubicBezTo>
                  <a:pt x="1" y="204699"/>
                  <a:pt x="204700" y="0"/>
                  <a:pt x="457210" y="0"/>
                </a:cubicBezTo>
                <a:close/>
              </a:path>
            </a:pathLst>
          </a:custGeom>
          <a:solidFill>
            <a:schemeClr val="tx2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 panose="020B0504020202020204" pitchFamily="34" charset="77"/>
              <a:ea typeface="+mn-ea"/>
              <a:cs typeface="+mn-cs"/>
            </a:endParaRPr>
          </a:p>
        </p:txBody>
      </p:sp>
      <p:sp>
        <p:nvSpPr>
          <p:cNvPr id="23" name="Callout Copy">
            <a:extLst>
              <a:ext uri="{FF2B5EF4-FFF2-40B4-BE49-F238E27FC236}">
                <a16:creationId xmlns:a16="http://schemas.microsoft.com/office/drawing/2014/main" id="{9838FA7B-8FCA-9A34-AB92-338A9236524C}"/>
              </a:ext>
            </a:extLst>
          </p:cNvPr>
          <p:cNvSpPr txBox="1">
            <a:spLocks/>
          </p:cNvSpPr>
          <p:nvPr/>
        </p:nvSpPr>
        <p:spPr>
          <a:xfrm>
            <a:off x="7984441" y="4689146"/>
            <a:ext cx="3732618" cy="1119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B8429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6634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8429"/>
              </a:buClr>
              <a:buSzPct val="130000"/>
              <a:buFont typeface="System Font Regular"/>
              <a:buChar char="-"/>
              <a:defRPr sz="18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74066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8429"/>
              </a:buClr>
              <a:buSzPct val="9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101498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8429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28930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8429"/>
              </a:buClr>
              <a:buSzPct val="130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“Lorem ipsum dolor sit </a:t>
            </a:r>
            <a:r>
              <a:rPr lang="en-US" sz="1600" dirty="0" err="1">
                <a:solidFill>
                  <a:schemeClr val="accent5"/>
                </a:solidFill>
              </a:rPr>
              <a:t>amet</a:t>
            </a:r>
            <a:r>
              <a:rPr lang="en-US" sz="1600" dirty="0">
                <a:solidFill>
                  <a:schemeClr val="accent5"/>
                </a:solidFill>
              </a:rPr>
              <a:t>, </a:t>
            </a:r>
            <a:r>
              <a:rPr lang="en-US" sz="1600" dirty="0" err="1">
                <a:solidFill>
                  <a:schemeClr val="accent5"/>
                </a:solidFill>
              </a:rPr>
              <a:t>consectetuer</a:t>
            </a:r>
            <a:r>
              <a:rPr lang="en-US" sz="1600" dirty="0">
                <a:solidFill>
                  <a:schemeClr val="accent5"/>
                </a:solidFill>
              </a:rPr>
              <a:t> </a:t>
            </a:r>
            <a:r>
              <a:rPr lang="en-US" sz="1600" dirty="0" err="1">
                <a:solidFill>
                  <a:schemeClr val="accent5"/>
                </a:solidFill>
              </a:rPr>
              <a:t>adipiscing</a:t>
            </a:r>
            <a:r>
              <a:rPr lang="en-US" sz="1600" dirty="0">
                <a:solidFill>
                  <a:schemeClr val="accent5"/>
                </a:solidFill>
              </a:rPr>
              <a:t> </a:t>
            </a:r>
            <a:r>
              <a:rPr lang="en-US" sz="1600" dirty="0" err="1">
                <a:solidFill>
                  <a:schemeClr val="accent5"/>
                </a:solidFill>
              </a:rPr>
              <a:t>elit</a:t>
            </a:r>
            <a:r>
              <a:rPr lang="en-US" sz="1600" dirty="0">
                <a:solidFill>
                  <a:schemeClr val="accent5"/>
                </a:solidFill>
              </a:rPr>
              <a:t>. Maecenas </a:t>
            </a:r>
            <a:r>
              <a:rPr lang="en-US" sz="1600" dirty="0" err="1">
                <a:solidFill>
                  <a:schemeClr val="accent5"/>
                </a:solidFill>
              </a:rPr>
              <a:t>porttitor</a:t>
            </a:r>
            <a:r>
              <a:rPr lang="en-US" sz="1600" dirty="0">
                <a:solidFill>
                  <a:schemeClr val="accent5"/>
                </a:solidFill>
              </a:rPr>
              <a:t> </a:t>
            </a:r>
            <a:r>
              <a:rPr lang="en-US" sz="1600" dirty="0" err="1">
                <a:solidFill>
                  <a:schemeClr val="accent5"/>
                </a:solidFill>
              </a:rPr>
              <a:t>congue</a:t>
            </a:r>
            <a:r>
              <a:rPr lang="en-US" sz="1600" dirty="0">
                <a:solidFill>
                  <a:schemeClr val="accent5"/>
                </a:solidFill>
              </a:rPr>
              <a:t> </a:t>
            </a:r>
            <a:r>
              <a:rPr lang="en-US" sz="1600" dirty="0" err="1">
                <a:solidFill>
                  <a:schemeClr val="accent5"/>
                </a:solidFill>
              </a:rPr>
              <a:t>massa</a:t>
            </a:r>
            <a:r>
              <a:rPr lang="en-US" sz="1600" dirty="0">
                <a:solidFill>
                  <a:schemeClr val="accent5"/>
                </a:solidFill>
              </a:rPr>
              <a:t>. </a:t>
            </a:r>
            <a:r>
              <a:rPr lang="en-US" sz="1600" dirty="0" err="1">
                <a:solidFill>
                  <a:schemeClr val="accent5"/>
                </a:solidFill>
              </a:rPr>
              <a:t>Fusce</a:t>
            </a:r>
            <a:r>
              <a:rPr lang="en-US" sz="1600" dirty="0">
                <a:solidFill>
                  <a:schemeClr val="accent5"/>
                </a:solidFill>
              </a:rPr>
              <a:t> </a:t>
            </a:r>
            <a:r>
              <a:rPr lang="en-US" sz="1600" dirty="0" err="1">
                <a:solidFill>
                  <a:schemeClr val="accent5"/>
                </a:solidFill>
              </a:rPr>
              <a:t>posuere</a:t>
            </a:r>
            <a:r>
              <a:rPr lang="en-US" sz="1600" dirty="0">
                <a:solidFill>
                  <a:schemeClr val="accent5"/>
                </a:solidFill>
              </a:rPr>
              <a:t>, magna.”</a:t>
            </a:r>
          </a:p>
        </p:txBody>
      </p:sp>
      <p:sp>
        <p:nvSpPr>
          <p:cNvPr id="24" name="Body Copy">
            <a:extLst>
              <a:ext uri="{FF2B5EF4-FFF2-40B4-BE49-F238E27FC236}">
                <a16:creationId xmlns:a16="http://schemas.microsoft.com/office/drawing/2014/main" id="{8F05341F-6EB6-9F15-3049-17EA7091CFF4}"/>
              </a:ext>
            </a:extLst>
          </p:cNvPr>
          <p:cNvSpPr/>
          <p:nvPr/>
        </p:nvSpPr>
        <p:spPr>
          <a:xfrm>
            <a:off x="7541311" y="1349170"/>
            <a:ext cx="3785175" cy="38788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b="1" dirty="0">
                <a:solidFill>
                  <a:schemeClr val="tx1"/>
                </a:solidFill>
                <a:latin typeface="+mj-lt"/>
              </a:rPr>
              <a:t>Lorem ipsum</a:t>
            </a:r>
          </a:p>
          <a:p>
            <a:endParaRPr lang="en-US" dirty="0">
              <a:solidFill>
                <a:schemeClr val="tx1"/>
              </a:solidFill>
              <a:latin typeface="+mj-lt"/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Bullet 1: </a:t>
            </a:r>
            <a:r>
              <a:rPr lang="en-US" sz="1600" dirty="0">
                <a:solidFill>
                  <a:schemeClr val="tx1"/>
                </a:solidFill>
              </a:rPr>
              <a:t>Some details about the numbers here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Bullet 2: </a:t>
            </a:r>
            <a:r>
              <a:rPr lang="en-US" sz="1600" dirty="0">
                <a:solidFill>
                  <a:schemeClr val="tx1"/>
                </a:solidFill>
              </a:rPr>
              <a:t>Some details about the numbers here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Bullet 3: </a:t>
            </a:r>
            <a:r>
              <a:rPr lang="en-US" sz="1600" dirty="0">
                <a:solidFill>
                  <a:schemeClr val="tx1"/>
                </a:solidFill>
              </a:rPr>
              <a:t>Some details about the numbers here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068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A7A830-5197-F04A-7F14-14835EF153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, magna sed pulvinar </a:t>
            </a:r>
            <a:r>
              <a:rPr lang="en-US" dirty="0" err="1"/>
              <a:t>ultricies</a:t>
            </a:r>
            <a:r>
              <a:rPr lang="en-US" dirty="0"/>
              <a:t>,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libero,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magna eros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Nunc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est. </a:t>
            </a:r>
            <a:r>
              <a:rPr lang="en-US" dirty="0" err="1"/>
              <a:t>Vivamus</a:t>
            </a:r>
            <a:r>
              <a:rPr lang="en-US" dirty="0"/>
              <a:t> a </a:t>
            </a:r>
            <a:r>
              <a:rPr lang="en-US" dirty="0" err="1"/>
              <a:t>tellus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Proin pharetra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pede</a:t>
            </a:r>
            <a:r>
              <a:rPr lang="en-US" dirty="0"/>
              <a:t>. Mauris et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141E87-277C-9FD7-3670-504F75D7F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text slide</a:t>
            </a:r>
          </a:p>
        </p:txBody>
      </p:sp>
    </p:spTree>
    <p:extLst>
      <p:ext uri="{BB962C8B-B14F-4D97-AF65-F5344CB8AC3E}">
        <p14:creationId xmlns:p14="http://schemas.microsoft.com/office/powerpoint/2010/main" val="150995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40CE11-1767-4D38-D8CC-27A2F94D50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Lorem ipsum dolor sit </a:t>
            </a:r>
            <a:r>
              <a:rPr lang="en-US" b="1" dirty="0" err="1"/>
              <a:t>amet</a:t>
            </a:r>
            <a:r>
              <a:rPr lang="en-US" b="1" dirty="0"/>
              <a:t>, </a:t>
            </a:r>
            <a:r>
              <a:rPr lang="en-US" b="1" dirty="0" err="1"/>
              <a:t>consectetuer</a:t>
            </a:r>
            <a:r>
              <a:rPr lang="en-US" b="1" dirty="0"/>
              <a:t> </a:t>
            </a:r>
            <a:r>
              <a:rPr lang="en-US" b="1" dirty="0" err="1"/>
              <a:t>adipiscing</a:t>
            </a:r>
            <a:r>
              <a:rPr lang="en-US" b="1" dirty="0"/>
              <a:t> </a:t>
            </a:r>
            <a:r>
              <a:rPr lang="en-US" b="1" dirty="0" err="1"/>
              <a:t>elit</a:t>
            </a:r>
            <a:r>
              <a:rPr lang="en-US" b="1" dirty="0"/>
              <a:t>. Maecenas </a:t>
            </a:r>
            <a:r>
              <a:rPr lang="en-US" b="1" dirty="0" err="1"/>
              <a:t>porttitor</a:t>
            </a:r>
            <a:r>
              <a:rPr lang="en-US" b="1" dirty="0"/>
              <a:t> </a:t>
            </a:r>
            <a:r>
              <a:rPr lang="en-US" b="1" dirty="0" err="1"/>
              <a:t>congue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Nunc </a:t>
            </a:r>
            <a:r>
              <a:rPr lang="en-US" b="1" dirty="0" err="1"/>
              <a:t>viverra</a:t>
            </a:r>
            <a:r>
              <a:rPr lang="en-US" b="1" dirty="0"/>
              <a:t> </a:t>
            </a:r>
            <a:r>
              <a:rPr lang="en-US" b="1" dirty="0" err="1"/>
              <a:t>imperdiet</a:t>
            </a:r>
            <a:r>
              <a:rPr lang="en-US" b="1" dirty="0"/>
              <a:t> </a:t>
            </a:r>
            <a:r>
              <a:rPr lang="en-US" b="1" dirty="0" err="1"/>
              <a:t>enim</a:t>
            </a:r>
            <a:r>
              <a:rPr lang="en-US" b="1" dirty="0"/>
              <a:t>. </a:t>
            </a:r>
            <a:r>
              <a:rPr lang="en-US" b="1" dirty="0" err="1"/>
              <a:t>Fusce</a:t>
            </a:r>
            <a:r>
              <a:rPr lang="en-US" b="1" dirty="0"/>
              <a:t> est. </a:t>
            </a:r>
            <a:r>
              <a:rPr lang="en-US" b="1" dirty="0" err="1"/>
              <a:t>Vivamus</a:t>
            </a:r>
            <a:r>
              <a:rPr lang="en-US" b="1" dirty="0"/>
              <a:t> a </a:t>
            </a:r>
            <a:r>
              <a:rPr lang="en-US" b="1" dirty="0" err="1"/>
              <a:t>tellus</a:t>
            </a:r>
            <a:r>
              <a:rPr lang="en-US" b="1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2E8D7-F801-52AD-4E57-E4C738236E8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, magna sed pulvinar </a:t>
            </a:r>
            <a:r>
              <a:rPr lang="en-US" dirty="0" err="1"/>
              <a:t>ultricies</a:t>
            </a:r>
            <a:r>
              <a:rPr lang="en-US" dirty="0"/>
              <a:t>,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libero,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magna eros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Nunc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est. </a:t>
            </a:r>
            <a:r>
              <a:rPr lang="en-US" dirty="0" err="1"/>
              <a:t>Vivamus</a:t>
            </a:r>
            <a:r>
              <a:rPr lang="en-US" dirty="0"/>
              <a:t> a </a:t>
            </a:r>
            <a:r>
              <a:rPr lang="en-US" dirty="0" err="1"/>
              <a:t>tellus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Proin pharetra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pede</a:t>
            </a:r>
            <a:r>
              <a:rPr lang="en-US" dirty="0"/>
              <a:t>. Mauris et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72F20B-520C-199A-B410-878418E8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slide layout</a:t>
            </a:r>
          </a:p>
        </p:txBody>
      </p:sp>
    </p:spTree>
    <p:extLst>
      <p:ext uri="{BB962C8B-B14F-4D97-AF65-F5344CB8AC3E}">
        <p14:creationId xmlns:p14="http://schemas.microsoft.com/office/powerpoint/2010/main" val="28801056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A01A82-96DF-98BC-5555-C93B1E06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table example</a:t>
            </a:r>
          </a:p>
        </p:txBody>
      </p:sp>
      <p:graphicFrame>
        <p:nvGraphicFramePr>
          <p:cNvPr id="4" name="Table">
            <a:extLst>
              <a:ext uri="{FF2B5EF4-FFF2-40B4-BE49-F238E27FC236}">
                <a16:creationId xmlns:a16="http://schemas.microsoft.com/office/drawing/2014/main" id="{CAD43D62-E8A5-83FE-94FA-65F9E09D3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176654"/>
              </p:ext>
            </p:extLst>
          </p:nvPr>
        </p:nvGraphicFramePr>
        <p:xfrm>
          <a:off x="444937" y="1465901"/>
          <a:ext cx="11242565" cy="385256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48513">
                  <a:extLst>
                    <a:ext uri="{9D8B030D-6E8A-4147-A177-3AD203B41FA5}">
                      <a16:colId xmlns:a16="http://schemas.microsoft.com/office/drawing/2014/main" val="2189174563"/>
                    </a:ext>
                  </a:extLst>
                </a:gridCol>
                <a:gridCol w="2248513">
                  <a:extLst>
                    <a:ext uri="{9D8B030D-6E8A-4147-A177-3AD203B41FA5}">
                      <a16:colId xmlns:a16="http://schemas.microsoft.com/office/drawing/2014/main" val="367284015"/>
                    </a:ext>
                  </a:extLst>
                </a:gridCol>
                <a:gridCol w="2248513">
                  <a:extLst>
                    <a:ext uri="{9D8B030D-6E8A-4147-A177-3AD203B41FA5}">
                      <a16:colId xmlns:a16="http://schemas.microsoft.com/office/drawing/2014/main" val="3985092549"/>
                    </a:ext>
                  </a:extLst>
                </a:gridCol>
                <a:gridCol w="2248513">
                  <a:extLst>
                    <a:ext uri="{9D8B030D-6E8A-4147-A177-3AD203B41FA5}">
                      <a16:colId xmlns:a16="http://schemas.microsoft.com/office/drawing/2014/main" val="429439576"/>
                    </a:ext>
                  </a:extLst>
                </a:gridCol>
                <a:gridCol w="2248513">
                  <a:extLst>
                    <a:ext uri="{9D8B030D-6E8A-4147-A177-3AD203B41FA5}">
                      <a16:colId xmlns:a16="http://schemas.microsoft.com/office/drawing/2014/main" val="3122025988"/>
                    </a:ext>
                  </a:extLst>
                </a:gridCol>
              </a:tblGrid>
              <a:tr h="510044"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Title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Title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Title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Title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Title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010379"/>
                  </a:ext>
                </a:extLst>
              </a:tr>
              <a:tr h="835631">
                <a:tc>
                  <a:txBody>
                    <a:bodyPr/>
                    <a:lstStyle/>
                    <a:p>
                      <a:r>
                        <a:rPr lang="en-US" sz="1200"/>
                        <a:t>Lorem ipsum dolor sit amet, consectetuer adipiscing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168648"/>
                  </a:ext>
                </a:extLst>
              </a:tr>
              <a:tr h="835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632781"/>
                  </a:ext>
                </a:extLst>
              </a:tr>
              <a:tr h="835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698121"/>
                  </a:ext>
                </a:extLst>
              </a:tr>
              <a:tr h="835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am.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lorem</a:t>
                      </a:r>
                    </a:p>
                    <a:p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993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359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A7FD5-49FE-D523-9DAC-11089F902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, magna sed pulvinar </a:t>
            </a:r>
            <a:r>
              <a:rPr lang="en-US" dirty="0" err="1"/>
              <a:t>ultricies</a:t>
            </a:r>
            <a:r>
              <a:rPr lang="en-US" dirty="0"/>
              <a:t>,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libero,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magna eros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Nunc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est. </a:t>
            </a:r>
            <a:r>
              <a:rPr lang="en-US" dirty="0" err="1"/>
              <a:t>Vivamus</a:t>
            </a:r>
            <a:r>
              <a:rPr lang="en-US" dirty="0"/>
              <a:t> a </a:t>
            </a:r>
            <a:r>
              <a:rPr lang="en-US" dirty="0" err="1"/>
              <a:t>tellus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Proin pharetra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pede</a:t>
            </a:r>
            <a:r>
              <a:rPr lang="en-US" dirty="0"/>
              <a:t>. Mauris et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9F5D92-7928-6E03-A7CC-D7180C574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 example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C377B328-347A-E8AB-4D3D-634CA1EEF2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6578283"/>
              </p:ext>
            </p:extLst>
          </p:nvPr>
        </p:nvGraphicFramePr>
        <p:xfrm>
          <a:off x="8267700" y="1374775"/>
          <a:ext cx="3543300" cy="4646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54915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A0F4B1-4AD7-A1AF-63A7-166F28D56E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X/X/X</a:t>
            </a:r>
          </a:p>
          <a:p>
            <a:r>
              <a:rPr lang="en-US" dirty="0" err="1"/>
              <a:t>Firstname</a:t>
            </a:r>
            <a:r>
              <a:rPr lang="en-US" dirty="0"/>
              <a:t> Lastname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ABE69-5C71-C97C-7690-30676524DF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4032980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DD86DC-82D4-A468-8484-763E070DF0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X/X/X</a:t>
            </a:r>
          </a:p>
          <a:p>
            <a:r>
              <a:rPr lang="en-US" dirty="0" err="1"/>
              <a:t>Firstname</a:t>
            </a:r>
            <a:r>
              <a:rPr lang="en-US" dirty="0"/>
              <a:t> Lastname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EB8B1-0A2F-4787-B737-C36D2EA4F6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969887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D7BB30-D02F-38D3-8BF1-90ECDFBEB2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X/X/X</a:t>
            </a:r>
          </a:p>
          <a:p>
            <a:r>
              <a:rPr lang="en-US" dirty="0" err="1"/>
              <a:t>Firstname</a:t>
            </a:r>
            <a:r>
              <a:rPr lang="en-US" dirty="0"/>
              <a:t> Lastname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74B06-E052-1882-3536-EAE2792910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1633740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03902-063A-6D92-4463-0F0AE49C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Dark Slide Section Divider 1</a:t>
            </a:r>
          </a:p>
        </p:txBody>
      </p:sp>
    </p:spTree>
    <p:extLst>
      <p:ext uri="{BB962C8B-B14F-4D97-AF65-F5344CB8AC3E}">
        <p14:creationId xmlns:p14="http://schemas.microsoft.com/office/powerpoint/2010/main" val="4165482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2A56-B65F-ADF9-75AA-BC86BF7AF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Dark Slide Section Divider 2</a:t>
            </a:r>
          </a:p>
        </p:txBody>
      </p:sp>
    </p:spTree>
    <p:extLst>
      <p:ext uri="{BB962C8B-B14F-4D97-AF65-F5344CB8AC3E}">
        <p14:creationId xmlns:p14="http://schemas.microsoft.com/office/powerpoint/2010/main" val="11759000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F70C-7605-F267-0BC0-E826B6FBE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Slide Section Divider 3</a:t>
            </a:r>
          </a:p>
        </p:txBody>
      </p:sp>
    </p:spTree>
    <p:extLst>
      <p:ext uri="{BB962C8B-B14F-4D97-AF65-F5344CB8AC3E}">
        <p14:creationId xmlns:p14="http://schemas.microsoft.com/office/powerpoint/2010/main" val="11189075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C646C5-BB02-4C24-26FB-D282F65EEF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, magna sed pulvinar </a:t>
            </a:r>
            <a:r>
              <a:rPr lang="en-US" dirty="0" err="1"/>
              <a:t>ultricies</a:t>
            </a:r>
            <a:r>
              <a:rPr lang="en-US" dirty="0"/>
              <a:t>,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libero,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magna eros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Nunc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est. </a:t>
            </a:r>
            <a:r>
              <a:rPr lang="en-US" dirty="0" err="1"/>
              <a:t>Vivamus</a:t>
            </a:r>
            <a:r>
              <a:rPr lang="en-US" dirty="0"/>
              <a:t> a </a:t>
            </a:r>
            <a:r>
              <a:rPr lang="en-US" dirty="0" err="1"/>
              <a:t>tellus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Proin pharetra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pede</a:t>
            </a:r>
            <a:r>
              <a:rPr lang="en-US" dirty="0"/>
              <a:t>. Mauris et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0C6309-A6C7-C38B-1FD0-7A9A6E72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Dark simple text slide</a:t>
            </a:r>
          </a:p>
        </p:txBody>
      </p:sp>
    </p:spTree>
    <p:extLst>
      <p:ext uri="{BB962C8B-B14F-4D97-AF65-F5344CB8AC3E}">
        <p14:creationId xmlns:p14="http://schemas.microsoft.com/office/powerpoint/2010/main" val="17958150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21E1D1-6A59-E405-8445-BB939E85E3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, magna sed pulvinar </a:t>
            </a:r>
            <a:r>
              <a:rPr lang="en-US" dirty="0" err="1"/>
              <a:t>ultricies</a:t>
            </a:r>
            <a:r>
              <a:rPr lang="en-US" dirty="0"/>
              <a:t>,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libero,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magna eros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Nunc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est. </a:t>
            </a:r>
            <a:r>
              <a:rPr lang="en-US" dirty="0" err="1"/>
              <a:t>Vivamus</a:t>
            </a:r>
            <a:r>
              <a:rPr lang="en-US" dirty="0"/>
              <a:t> a </a:t>
            </a:r>
            <a:r>
              <a:rPr lang="en-US" dirty="0" err="1"/>
              <a:t>tellus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Proin pharetra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pede</a:t>
            </a:r>
            <a:r>
              <a:rPr lang="en-US" dirty="0"/>
              <a:t>. Mauris et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6C095E-4E84-0605-D7D1-418655ED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Dark simple text slide</a:t>
            </a:r>
          </a:p>
        </p:txBody>
      </p:sp>
    </p:spTree>
    <p:extLst>
      <p:ext uri="{BB962C8B-B14F-4D97-AF65-F5344CB8AC3E}">
        <p14:creationId xmlns:p14="http://schemas.microsoft.com/office/powerpoint/2010/main" val="29789629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" descr="A person sitting at a desk looking at a computer&#10;&#10;Description automatically generated">
            <a:extLst>
              <a:ext uri="{FF2B5EF4-FFF2-40B4-BE49-F238E27FC236}">
                <a16:creationId xmlns:a16="http://schemas.microsoft.com/office/drawing/2014/main" id="{39A7E614-A758-FC6E-BD0B-A12DE6C179A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24409" r="24409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06F1BBD-8774-D74F-0A7A-DB68E9ED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Dark slide with image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1B6EB-15EE-F0F6-F27D-CEDDA9784A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, magna sed pulvinar </a:t>
            </a:r>
            <a:r>
              <a:rPr lang="en-US" dirty="0" err="1"/>
              <a:t>ultricies</a:t>
            </a:r>
            <a:r>
              <a:rPr lang="en-US" dirty="0"/>
              <a:t>,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libero,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magna eros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Nunc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est. </a:t>
            </a:r>
            <a:r>
              <a:rPr lang="en-US" dirty="0" err="1"/>
              <a:t>Vivamus</a:t>
            </a:r>
            <a:r>
              <a:rPr lang="en-US" dirty="0"/>
              <a:t> a </a:t>
            </a:r>
            <a:r>
              <a:rPr lang="en-US" dirty="0" err="1"/>
              <a:t>tellus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Proin pharetra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pede</a:t>
            </a:r>
            <a:r>
              <a:rPr lang="en-US" dirty="0"/>
              <a:t>. Mauris et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803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B7B58B-1F4D-3B73-E573-3ED29DEEF7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Clr>
                <a:schemeClr val="accent5"/>
              </a:buClr>
            </a:pPr>
            <a:r>
              <a:rPr lang="en-US" b="1" dirty="0"/>
              <a:t>Lorem ipsum dolor sit </a:t>
            </a:r>
            <a:r>
              <a:rPr lang="en-US" b="1" dirty="0" err="1"/>
              <a:t>amet</a:t>
            </a:r>
            <a:r>
              <a:rPr lang="en-US" b="1" dirty="0"/>
              <a:t>, </a:t>
            </a:r>
            <a:r>
              <a:rPr lang="en-US" b="1" dirty="0" err="1"/>
              <a:t>consectetuer</a:t>
            </a:r>
            <a:r>
              <a:rPr lang="en-US" b="1" dirty="0"/>
              <a:t> </a:t>
            </a:r>
            <a:r>
              <a:rPr lang="en-US" b="1" dirty="0" err="1"/>
              <a:t>adipiscing</a:t>
            </a:r>
            <a:r>
              <a:rPr lang="en-US" b="1" dirty="0"/>
              <a:t> </a:t>
            </a:r>
            <a:r>
              <a:rPr lang="en-US" b="1" dirty="0" err="1"/>
              <a:t>elit</a:t>
            </a:r>
            <a:r>
              <a:rPr lang="en-US" b="1" dirty="0"/>
              <a:t>. Maecenas </a:t>
            </a:r>
            <a:r>
              <a:rPr lang="en-US" b="1" dirty="0" err="1"/>
              <a:t>porttitor</a:t>
            </a:r>
            <a:r>
              <a:rPr lang="en-US" b="1" dirty="0"/>
              <a:t> </a:t>
            </a:r>
            <a:r>
              <a:rPr lang="en-US" b="1" dirty="0" err="1"/>
              <a:t>congue</a:t>
            </a:r>
            <a:endParaRPr lang="en-US" b="1" dirty="0"/>
          </a:p>
          <a:p>
            <a:pPr>
              <a:buClr>
                <a:schemeClr val="accent5"/>
              </a:buClr>
            </a:pPr>
            <a:endParaRPr lang="en-US" b="1" dirty="0"/>
          </a:p>
          <a:p>
            <a:pPr>
              <a:buClr>
                <a:schemeClr val="accent5"/>
              </a:buClr>
            </a:pPr>
            <a:r>
              <a:rPr lang="en-US" b="1" dirty="0"/>
              <a:t>Nunc </a:t>
            </a:r>
            <a:r>
              <a:rPr lang="en-US" b="1" dirty="0" err="1"/>
              <a:t>viverra</a:t>
            </a:r>
            <a:r>
              <a:rPr lang="en-US" b="1" dirty="0"/>
              <a:t> </a:t>
            </a:r>
            <a:r>
              <a:rPr lang="en-US" b="1" dirty="0" err="1"/>
              <a:t>imperdiet</a:t>
            </a:r>
            <a:r>
              <a:rPr lang="en-US" b="1" dirty="0"/>
              <a:t> </a:t>
            </a:r>
            <a:r>
              <a:rPr lang="en-US" b="1" dirty="0" err="1"/>
              <a:t>enim</a:t>
            </a:r>
            <a:r>
              <a:rPr lang="en-US" b="1" dirty="0"/>
              <a:t>. </a:t>
            </a:r>
            <a:r>
              <a:rPr lang="en-US" b="1" dirty="0" err="1"/>
              <a:t>Fusce</a:t>
            </a:r>
            <a:r>
              <a:rPr lang="en-US" b="1" dirty="0"/>
              <a:t> est. </a:t>
            </a:r>
            <a:r>
              <a:rPr lang="en-US" b="1" dirty="0" err="1"/>
              <a:t>Vivamus</a:t>
            </a:r>
            <a:r>
              <a:rPr lang="en-US" b="1" dirty="0"/>
              <a:t> a </a:t>
            </a:r>
            <a:r>
              <a:rPr lang="en-US" b="1" dirty="0" err="1"/>
              <a:t>tellus</a:t>
            </a:r>
            <a:r>
              <a:rPr lang="en-US" b="1" dirty="0"/>
              <a:t>.</a:t>
            </a:r>
          </a:p>
          <a:p>
            <a:pPr>
              <a:buClr>
                <a:schemeClr val="accent5"/>
              </a:buClr>
            </a:pPr>
            <a:endParaRPr lang="en-US" dirty="0"/>
          </a:p>
          <a:p>
            <a:pPr>
              <a:buClr>
                <a:schemeClr val="accent5"/>
              </a:buClr>
            </a:pPr>
            <a:endParaRPr lang="en-US" dirty="0"/>
          </a:p>
          <a:p>
            <a:pPr>
              <a:buClr>
                <a:schemeClr val="accent5"/>
              </a:buClr>
            </a:pP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68863-1F86-9B01-412A-303B94AA89E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, magna sed pulvinar </a:t>
            </a:r>
            <a:r>
              <a:rPr lang="en-US" dirty="0" err="1"/>
              <a:t>ultricies</a:t>
            </a:r>
            <a:r>
              <a:rPr lang="en-US" dirty="0"/>
              <a:t>,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libero,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magna eros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Nunc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est. </a:t>
            </a:r>
            <a:r>
              <a:rPr lang="en-US" dirty="0" err="1"/>
              <a:t>Vivamus</a:t>
            </a:r>
            <a:r>
              <a:rPr lang="en-US" dirty="0"/>
              <a:t> a </a:t>
            </a:r>
            <a:r>
              <a:rPr lang="en-US" dirty="0" err="1"/>
              <a:t>tellus</a:t>
            </a:r>
            <a:r>
              <a:rPr lang="en-US" dirty="0"/>
              <a:t>.</a:t>
            </a:r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Proin pharetra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pede</a:t>
            </a:r>
            <a:r>
              <a:rPr lang="en-US" dirty="0"/>
              <a:t>. Mauris et </a:t>
            </a:r>
            <a:r>
              <a:rPr lang="en-US" dirty="0" err="1"/>
              <a:t>orci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F447C9-0311-4DEF-A542-F0884DEF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slide layout dark </a:t>
            </a:r>
          </a:p>
        </p:txBody>
      </p:sp>
    </p:spTree>
    <p:extLst>
      <p:ext uri="{BB962C8B-B14F-4D97-AF65-F5344CB8AC3E}">
        <p14:creationId xmlns:p14="http://schemas.microsoft.com/office/powerpoint/2010/main" val="5021178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6432DA-8BDA-8A09-73AA-B4ABB291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table example</a:t>
            </a:r>
          </a:p>
        </p:txBody>
      </p:sp>
      <p:graphicFrame>
        <p:nvGraphicFramePr>
          <p:cNvPr id="4" name="Table">
            <a:extLst>
              <a:ext uri="{FF2B5EF4-FFF2-40B4-BE49-F238E27FC236}">
                <a16:creationId xmlns:a16="http://schemas.microsoft.com/office/drawing/2014/main" id="{27B525EE-DFF5-D8AF-BAC7-AF38C2653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113757"/>
              </p:ext>
            </p:extLst>
          </p:nvPr>
        </p:nvGraphicFramePr>
        <p:xfrm>
          <a:off x="444937" y="1465901"/>
          <a:ext cx="11242565" cy="385256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48513">
                  <a:extLst>
                    <a:ext uri="{9D8B030D-6E8A-4147-A177-3AD203B41FA5}">
                      <a16:colId xmlns:a16="http://schemas.microsoft.com/office/drawing/2014/main" val="2189174563"/>
                    </a:ext>
                  </a:extLst>
                </a:gridCol>
                <a:gridCol w="2248513">
                  <a:extLst>
                    <a:ext uri="{9D8B030D-6E8A-4147-A177-3AD203B41FA5}">
                      <a16:colId xmlns:a16="http://schemas.microsoft.com/office/drawing/2014/main" val="367284015"/>
                    </a:ext>
                  </a:extLst>
                </a:gridCol>
                <a:gridCol w="2248513">
                  <a:extLst>
                    <a:ext uri="{9D8B030D-6E8A-4147-A177-3AD203B41FA5}">
                      <a16:colId xmlns:a16="http://schemas.microsoft.com/office/drawing/2014/main" val="3985092549"/>
                    </a:ext>
                  </a:extLst>
                </a:gridCol>
                <a:gridCol w="2248513">
                  <a:extLst>
                    <a:ext uri="{9D8B030D-6E8A-4147-A177-3AD203B41FA5}">
                      <a16:colId xmlns:a16="http://schemas.microsoft.com/office/drawing/2014/main" val="429439576"/>
                    </a:ext>
                  </a:extLst>
                </a:gridCol>
                <a:gridCol w="2248513">
                  <a:extLst>
                    <a:ext uri="{9D8B030D-6E8A-4147-A177-3AD203B41FA5}">
                      <a16:colId xmlns:a16="http://schemas.microsoft.com/office/drawing/2014/main" val="3122025988"/>
                    </a:ext>
                  </a:extLst>
                </a:gridCol>
              </a:tblGrid>
              <a:tr h="51004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ysClr val="windowText" lastClr="000000"/>
                          </a:solidFill>
                        </a:rPr>
                        <a:t>Title 1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ysClr val="windowText" lastClr="000000"/>
                          </a:solidFill>
                        </a:rPr>
                        <a:t>Title 2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ysClr val="windowText" lastClr="000000"/>
                          </a:solidFill>
                        </a:rPr>
                        <a:t>Title 3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ysClr val="windowText" lastClr="000000"/>
                          </a:solidFill>
                        </a:rPr>
                        <a:t>Title 4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ysClr val="windowText" lastClr="000000"/>
                          </a:solidFill>
                        </a:rPr>
                        <a:t>Title 5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010379"/>
                  </a:ext>
                </a:extLst>
              </a:tr>
              <a:tr h="835631">
                <a:tc>
                  <a:txBody>
                    <a:bodyPr/>
                    <a:lstStyle/>
                    <a:p>
                      <a:r>
                        <a:rPr lang="en-US" sz="1200"/>
                        <a:t>Lorem ipsum dolor sit amet, consectetuer adipiscing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168648"/>
                  </a:ext>
                </a:extLst>
              </a:tr>
              <a:tr h="835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632781"/>
                  </a:ext>
                </a:extLst>
              </a:tr>
              <a:tr h="835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698121"/>
                  </a:ext>
                </a:extLst>
              </a:tr>
              <a:tr h="835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am.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Lorem ipsum dolor sit </a:t>
                      </a:r>
                      <a:r>
                        <a:rPr lang="en-US" sz="1200" err="1"/>
                        <a:t>amet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consectetuer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adipiscing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elit</a:t>
                      </a:r>
                      <a:r>
                        <a:rPr lang="en-US" sz="1200"/>
                        <a:t>.</a:t>
                      </a:r>
                    </a:p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lorem</a:t>
                      </a:r>
                    </a:p>
                    <a:p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993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03344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DCEF-B5D8-1471-DA67-C30634B1D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6050717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Copy">
            <a:extLst>
              <a:ext uri="{FF2B5EF4-FFF2-40B4-BE49-F238E27FC236}">
                <a16:creationId xmlns:a16="http://schemas.microsoft.com/office/drawing/2014/main" id="{0B76007F-872E-54AC-3D22-7E4DAF2F39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798" y="1605139"/>
            <a:ext cx="6293602" cy="421781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For additional slide design and layout options, and guidance for use of the PowerPoint template, please see the PowerPoint Template Guidelines located on the </a:t>
            </a:r>
            <a:r>
              <a:rPr lang="en-US" sz="2400" dirty="0">
                <a:solidFill>
                  <a:srgbClr val="00798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Lumen Brand Center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5075876-DF50-8080-9F6B-0C0E27752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Options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BE679C-DDFD-F0F1-CA3D-1AC4A0CD30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37261" y="1605139"/>
            <a:ext cx="4219255" cy="237411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03808694"/>
      </p:ext>
    </p:extLst>
  </p:cSld>
  <p:clrMapOvr>
    <a:masterClrMapping/>
  </p:clrMapOvr>
</p:sld>
</file>

<file path=ppt/theme/theme1.xml><?xml version="1.0" encoding="utf-8"?>
<a:theme xmlns:a="http://schemas.openxmlformats.org/drawingml/2006/main" name="4_Lumen24">
  <a:themeElements>
    <a:clrScheme name="Lumen24v2 2">
      <a:dk1>
        <a:srgbClr val="000000"/>
      </a:dk1>
      <a:lt1>
        <a:srgbClr val="FFFFFF"/>
      </a:lt1>
      <a:dk2>
        <a:srgbClr val="0F3033"/>
      </a:dk2>
      <a:lt2>
        <a:srgbClr val="E7E6E6"/>
      </a:lt2>
      <a:accent1>
        <a:srgbClr val="0E3033"/>
      </a:accent1>
      <a:accent2>
        <a:srgbClr val="FB8328"/>
      </a:accent2>
      <a:accent3>
        <a:srgbClr val="CFD3D9"/>
      </a:accent3>
      <a:accent4>
        <a:srgbClr val="F85E48"/>
      </a:accent4>
      <a:accent5>
        <a:srgbClr val="B2FFF6"/>
      </a:accent5>
      <a:accent6>
        <a:srgbClr val="36C6C6"/>
      </a:accent6>
      <a:hlink>
        <a:srgbClr val="0563C1"/>
      </a:hlink>
      <a:folHlink>
        <a:srgbClr val="954F72"/>
      </a:folHlink>
    </a:clrScheme>
    <a:fontScheme name="Avena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Lumen24" id="{5CE95256-FB4C-B744-B262-25F8CC9FA428}" vid="{31F9C14B-1DC9-824F-9A28-06D0A3D6F3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50F7A955F56E46AC1272FAA0B8ADB6" ma:contentTypeVersion="11" ma:contentTypeDescription="Create a new document." ma:contentTypeScope="" ma:versionID="315b24d9dd272892108d24d986ecd767">
  <xsd:schema xmlns:xsd="http://www.w3.org/2001/XMLSchema" xmlns:xs="http://www.w3.org/2001/XMLSchema" xmlns:p="http://schemas.microsoft.com/office/2006/metadata/properties" xmlns:ns2="006f29d7-22ce-4f85-a41b-3cfd3457d55e" xmlns:ns3="792d33a7-ad4f-4d10-b52e-e5eb792ba797" targetNamespace="http://schemas.microsoft.com/office/2006/metadata/properties" ma:root="true" ma:fieldsID="b278361e8229966e16cabc8b73c4eea1" ns2:_="" ns3:_="">
    <xsd:import namespace="006f29d7-22ce-4f85-a41b-3cfd3457d55e"/>
    <xsd:import namespace="792d33a7-ad4f-4d10-b52e-e5eb792ba7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6f29d7-22ce-4f85-a41b-3cfd3457d5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2d33a7-ad4f-4d10-b52e-e5eb792ba79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92d33a7-ad4f-4d10-b52e-e5eb792ba797">
      <UserInfo>
        <DisplayName>Allison, Katharine</DisplayName>
        <AccountId>122</AccountId>
        <AccountType/>
      </UserInfo>
      <UserInfo>
        <DisplayName>Labbe, Andrew</DisplayName>
        <AccountId>74</AccountId>
        <AccountType/>
      </UserInfo>
      <UserInfo>
        <DisplayName>Scheer, Jenny</DisplayName>
        <AccountId>67</AccountId>
        <AccountType/>
      </UserInfo>
      <UserInfo>
        <DisplayName>Davis, Craig</DisplayName>
        <AccountId>107</AccountId>
        <AccountType/>
      </UserInfo>
      <UserInfo>
        <DisplayName>Povirk, Kim J</DisplayName>
        <AccountId>110</AccountId>
        <AccountType/>
      </UserInfo>
      <UserInfo>
        <DisplayName>Johnson, Joshua</DisplayName>
        <AccountId>105</AccountId>
        <AccountType/>
      </UserInfo>
      <UserInfo>
        <DisplayName>Hutchins, Steve C</DisplayName>
        <AccountId>125</AccountId>
        <AccountType/>
      </UserInfo>
      <UserInfo>
        <DisplayName>Barrows, Jay</DisplayName>
        <AccountId>89</AccountId>
        <AccountType/>
      </UserInfo>
      <UserInfo>
        <DisplayName>Shazab, Shanil</DisplayName>
        <AccountId>51</AccountId>
        <AccountType/>
      </UserInfo>
      <UserInfo>
        <DisplayName>Figueroa, LaGina</DisplayName>
        <AccountId>128</AccountId>
        <AccountType/>
      </UserInfo>
      <UserInfo>
        <DisplayName>Boeggeman, Brian</DisplayName>
        <AccountId>84</AccountId>
        <AccountType/>
      </UserInfo>
      <UserInfo>
        <DisplayName>Haynes-Gaspar, Ashley</DisplayName>
        <AccountId>15</AccountId>
        <AccountType/>
      </UserInfo>
      <UserInfo>
        <DisplayName>Redding, Erin</DisplayName>
        <AccountId>10</AccountId>
        <AccountType/>
      </UserInfo>
      <UserInfo>
        <DisplayName>Crews, Carey Leigh</DisplayName>
        <AccountId>28</AccountId>
        <AccountType/>
      </UserInfo>
      <UserInfo>
        <DisplayName>Bandar, Anne</DisplayName>
        <AccountId>11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112D4B6-0164-4583-920F-893357ED7CEC}">
  <ds:schemaRefs>
    <ds:schemaRef ds:uri="006f29d7-22ce-4f85-a41b-3cfd3457d55e"/>
    <ds:schemaRef ds:uri="792d33a7-ad4f-4d10-b52e-e5eb792ba79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158AC84-0742-41EF-9CFC-0011BE4BD831}">
  <ds:schemaRefs>
    <ds:schemaRef ds:uri="792d33a7-ad4f-4d10-b52e-e5eb792ba797"/>
    <ds:schemaRef ds:uri="http://purl.org/dc/terms/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006f29d7-22ce-4f85-a41b-3cfd3457d55e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64D1736-BF41-4F70-A805-9FF15E10496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7bd1f64-4ecb-43d7-94b5-4669091ae21c}" enabled="1" method="Privileged" siteId="{72b17115-9915-42c0-9f1b-4f98e5a4bcd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16249</TotalTime>
  <Words>2485</Words>
  <Application>Microsoft Macintosh PowerPoint</Application>
  <PresentationFormat>Widescreen</PresentationFormat>
  <Paragraphs>351</Paragraphs>
  <Slides>38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ADLaM Display</vt:lpstr>
      <vt:lpstr>Arial</vt:lpstr>
      <vt:lpstr>Avenir Next LT Pro</vt:lpstr>
      <vt:lpstr>Avenir Next LT Pro Demi</vt:lpstr>
      <vt:lpstr>Calibri</vt:lpstr>
      <vt:lpstr>Symbol</vt:lpstr>
      <vt:lpstr>System Font Regular</vt:lpstr>
      <vt:lpstr>Wingdings</vt:lpstr>
      <vt:lpstr>4_Lumen24</vt:lpstr>
      <vt:lpstr>PowerPoint Presentation</vt:lpstr>
      <vt:lpstr>Things We Will Cover</vt:lpstr>
      <vt:lpstr>What is Ollama</vt:lpstr>
      <vt:lpstr>What’s Available for Use With Ollama</vt:lpstr>
      <vt:lpstr>PowerPoint Presentation</vt:lpstr>
      <vt:lpstr>CHECK HERE FIRST!</vt:lpstr>
      <vt:lpstr>Jupyter Notebooks</vt:lpstr>
      <vt:lpstr>What variables make a model yours</vt:lpstr>
      <vt:lpstr>Frequently used Ollama API Endpoints </vt:lpstr>
      <vt:lpstr>Links</vt:lpstr>
      <vt:lpstr>Links</vt:lpstr>
      <vt:lpstr>Light Slide Section Divider 1</vt:lpstr>
      <vt:lpstr>PowerPoint Presentation</vt:lpstr>
      <vt:lpstr>PowerPoint Presentation</vt:lpstr>
      <vt:lpstr>Light Slide Section Divider 2</vt:lpstr>
      <vt:lpstr>Title here</vt:lpstr>
      <vt:lpstr>Title here</vt:lpstr>
      <vt:lpstr>Slide title</vt:lpstr>
      <vt:lpstr>What’s Next in 2026</vt:lpstr>
      <vt:lpstr>PowerPoint Presentation</vt:lpstr>
      <vt:lpstr>Chart over time</vt:lpstr>
      <vt:lpstr>Simple text slide</vt:lpstr>
      <vt:lpstr>Split slide layout</vt:lpstr>
      <vt:lpstr>Large table example</vt:lpstr>
      <vt:lpstr>Pie chart example</vt:lpstr>
      <vt:lpstr>PowerPoint Presentation</vt:lpstr>
      <vt:lpstr>PowerPoint Presentation</vt:lpstr>
      <vt:lpstr>PowerPoint Presentation</vt:lpstr>
      <vt:lpstr>Dark Slide Section Divider 1</vt:lpstr>
      <vt:lpstr>Dark Slide Section Divider 2</vt:lpstr>
      <vt:lpstr>Slide Section Divider 3</vt:lpstr>
      <vt:lpstr>Dark simple text slide</vt:lpstr>
      <vt:lpstr>Dark simple text slide</vt:lpstr>
      <vt:lpstr>Dark slide with image</vt:lpstr>
      <vt:lpstr>Split slide layout dark </vt:lpstr>
      <vt:lpstr>Large table example</vt:lpstr>
      <vt:lpstr>Appendix</vt:lpstr>
      <vt:lpstr>Additional Options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Lumen25 PowerPoint Presentation</dc:title>
  <dc:subject/>
  <dc:creator>Lumen Brand Team</dc:creator>
  <cp:keywords/>
  <dc:description/>
  <cp:lastModifiedBy>Maxey, Gabrielle</cp:lastModifiedBy>
  <cp:revision>27</cp:revision>
  <dcterms:created xsi:type="dcterms:W3CDTF">2024-01-11T21:16:32Z</dcterms:created>
  <dcterms:modified xsi:type="dcterms:W3CDTF">2026-02-27T21:04:52Z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0x0101002E50F7A955F56E46AC1272FAA0B8ADB6</vt:lpwstr>
  </property>
</Properties>
</file>