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4"/>
  </p:sldMasterIdLst>
  <p:notesMasterIdLst>
    <p:notesMasterId r:id="rId21"/>
  </p:notesMasterIdLst>
  <p:sldIdLst>
    <p:sldId id="2147483143" r:id="rId5"/>
    <p:sldId id="2147483177" r:id="rId6"/>
    <p:sldId id="2147483173" r:id="rId7"/>
    <p:sldId id="2147483175" r:id="rId8"/>
    <p:sldId id="2147483603" r:id="rId9"/>
    <p:sldId id="2147483606" r:id="rId10"/>
    <p:sldId id="2147483170" r:id="rId11"/>
    <p:sldId id="2147483604" r:id="rId12"/>
    <p:sldId id="2147483174" r:id="rId13"/>
    <p:sldId id="2147483118" r:id="rId14"/>
    <p:sldId id="2147483171" r:id="rId15"/>
    <p:sldId id="2147483152" r:id="rId16"/>
    <p:sldId id="2147483607" r:id="rId17"/>
    <p:sldId id="2147483608" r:id="rId18"/>
    <p:sldId id="2147483609" r:id="rId19"/>
    <p:sldId id="214748313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1AE800-FF44-2313-BB18-EB52AAFFA88F}" name="Crews, Carey Leigh" initials="CL" userId="S::careyleigh.crews@lumen.com::e0353bbb-3f79-4618-9d89-e2e81942b16c" providerId="AD"/>
  <p188:author id="{93003D2A-A76E-1EAD-4A07-509D8E86ECDC}" name="Haynes-Gaspar, Ashley" initials="HGA" userId="S::Ashley.Haynes-Gaspar@lumen.com::3935d576-38d4-4921-be3b-e67bd449b806" providerId="AD"/>
  <p188:author id="{D22B5A2F-FDCC-19B7-38FA-DC421E3E9DA6}" name="Zahn, Tracy" initials="ZT" userId="S::tracy.zahn@lumen.com::92e6ecbb-e32b-4459-abe1-1821f06269df" providerId="AD"/>
  <p188:author id="{E789B843-9D5B-8C77-FEA8-DE250AF39394}" name="Crews, Carey Leigh" initials="CC" userId="S::CareyLeigh.Crews@lumen.com::e0353bbb-3f79-4618-9d89-e2e81942b16c" providerId="AD"/>
  <p188:author id="{2D78287E-4BBC-032E-4F87-1E1D4C68EC2C}" name="Koretz, Phil" initials="PK" userId="S::Phil.Koretz@lumen.com::0037e820-ad81-406b-9d31-9482b195afb0" providerId="AD"/>
  <p188:author id="{D8F75496-2063-DA13-F7B2-99C76C11BD3A}" name="Hendrickson, Brady" initials="" userId="S::brady.hendrickson@lumen.com::0064b1e8-6ec1-48f5-927a-21faad9035df" providerId="AD"/>
  <p188:author id="{51B6DEA0-4DF2-C0D3-D69D-E7437639BFAC}" name="Bandar, Anne" initials="BA" userId="S::anne.bandar@lumen.com::083af7f8-36cb-4ec0-bea2-79abead6b9cd" providerId="AD"/>
  <p188:author id="{E5801DA8-2779-700D-50C0-2C2C251E5497}" name="Cole, Autumn" initials="" userId="S::autumn.cole@lumen.com::98576606-8555-4498-a6ba-1d8359c9b675" providerId="AD"/>
  <p188:author id="{3871BCAD-19C9-5DC2-1DEE-9C270CFA087A}" name="Ortiz, Nerelys M" initials="NO" userId="S::nerelys.ortiz@lumen.com::ad3d8129-4061-47bd-b020-985564298e0e" providerId="AD"/>
  <p188:author id="{7EED05B7-69EA-C2BA-B3E8-6647832057DB}" name="Ortiz, Nerelys M" initials="ONM" userId="S::Nerelys.Ortiz@lumen.com::ad3d8129-4061-47bd-b020-985564298e0e" providerId="AD"/>
  <p188:author id="{A5C8A7BA-A99E-176F-8009-CDC27EF4D5EE}" name="Bandar, Anne" initials="AB" userId="S::Anne.Bandar@Lumen.com::083af7f8-36cb-4ec0-bea2-79abead6b9cd" providerId="AD"/>
  <p188:author id="{7E578BD2-9A1A-A7C6-7752-E78549E8718D}" name="Labbe, Andrew" initials="LA" userId="S::andrew.labbe@lumen.com::635668bd-d49f-47f1-8e97-7f81d96d8fbc" providerId="AD"/>
  <p188:author id="{82E488D4-FF12-D590-576A-8CAE984C1C8B}" name="Davis, Kerrie" initials="DK" userId="S::kerrie.davis@lumen.com::c51bb37d-4087-48d9-abf4-70f9632f786f" providerId="AD"/>
  <p188:author id="{923AE3D7-4C08-8483-C937-381B29ABC9B3}" name="Shazab, Shanil" initials="SS" userId="S::shanil.shazab@lumen.com::cd58badb-8d9f-4256-8aea-2f71f86d4111" providerId="AD"/>
  <p188:author id="{DC973EE0-F418-032B-4015-8F6D3A4B40CC}" name="Redding, Erin" initials="RE" userId="S::Erin.Redding@lumen.com::f420f557-5baf-4642-adf3-184d0241539a" providerId="AD"/>
  <p188:author id="{D8B632E2-7337-E3CF-C11E-EA28A90DE88D}" name="Regnier, Amy" initials="RA" userId="S::Amy.Regnier@lumen.com::3e877262-368d-4b30-baef-b349696c8e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582F"/>
    <a:srgbClr val="DD695B"/>
    <a:srgbClr val="DA8600"/>
    <a:srgbClr val="8AC9A4"/>
    <a:srgbClr val="8CC9A7"/>
    <a:srgbClr val="7381CD"/>
    <a:srgbClr val="2AEDE5"/>
    <a:srgbClr val="003233"/>
    <a:srgbClr val="FB8328"/>
    <a:srgbClr val="007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51"/>
    <p:restoredTop sz="72369" autoAdjust="0"/>
  </p:normalViewPr>
  <p:slideViewPr>
    <p:cSldViewPr>
      <p:cViewPr varScale="1">
        <p:scale>
          <a:sx n="97" d="100"/>
          <a:sy n="97" d="100"/>
        </p:scale>
        <p:origin x="5368" y="1528"/>
      </p:cViewPr>
      <p:guideLst>
        <p:guide orient="horz" pos="864"/>
        <p:guide pos="28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72A00696-9BD7-5046-8107-6B63D3657C74}" type="datetimeFigureOut">
              <a:rPr lang="en-US" smtClean="0"/>
              <a:pPr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503E9FBA-0371-CD46-BFF3-A4601F314E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3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54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B568-F2E5-CB49-5E18-44820CD8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ED4A-CD1A-21E1-A801-E45F0A5DC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35E7B-B5FA-C9E9-9CDC-6C40EA9D8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62783-6520-274D-0E74-50898B799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62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think of Ollama as the interface that allows you to interact with a LM on your machine. </a:t>
            </a:r>
          </a:p>
          <a:p>
            <a:r>
              <a:rPr lang="en-US" dirty="0"/>
              <a:t>The models are quantized so they are smaller</a:t>
            </a:r>
            <a:br>
              <a:rPr lang="en-US" dirty="0"/>
            </a:br>
            <a:r>
              <a:rPr lang="en-US" dirty="0"/>
              <a:t>Available across multiple platforms</a:t>
            </a:r>
            <a:br>
              <a:rPr lang="en-US" dirty="0"/>
            </a:br>
            <a:r>
              <a:rPr lang="en-US" dirty="0"/>
              <a:t>With Ollama you can ‘personalize’ a model to fit your specific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74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Thinking – Text only</a:t>
            </a:r>
          </a:p>
          <a:p>
            <a:r>
              <a:rPr lang="en-US" dirty="0"/>
              <a:t>Vision – Text and image interpretation</a:t>
            </a:r>
          </a:p>
          <a:p>
            <a:r>
              <a:rPr lang="en-US" dirty="0"/>
              <a:t>Embedding – Basically chunking and sorting words into like/similar segments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89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8691-002C-FA9A-134C-2CB236C9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D45C9-F59C-A353-6966-AFE2259DF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4BB86-8BEA-C312-F854-5AEA525B8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you REALLY training the model or are you ‘tuning or optimizing’ what’s the difference?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it really means to train – building and refining a base model– like llama or Claude.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train a model you need loads of GPUs. the larger the model created the more GPUs.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Start with prompts: system prompt sets behavior; tasks prompt set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Few-shot improves consistency without ‘training’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RAG adds grounding by retrieving internal context with citations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Tools/API add real-time truth safely via an allow-list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Lora is the step where we adapt behavior permanently with an adapter.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Training a lora adapter requires a large amount of GGUF. Again, the larger the adapter the more GGUFs.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F9C46-D17F-2952-14F4-16CB36C7C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00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62EE1-3573-0B2B-3318-48535E70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45F63-191C-5770-9719-174BF7A1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0B326-DD9C-56B7-CA3E-C33760C88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 go on a downloading spree, you want to make sure that you are going to the company’s AI Governance site. </a:t>
            </a:r>
            <a:br>
              <a:rPr lang="en-US" dirty="0"/>
            </a:br>
            <a:r>
              <a:rPr lang="en-US" dirty="0"/>
              <a:t>Check to see if the model is on the approved list and not performing prohibited actions. If you have questions or are unsure, reach out to the AI Governance DL.</a:t>
            </a:r>
            <a:br>
              <a:rPr lang="en-US" dirty="0"/>
            </a:br>
            <a:r>
              <a:rPr lang="en-US" dirty="0"/>
              <a:t>The point of today and presenting Ollama to you, is, if you haven’t already is to see and think about what is possible.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C3632-B363-055D-99DA-5B2283756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04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15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64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7666-B430-C256-41AF-033CE1F6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3A90D-F51D-1CDF-B6F5-4A931EABC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90776-56D3-B18E-C814-358941D0C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2811C-E76D-C4DD-8CF2-3C91147C3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57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3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9FBA-0371-CD46-BFF3-A4601F314EE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2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ctangular orange and white rectangle with a white center&#10;&#10;AI-generated content may be incorrect.">
            <a:extLst>
              <a:ext uri="{FF2B5EF4-FFF2-40B4-BE49-F238E27FC236}">
                <a16:creationId xmlns:a16="http://schemas.microsoft.com/office/drawing/2014/main" id="{C802DEA6-C785-FDF2-02D0-E4256EF1F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37044ACC-96FA-F10E-46A7-A53B536AF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7C58EBB0-F762-6A7E-883A-8CE7523F8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9406" y="3723172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tx2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E975D98E-0D00-614F-51AC-8BE572136F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9406" y="2370171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tx2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93ACFABC-27EF-9C68-A69B-ADE8E15003C8}"/>
              </a:ext>
            </a:extLst>
          </p:cNvPr>
          <p:cNvSpPr txBox="1">
            <a:spLocks/>
          </p:cNvSpPr>
          <p:nvPr userDrawn="1"/>
        </p:nvSpPr>
        <p:spPr>
          <a:xfrm>
            <a:off x="665810" y="6431096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DEF6F00-4B5F-120F-4678-D5B3AC41DE55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0412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ange Gradient">
            <a:extLst>
              <a:ext uri="{FF2B5EF4-FFF2-40B4-BE49-F238E27FC236}">
                <a16:creationId xmlns:a16="http://schemas.microsoft.com/office/drawing/2014/main" id="{CBA46A9A-B796-7A8D-1698-7D3692A5FD89}"/>
              </a:ext>
            </a:extLst>
          </p:cNvPr>
          <p:cNvSpPr/>
          <p:nvPr userDrawn="1"/>
        </p:nvSpPr>
        <p:spPr>
          <a:xfrm>
            <a:off x="-7816" y="0"/>
            <a:ext cx="12199816" cy="5884504"/>
          </a:xfrm>
          <a:prstGeom prst="rect">
            <a:avLst/>
          </a:prstGeom>
          <a:gradFill flip="none" rotWithShape="1">
            <a:gsLst>
              <a:gs pos="0">
                <a:srgbClr val="FB8429"/>
              </a:gs>
              <a:gs pos="100000">
                <a:srgbClr val="F95E4A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1096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4" name="E Bar Shape">
            <a:extLst>
              <a:ext uri="{FF2B5EF4-FFF2-40B4-BE49-F238E27FC236}">
                <a16:creationId xmlns:a16="http://schemas.microsoft.com/office/drawing/2014/main" id="{50DBC5FE-FE26-BAE2-93A2-4C688416C8F5}"/>
              </a:ext>
            </a:extLst>
          </p:cNvPr>
          <p:cNvSpPr/>
          <p:nvPr userDrawn="1"/>
        </p:nvSpPr>
        <p:spPr>
          <a:xfrm>
            <a:off x="3167404" y="1376909"/>
            <a:ext cx="8455844" cy="2743199"/>
          </a:xfrm>
          <a:custGeom>
            <a:avLst/>
            <a:gdLst>
              <a:gd name="connsiteX0" fmla="*/ 457210 w 8455844"/>
              <a:gd name="connsiteY0" fmla="*/ 0 h 2743199"/>
              <a:gd name="connsiteX1" fmla="*/ 7998635 w 8455844"/>
              <a:gd name="connsiteY1" fmla="*/ 0 h 2743199"/>
              <a:gd name="connsiteX2" fmla="*/ 8455844 w 8455844"/>
              <a:gd name="connsiteY2" fmla="*/ 457209 h 2743199"/>
              <a:gd name="connsiteX3" fmla="*/ 8455844 w 8455844"/>
              <a:gd name="connsiteY3" fmla="*/ 2285990 h 2743199"/>
              <a:gd name="connsiteX4" fmla="*/ 7998635 w 8455844"/>
              <a:gd name="connsiteY4" fmla="*/ 2743199 h 2743199"/>
              <a:gd name="connsiteX5" fmla="*/ 7721505 w 8455844"/>
              <a:gd name="connsiteY5" fmla="*/ 2743199 h 2743199"/>
              <a:gd name="connsiteX6" fmla="*/ 457210 w 8455844"/>
              <a:gd name="connsiteY6" fmla="*/ 2743199 h 2743199"/>
              <a:gd name="connsiteX7" fmla="*/ 0 w 8455844"/>
              <a:gd name="connsiteY7" fmla="*/ 2743199 h 2743199"/>
              <a:gd name="connsiteX8" fmla="*/ 0 w 8455844"/>
              <a:gd name="connsiteY8" fmla="*/ 561543 h 2743199"/>
              <a:gd name="connsiteX9" fmla="*/ 1 w 8455844"/>
              <a:gd name="connsiteY9" fmla="*/ 561543 h 2743199"/>
              <a:gd name="connsiteX10" fmla="*/ 1 w 8455844"/>
              <a:gd name="connsiteY10" fmla="*/ 457209 h 2743199"/>
              <a:gd name="connsiteX11" fmla="*/ 457210 w 8455844"/>
              <a:gd name="connsiteY11" fmla="*/ 0 h 274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55844" h="2743199">
                <a:moveTo>
                  <a:pt x="457210" y="0"/>
                </a:moveTo>
                <a:lnTo>
                  <a:pt x="7998635" y="0"/>
                </a:lnTo>
                <a:cubicBezTo>
                  <a:pt x="8251145" y="0"/>
                  <a:pt x="8455844" y="204699"/>
                  <a:pt x="8455844" y="457209"/>
                </a:cubicBezTo>
                <a:lnTo>
                  <a:pt x="8455844" y="2285990"/>
                </a:lnTo>
                <a:cubicBezTo>
                  <a:pt x="8455844" y="2538500"/>
                  <a:pt x="8251145" y="2743199"/>
                  <a:pt x="7998635" y="2743199"/>
                </a:cubicBezTo>
                <a:lnTo>
                  <a:pt x="7721505" y="2743199"/>
                </a:lnTo>
                <a:lnTo>
                  <a:pt x="457210" y="2743199"/>
                </a:lnTo>
                <a:lnTo>
                  <a:pt x="0" y="2743199"/>
                </a:lnTo>
                <a:lnTo>
                  <a:pt x="0" y="561543"/>
                </a:lnTo>
                <a:lnTo>
                  <a:pt x="1" y="561543"/>
                </a:lnTo>
                <a:lnTo>
                  <a:pt x="1" y="457209"/>
                </a:lnTo>
                <a:cubicBezTo>
                  <a:pt x="1" y="204699"/>
                  <a:pt x="204700" y="0"/>
                  <a:pt x="457210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2" name="Blue Bar">
            <a:extLst>
              <a:ext uri="{FF2B5EF4-FFF2-40B4-BE49-F238E27FC236}">
                <a16:creationId xmlns:a16="http://schemas.microsoft.com/office/drawing/2014/main" id="{4FE90A29-32CE-FCE6-3F74-A0FD7E472078}"/>
              </a:ext>
            </a:extLst>
          </p:cNvPr>
          <p:cNvSpPr/>
          <p:nvPr userDrawn="1"/>
        </p:nvSpPr>
        <p:spPr>
          <a:xfrm>
            <a:off x="1036" y="5884505"/>
            <a:ext cx="12198780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8005" y="3027436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r>
              <a:rPr lang="en-US" dirty="0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005" y="1674435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367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>
            <a:extLst>
              <a:ext uri="{FF2B5EF4-FFF2-40B4-BE49-F238E27FC236}">
                <a16:creationId xmlns:a16="http://schemas.microsoft.com/office/drawing/2014/main" id="{1899C943-9670-FB21-EC51-415905F5A0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145372" y="4344793"/>
            <a:ext cx="927083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145371" y="2236299"/>
            <a:ext cx="9270837" cy="202073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047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Bar">
            <a:extLst>
              <a:ext uri="{FF2B5EF4-FFF2-40B4-BE49-F238E27FC236}">
                <a16:creationId xmlns:a16="http://schemas.microsoft.com/office/drawing/2014/main" id="{5DB769CB-861A-0A0C-BE6D-36085C4D5947}"/>
              </a:ext>
            </a:extLst>
          </p:cNvPr>
          <p:cNvSpPr/>
          <p:nvPr userDrawn="1"/>
        </p:nvSpPr>
        <p:spPr>
          <a:xfrm>
            <a:off x="-6780" y="1380973"/>
            <a:ext cx="12198780" cy="9657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Orange Gradient" descr="An orange rectangular object with a rectangle&#10;&#10;Description automatically generated">
            <a:extLst>
              <a:ext uri="{FF2B5EF4-FFF2-40B4-BE49-F238E27FC236}">
                <a16:creationId xmlns:a16="http://schemas.microsoft.com/office/drawing/2014/main" id="{F22406F3-B805-E0B5-FC9F-CD214BA28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79" y="1525556"/>
            <a:ext cx="12198780" cy="3806888"/>
          </a:xfrm>
          <a:prstGeom prst="rect">
            <a:avLst/>
          </a:prstGeom>
        </p:spPr>
      </p:pic>
      <p:cxnSp>
        <p:nvCxnSpPr>
          <p:cNvPr id="14" name="White Line">
            <a:extLst>
              <a:ext uri="{FF2B5EF4-FFF2-40B4-BE49-F238E27FC236}">
                <a16:creationId xmlns:a16="http://schemas.microsoft.com/office/drawing/2014/main" id="{F3183BF8-7BB0-8F9E-D421-1A313F5E6DFD}"/>
              </a:ext>
            </a:extLst>
          </p:cNvPr>
          <p:cNvCxnSpPr>
            <a:cxnSpLocks/>
          </p:cNvCxnSpPr>
          <p:nvPr userDrawn="1"/>
        </p:nvCxnSpPr>
        <p:spPr>
          <a:xfrm>
            <a:off x="1221288" y="3881535"/>
            <a:ext cx="794759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6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Bar">
            <a:extLst>
              <a:ext uri="{FF2B5EF4-FFF2-40B4-BE49-F238E27FC236}">
                <a16:creationId xmlns:a16="http://schemas.microsoft.com/office/drawing/2014/main" id="{195D10AD-99DA-33F8-EDBC-359482F6962D}"/>
              </a:ext>
            </a:extLst>
          </p:cNvPr>
          <p:cNvSpPr/>
          <p:nvPr userDrawn="1"/>
        </p:nvSpPr>
        <p:spPr>
          <a:xfrm>
            <a:off x="-6780" y="1374710"/>
            <a:ext cx="12198780" cy="96576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rk Teal Rectangle">
            <a:extLst>
              <a:ext uri="{FF2B5EF4-FFF2-40B4-BE49-F238E27FC236}">
                <a16:creationId xmlns:a16="http://schemas.microsoft.com/office/drawing/2014/main" id="{429287AA-4FCA-5597-4286-ACD1AAB80AB3}"/>
              </a:ext>
            </a:extLst>
          </p:cNvPr>
          <p:cNvSpPr/>
          <p:nvPr userDrawn="1"/>
        </p:nvSpPr>
        <p:spPr>
          <a:xfrm>
            <a:off x="-6780" y="1525555"/>
            <a:ext cx="12198780" cy="3806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White Line">
            <a:extLst>
              <a:ext uri="{FF2B5EF4-FFF2-40B4-BE49-F238E27FC236}">
                <a16:creationId xmlns:a16="http://schemas.microsoft.com/office/drawing/2014/main" id="{BD65F337-0C1C-2CFD-9224-7F1A48E22B9F}"/>
              </a:ext>
            </a:extLst>
          </p:cNvPr>
          <p:cNvCxnSpPr>
            <a:cxnSpLocks/>
          </p:cNvCxnSpPr>
          <p:nvPr userDrawn="1"/>
        </p:nvCxnSpPr>
        <p:spPr>
          <a:xfrm>
            <a:off x="1221288" y="3881535"/>
            <a:ext cx="7947594" cy="0"/>
          </a:xfrm>
          <a:prstGeom prst="line">
            <a:avLst/>
          </a:prstGeom>
          <a:ln w="28575">
            <a:solidFill>
              <a:srgbClr val="B2FFF6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E1773BFB-614D-6822-6636-0CCFC5F6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36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12BE4-2358-507B-3C82-7876E55E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2034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Lumen Logo" descr="A picture containing clock&#10;&#10;Description automatically generated">
            <a:extLst>
              <a:ext uri="{FF2B5EF4-FFF2-40B4-BE49-F238E27FC236}">
                <a16:creationId xmlns:a16="http://schemas.microsoft.com/office/drawing/2014/main" id="{6A639169-3246-7807-A0A7-B8858C00D6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5129" y="6279637"/>
            <a:ext cx="1603374" cy="4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F12BE4-2358-507B-3C82-7876E55E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3051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EAE82D35-7FDD-BE47-60E6-A05F39E4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07" y="2766218"/>
            <a:ext cx="9124835" cy="1325563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012BB0C7-C43B-9742-EE65-B41CAD85D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6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873" y="1380633"/>
            <a:ext cx="11427329" cy="44423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74" y="476448"/>
            <a:ext cx="11427329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708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1"/>
            <a:ext cx="12192000" cy="48762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873" y="1374445"/>
            <a:ext cx="11420455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74" y="476448"/>
            <a:ext cx="11420455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889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Blue Rectangle">
            <a:extLst>
              <a:ext uri="{FF2B5EF4-FFF2-40B4-BE49-F238E27FC236}">
                <a16:creationId xmlns:a16="http://schemas.microsoft.com/office/drawing/2014/main" id="{4EC1BB53-C4D6-0E5C-3F25-AAB527F09589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47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ey Rectangle">
            <a:extLst>
              <a:ext uri="{FF2B5EF4-FFF2-40B4-BE49-F238E27FC236}">
                <a16:creationId xmlns:a16="http://schemas.microsoft.com/office/drawing/2014/main" id="{F31E3684-9BCC-BFED-7065-519146B5468D}"/>
              </a:ext>
            </a:extLst>
          </p:cNvPr>
          <p:cNvSpPr/>
          <p:nvPr/>
        </p:nvSpPr>
        <p:spPr>
          <a:xfrm>
            <a:off x="1" y="1005840"/>
            <a:ext cx="7849892" cy="5852160"/>
          </a:xfrm>
          <a:prstGeom prst="rect">
            <a:avLst/>
          </a:prstGeom>
          <a:solidFill>
            <a:srgbClr val="F2F0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B1CC16F2-D514-99A0-DFE3-D2DA88971442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9B468E7-7646-7D7C-4166-72C2F8BFE34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6" name="Orange Gradient">
            <a:extLst>
              <a:ext uri="{FF2B5EF4-FFF2-40B4-BE49-F238E27FC236}">
                <a16:creationId xmlns:a16="http://schemas.microsoft.com/office/drawing/2014/main" id="{7BAB4205-5484-90E1-DF74-338D587665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940" cy="1005840"/>
          </a:xfrm>
          <a:prstGeom prst="rect">
            <a:avLst/>
          </a:prstGeom>
        </p:spPr>
      </p:pic>
      <p:cxnSp>
        <p:nvCxnSpPr>
          <p:cNvPr id="8" name="Blue Line">
            <a:extLst>
              <a:ext uri="{FF2B5EF4-FFF2-40B4-BE49-F238E27FC236}">
                <a16:creationId xmlns:a16="http://schemas.microsoft.com/office/drawing/2014/main" id="{EAA3E27C-4BF8-6AE3-31D9-1EB17699E3E5}"/>
              </a:ext>
            </a:extLst>
          </p:cNvPr>
          <p:cNvCxnSpPr>
            <a:cxnSpLocks/>
          </p:cNvCxnSpPr>
          <p:nvPr/>
        </p:nvCxnSpPr>
        <p:spPr>
          <a:xfrm>
            <a:off x="557386" y="1397331"/>
            <a:ext cx="0" cy="4425619"/>
          </a:xfrm>
          <a:prstGeom prst="line">
            <a:avLst/>
          </a:prstGeom>
          <a:ln w="28575">
            <a:solidFill>
              <a:srgbClr val="2A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78999F1-EAD1-FC88-3C62-8A23B53DB6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8768" y="1503363"/>
            <a:ext cx="3316296" cy="4319587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Body Copy">
            <a:extLst>
              <a:ext uri="{FF2B5EF4-FFF2-40B4-BE49-F238E27FC236}">
                <a16:creationId xmlns:a16="http://schemas.microsoft.com/office/drawing/2014/main" id="{23F70981-73ED-051F-DB7E-6CC221E5D8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538" y="1397331"/>
            <a:ext cx="6267813" cy="4425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3B3B1E2-4BF2-CB62-C198-61F88B67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432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67EF9071-7045-7402-C740-18C858A69480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D6ACF3D-16C0-B543-8D2B-DAA3198CE9EC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8DEE3FC8-55BC-FE62-2AB0-DDDB1285101C}"/>
              </a:ext>
            </a:extLst>
          </p:cNvPr>
          <p:cNvSpPr/>
          <p:nvPr/>
        </p:nvSpPr>
        <p:spPr>
          <a:xfrm>
            <a:off x="0" y="2081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226E5660-285D-2E81-CFF3-C13D1E2325E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1036" y="878210"/>
            <a:ext cx="3476065" cy="4944740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6073588C-C2E2-0204-2C3C-BC347F0800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374445"/>
            <a:ext cx="6293602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BE43D4F4-C9A6-A51E-8815-6129D701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6447"/>
            <a:ext cx="6262396" cy="67704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28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8DD0E56F-EF79-8AF8-87ED-1B4AA74F1B55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45F667-91BD-7712-05F1-AAEFE8651024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Blue Rectangle">
            <a:extLst>
              <a:ext uri="{FF2B5EF4-FFF2-40B4-BE49-F238E27FC236}">
                <a16:creationId xmlns:a16="http://schemas.microsoft.com/office/drawing/2014/main" id="{413E03D5-A600-E4C7-3726-0EA88DD37B9B}"/>
              </a:ext>
            </a:extLst>
          </p:cNvPr>
          <p:cNvSpPr/>
          <p:nvPr/>
        </p:nvSpPr>
        <p:spPr>
          <a:xfrm>
            <a:off x="0" y="2081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DDE0E9D0-C753-6A78-4BC7-2C462CECAD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11036" y="878210"/>
            <a:ext cx="3476065" cy="4944740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Body Copy">
            <a:extLst>
              <a:ext uri="{FF2B5EF4-FFF2-40B4-BE49-F238E27FC236}">
                <a16:creationId xmlns:a16="http://schemas.microsoft.com/office/drawing/2014/main" id="{1BCEF58A-AA5F-465A-6515-3A1C46BD9C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190" y="1374445"/>
            <a:ext cx="6293602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0C541AB4-AD1A-755C-0DAE-15005C6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3" y="476448"/>
            <a:ext cx="6290743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36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ey Rectangle">
            <a:extLst>
              <a:ext uri="{FF2B5EF4-FFF2-40B4-BE49-F238E27FC236}">
                <a16:creationId xmlns:a16="http://schemas.microsoft.com/office/drawing/2014/main" id="{F866048D-0121-4001-DE05-C1F448539380}"/>
              </a:ext>
            </a:extLst>
          </p:cNvPr>
          <p:cNvSpPr/>
          <p:nvPr/>
        </p:nvSpPr>
        <p:spPr>
          <a:xfrm>
            <a:off x="0" y="1005840"/>
            <a:ext cx="7888663" cy="5852160"/>
          </a:xfrm>
          <a:prstGeom prst="rect">
            <a:avLst/>
          </a:prstGeom>
          <a:solidFill>
            <a:srgbClr val="F2F0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074D0EF3-8A29-96FC-D6E1-C429DF9AF1AE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274CD71-74BC-9436-0BD6-4DAF7503480E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5" name="Orange Gradient">
            <a:extLst>
              <a:ext uri="{FF2B5EF4-FFF2-40B4-BE49-F238E27FC236}">
                <a16:creationId xmlns:a16="http://schemas.microsoft.com/office/drawing/2014/main" id="{4B52F701-11FF-CC48-4C88-541541D9F7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940" cy="1005840"/>
          </a:xfrm>
          <a:prstGeom prst="rect">
            <a:avLst/>
          </a:prstGeom>
        </p:spPr>
      </p:pic>
      <p:cxnSp>
        <p:nvCxnSpPr>
          <p:cNvPr id="7" name="Blue Line">
            <a:extLst>
              <a:ext uri="{FF2B5EF4-FFF2-40B4-BE49-F238E27FC236}">
                <a16:creationId xmlns:a16="http://schemas.microsoft.com/office/drawing/2014/main" id="{5C0CADF5-5E8B-06AB-3929-A3EDD43FE371}"/>
              </a:ext>
            </a:extLst>
          </p:cNvPr>
          <p:cNvCxnSpPr>
            <a:cxnSpLocks/>
          </p:cNvCxnSpPr>
          <p:nvPr/>
        </p:nvCxnSpPr>
        <p:spPr>
          <a:xfrm>
            <a:off x="557386" y="1374445"/>
            <a:ext cx="0" cy="4646943"/>
          </a:xfrm>
          <a:prstGeom prst="line">
            <a:avLst/>
          </a:prstGeom>
          <a:ln w="28575">
            <a:solidFill>
              <a:srgbClr val="2AE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Body Copy Right">
            <a:extLst>
              <a:ext uri="{FF2B5EF4-FFF2-40B4-BE49-F238E27FC236}">
                <a16:creationId xmlns:a16="http://schemas.microsoft.com/office/drawing/2014/main" id="{0FC7E54E-0975-3621-311E-ED546BAC2AC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267700" y="1374445"/>
            <a:ext cx="3543300" cy="4646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ody Copy Left">
            <a:extLst>
              <a:ext uri="{FF2B5EF4-FFF2-40B4-BE49-F238E27FC236}">
                <a16:creationId xmlns:a16="http://schemas.microsoft.com/office/drawing/2014/main" id="{9F8AC756-9263-51D1-A1E0-3C93519F87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1538" y="1374445"/>
            <a:ext cx="6267813" cy="46469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B700ABE-5BA5-0819-FE28-7BB8009F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8"/>
            <a:ext cx="11427752" cy="6011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5195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5ADF2D29-3A3C-4F7A-756B-4ABCA9E64888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B1E95E3-8CF3-EBFF-4685-5C770AD83D4B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7" name="Dark Teal Background">
            <a:extLst>
              <a:ext uri="{FF2B5EF4-FFF2-40B4-BE49-F238E27FC236}">
                <a16:creationId xmlns:a16="http://schemas.microsoft.com/office/drawing/2014/main" id="{9ADA8D84-288D-C08A-7C67-4FEABE8285E6}"/>
              </a:ext>
            </a:extLst>
          </p:cNvPr>
          <p:cNvSpPr/>
          <p:nvPr userDrawn="1"/>
        </p:nvSpPr>
        <p:spPr>
          <a:xfrm>
            <a:off x="6674069" y="0"/>
            <a:ext cx="5517931" cy="6858000"/>
          </a:xfrm>
          <a:prstGeom prst="rect">
            <a:avLst/>
          </a:prstGeom>
          <a:solidFill>
            <a:srgbClr val="0F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7B78B99-118F-86B0-6519-BA469FA2E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9" name="Body Copy Right">
            <a:extLst>
              <a:ext uri="{FF2B5EF4-FFF2-40B4-BE49-F238E27FC236}">
                <a16:creationId xmlns:a16="http://schemas.microsoft.com/office/drawing/2014/main" id="{D59B2269-D88E-3FC3-859E-D7C4C896FF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0" y="1374444"/>
            <a:ext cx="4758203" cy="4448506"/>
          </a:xfrm>
        </p:spPr>
        <p:txBody>
          <a:bodyPr/>
          <a:lstStyle>
            <a:lvl1pPr>
              <a:defRPr>
                <a:solidFill>
                  <a:srgbClr val="F2F0F1"/>
                </a:solidFill>
              </a:defRPr>
            </a:lvl1pPr>
            <a:lvl2pPr>
              <a:defRPr>
                <a:solidFill>
                  <a:srgbClr val="F2F0F1"/>
                </a:solidFill>
              </a:defRPr>
            </a:lvl2pPr>
            <a:lvl3pPr>
              <a:defRPr>
                <a:solidFill>
                  <a:srgbClr val="F2F0F1"/>
                </a:solidFill>
              </a:defRPr>
            </a:lvl3pPr>
            <a:lvl4pPr>
              <a:defRPr>
                <a:solidFill>
                  <a:srgbClr val="F2F0F1"/>
                </a:solidFill>
              </a:defRPr>
            </a:lvl4pPr>
            <a:lvl5pPr>
              <a:defRPr>
                <a:solidFill>
                  <a:srgbClr val="F2F0F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Body Copy Left">
            <a:extLst>
              <a:ext uri="{FF2B5EF4-FFF2-40B4-BE49-F238E27FC236}">
                <a16:creationId xmlns:a16="http://schemas.microsoft.com/office/drawing/2014/main" id="{F378F601-4B61-BD32-42E7-C90A29A6C8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6798" y="1374445"/>
            <a:ext cx="5920473" cy="44485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5E6012-FDB3-2B5A-33F4-39B57CE9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76449"/>
            <a:ext cx="5909398" cy="6914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224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">
            <a:extLst>
              <a:ext uri="{FF2B5EF4-FFF2-40B4-BE49-F238E27FC236}">
                <a16:creationId xmlns:a16="http://schemas.microsoft.com/office/drawing/2014/main" id="{0093B5D4-D636-1C3C-61F6-983EAF13CB06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967D645-E478-27C7-028C-C3E3A5EAED48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5" name="Orange Rectangle">
            <a:extLst>
              <a:ext uri="{FF2B5EF4-FFF2-40B4-BE49-F238E27FC236}">
                <a16:creationId xmlns:a16="http://schemas.microsoft.com/office/drawing/2014/main" id="{97FC2726-51FE-FBAE-B6BF-B8EEBF6F618C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FB8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12" name="Body Copy Right">
            <a:extLst>
              <a:ext uri="{FF2B5EF4-FFF2-40B4-BE49-F238E27FC236}">
                <a16:creationId xmlns:a16="http://schemas.microsoft.com/office/drawing/2014/main" id="{41E10FE2-6C89-0606-0D33-82AFF98A38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8607" y="1374445"/>
            <a:ext cx="5846595" cy="4691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ody Copy Left">
            <a:extLst>
              <a:ext uri="{FF2B5EF4-FFF2-40B4-BE49-F238E27FC236}">
                <a16:creationId xmlns:a16="http://schemas.microsoft.com/office/drawing/2014/main" id="{FECF9BCF-C303-DD1B-13EE-D9A59B8CFF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5243273" cy="46912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1pPr>
            <a:lvl2pPr marL="50292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2pPr>
            <a:lvl3pPr marL="77724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3pPr>
            <a:lvl4pPr marL="105156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4pPr>
            <a:lvl5pPr marL="1325880">
              <a:buClr>
                <a:srgbClr val="FB8429"/>
              </a:buClr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7EF948F-E231-7F17-567E-CC0C9B78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72" y="476448"/>
            <a:ext cx="11457657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8242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">
            <a:extLst>
              <a:ext uri="{FF2B5EF4-FFF2-40B4-BE49-F238E27FC236}">
                <a16:creationId xmlns:a16="http://schemas.microsoft.com/office/drawing/2014/main" id="{541EA0D5-B2C4-27B2-5CB7-06EC83578FFB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6F66B2A2-CDCF-CB73-5690-599073E060C0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6" name="Blue Rectangle">
            <a:extLst>
              <a:ext uri="{FF2B5EF4-FFF2-40B4-BE49-F238E27FC236}">
                <a16:creationId xmlns:a16="http://schemas.microsoft.com/office/drawing/2014/main" id="{99070E26-CDD2-8803-0A37-4896523A0670}"/>
              </a:ext>
            </a:extLst>
          </p:cNvPr>
          <p:cNvSpPr/>
          <p:nvPr/>
        </p:nvSpPr>
        <p:spPr>
          <a:xfrm>
            <a:off x="0" y="0"/>
            <a:ext cx="12192000" cy="26367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2FFF6"/>
              </a:solidFill>
            </a:endParaRPr>
          </a:p>
        </p:txBody>
      </p:sp>
      <p:sp>
        <p:nvSpPr>
          <p:cNvPr id="3" name="Body Copy Right">
            <a:extLst>
              <a:ext uri="{FF2B5EF4-FFF2-40B4-BE49-F238E27FC236}">
                <a16:creationId xmlns:a16="http://schemas.microsoft.com/office/drawing/2014/main" id="{5203939F-E332-31F7-751E-859523E57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0588" y="1371620"/>
            <a:ext cx="5839722" cy="4684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ody Copy Left">
            <a:extLst>
              <a:ext uri="{FF2B5EF4-FFF2-40B4-BE49-F238E27FC236}">
                <a16:creationId xmlns:a16="http://schemas.microsoft.com/office/drawing/2014/main" id="{CC6E922B-189E-F88B-147E-172B082036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371776"/>
            <a:ext cx="5239070" cy="46846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venir Next LT Pro" panose="020B0504020202020204" pitchFamily="34" charset="77"/>
              </a:defRPr>
            </a:lvl1pPr>
            <a:lvl2pPr marL="502920">
              <a:defRPr b="0" i="0">
                <a:latin typeface="Avenir Next LT Pro" panose="020B0504020202020204" pitchFamily="34" charset="77"/>
              </a:defRPr>
            </a:lvl2pPr>
            <a:lvl3pPr marL="777240">
              <a:defRPr b="0" i="0">
                <a:latin typeface="Avenir Next LT Pro" panose="020B0504020202020204" pitchFamily="34" charset="77"/>
              </a:defRPr>
            </a:lvl3pPr>
            <a:lvl4pPr marL="1051560">
              <a:defRPr b="0" i="0">
                <a:latin typeface="Avenir Next LT Pro" panose="020B0504020202020204" pitchFamily="34" charset="77"/>
              </a:defRPr>
            </a:lvl4pPr>
            <a:lvl5pPr marL="1325880">
              <a:defRPr b="0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5C740C6-A22D-07D7-02A3-9A161692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2020"/>
            <a:ext cx="11429310" cy="69141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814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Op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Image">
            <a:extLst>
              <a:ext uri="{FF2B5EF4-FFF2-40B4-BE49-F238E27FC236}">
                <a16:creationId xmlns:a16="http://schemas.microsoft.com/office/drawing/2014/main" id="{1899C943-9670-FB21-EC51-415905F5A0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68C9B179-27EF-D9F0-527E-DEC0FE67CB5E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097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145372" y="4344793"/>
            <a:ext cx="927083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145371" y="2236299"/>
            <a:ext cx="9270837" cy="202073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9AF10977-60D6-0272-BF61-9828634B6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83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rk Teal Rectangle">
            <a:extLst>
              <a:ext uri="{FF2B5EF4-FFF2-40B4-BE49-F238E27FC236}">
                <a16:creationId xmlns:a16="http://schemas.microsoft.com/office/drawing/2014/main" id="{DF6FE963-5076-1795-F618-77CB63B90F75}"/>
              </a:ext>
            </a:extLst>
          </p:cNvPr>
          <p:cNvSpPr/>
          <p:nvPr userDrawn="1"/>
        </p:nvSpPr>
        <p:spPr>
          <a:xfrm>
            <a:off x="-1" y="1"/>
            <a:ext cx="12192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lue Rectangle">
            <a:extLst>
              <a:ext uri="{FF2B5EF4-FFF2-40B4-BE49-F238E27FC236}">
                <a16:creationId xmlns:a16="http://schemas.microsoft.com/office/drawing/2014/main" id="{F7EF5983-449B-19E2-F715-3948D890A773}"/>
              </a:ext>
            </a:extLst>
          </p:cNvPr>
          <p:cNvSpPr/>
          <p:nvPr userDrawn="1"/>
        </p:nvSpPr>
        <p:spPr>
          <a:xfrm>
            <a:off x="-6780" y="6073483"/>
            <a:ext cx="12198780" cy="7845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4" name="Ebar Shape">
            <a:extLst>
              <a:ext uri="{FF2B5EF4-FFF2-40B4-BE49-F238E27FC236}">
                <a16:creationId xmlns:a16="http://schemas.microsoft.com/office/drawing/2014/main" id="{50DBC5FE-FE26-BAE2-93A2-4C688416C8F5}"/>
              </a:ext>
            </a:extLst>
          </p:cNvPr>
          <p:cNvSpPr/>
          <p:nvPr userDrawn="1"/>
        </p:nvSpPr>
        <p:spPr>
          <a:xfrm>
            <a:off x="3167404" y="1376909"/>
            <a:ext cx="8455844" cy="2743199"/>
          </a:xfrm>
          <a:custGeom>
            <a:avLst/>
            <a:gdLst>
              <a:gd name="connsiteX0" fmla="*/ 457210 w 8455844"/>
              <a:gd name="connsiteY0" fmla="*/ 0 h 2743199"/>
              <a:gd name="connsiteX1" fmla="*/ 7998635 w 8455844"/>
              <a:gd name="connsiteY1" fmla="*/ 0 h 2743199"/>
              <a:gd name="connsiteX2" fmla="*/ 8455844 w 8455844"/>
              <a:gd name="connsiteY2" fmla="*/ 457209 h 2743199"/>
              <a:gd name="connsiteX3" fmla="*/ 8455844 w 8455844"/>
              <a:gd name="connsiteY3" fmla="*/ 2285990 h 2743199"/>
              <a:gd name="connsiteX4" fmla="*/ 7998635 w 8455844"/>
              <a:gd name="connsiteY4" fmla="*/ 2743199 h 2743199"/>
              <a:gd name="connsiteX5" fmla="*/ 7721505 w 8455844"/>
              <a:gd name="connsiteY5" fmla="*/ 2743199 h 2743199"/>
              <a:gd name="connsiteX6" fmla="*/ 457210 w 8455844"/>
              <a:gd name="connsiteY6" fmla="*/ 2743199 h 2743199"/>
              <a:gd name="connsiteX7" fmla="*/ 0 w 8455844"/>
              <a:gd name="connsiteY7" fmla="*/ 2743199 h 2743199"/>
              <a:gd name="connsiteX8" fmla="*/ 0 w 8455844"/>
              <a:gd name="connsiteY8" fmla="*/ 561543 h 2743199"/>
              <a:gd name="connsiteX9" fmla="*/ 1 w 8455844"/>
              <a:gd name="connsiteY9" fmla="*/ 561543 h 2743199"/>
              <a:gd name="connsiteX10" fmla="*/ 1 w 8455844"/>
              <a:gd name="connsiteY10" fmla="*/ 457209 h 2743199"/>
              <a:gd name="connsiteX11" fmla="*/ 457210 w 8455844"/>
              <a:gd name="connsiteY11" fmla="*/ 0 h 274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455844" h="2743199">
                <a:moveTo>
                  <a:pt x="457210" y="0"/>
                </a:moveTo>
                <a:lnTo>
                  <a:pt x="7998635" y="0"/>
                </a:lnTo>
                <a:cubicBezTo>
                  <a:pt x="8251145" y="0"/>
                  <a:pt x="8455844" y="204699"/>
                  <a:pt x="8455844" y="457209"/>
                </a:cubicBezTo>
                <a:lnTo>
                  <a:pt x="8455844" y="2285990"/>
                </a:lnTo>
                <a:cubicBezTo>
                  <a:pt x="8455844" y="2538500"/>
                  <a:pt x="8251145" y="2743199"/>
                  <a:pt x="7998635" y="2743199"/>
                </a:cubicBezTo>
                <a:lnTo>
                  <a:pt x="7721505" y="2743199"/>
                </a:lnTo>
                <a:lnTo>
                  <a:pt x="457210" y="2743199"/>
                </a:lnTo>
                <a:lnTo>
                  <a:pt x="0" y="2743199"/>
                </a:lnTo>
                <a:lnTo>
                  <a:pt x="0" y="561543"/>
                </a:lnTo>
                <a:lnTo>
                  <a:pt x="1" y="561543"/>
                </a:lnTo>
                <a:lnTo>
                  <a:pt x="1" y="457209"/>
                </a:lnTo>
                <a:cubicBezTo>
                  <a:pt x="1" y="204699"/>
                  <a:pt x="204700" y="0"/>
                  <a:pt x="457210" y="0"/>
                </a:cubicBezTo>
                <a:close/>
              </a:path>
            </a:pathLst>
          </a:custGeom>
          <a:noFill/>
          <a:ln w="28575">
            <a:solidFill>
              <a:srgbClr val="B2F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pic>
        <p:nvPicPr>
          <p:cNvPr id="14" name="Lumen Logo">
            <a:extLst>
              <a:ext uri="{FF2B5EF4-FFF2-40B4-BE49-F238E27FC236}">
                <a16:creationId xmlns:a16="http://schemas.microsoft.com/office/drawing/2014/main" id="{1EC00295-E64B-1430-7820-DF23070843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88682"/>
            <a:ext cx="1603374" cy="421483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8005" y="3027436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005" y="1674435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9247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Sl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Image">
            <a:extLst>
              <a:ext uri="{FF2B5EF4-FFF2-40B4-BE49-F238E27FC236}">
                <a16:creationId xmlns:a16="http://schemas.microsoft.com/office/drawing/2014/main" id="{6C83FD13-F9F5-C00B-3EB6-A5A7031973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2026 Lumen Technologies. All Rights Reserved. 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421A928D-5568-4CC9-06C7-5403F02A077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12" name="Lumen Logo">
            <a:extLst>
              <a:ext uri="{FF2B5EF4-FFF2-40B4-BE49-F238E27FC236}">
                <a16:creationId xmlns:a16="http://schemas.microsoft.com/office/drawing/2014/main" id="{611EF77F-8F11-EA1E-C810-50075F1378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9" name="Subtitle">
            <a:extLst>
              <a:ext uri="{FF2B5EF4-FFF2-40B4-BE49-F238E27FC236}">
                <a16:creationId xmlns:a16="http://schemas.microsoft.com/office/drawing/2014/main" id="{EC3266E9-9311-00FB-8E05-391621830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9406" y="3723172"/>
            <a:ext cx="7270476" cy="783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venir Next LT Pro Demi" panose="020B0504020202020204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With two lines of copy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7C9E512-BF07-C95F-C9E7-4B28F3BEE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99406" y="2370171"/>
            <a:ext cx="7270476" cy="126523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3600" b="1" i="0">
                <a:solidFill>
                  <a:schemeClr val="bg1"/>
                </a:solidFill>
                <a:latin typeface="Avenir Next LT Pro" panose="020B0504020202020204" pitchFamily="34" charset="77"/>
              </a:defRPr>
            </a:lvl1pPr>
            <a:lvl2pPr marL="457200" indent="0">
              <a:buFontTx/>
              <a:buNone/>
              <a:defRPr sz="6000" b="1" i="0">
                <a:latin typeface="Avenir Next LT Pro" panose="020B0504020202020204" pitchFamily="34" charset="77"/>
              </a:defRPr>
            </a:lvl2pPr>
            <a:lvl3pPr marL="914400" indent="0">
              <a:buFontTx/>
              <a:buNone/>
              <a:defRPr sz="6000" b="1" i="0">
                <a:latin typeface="Avenir Next LT Pro" panose="020B0504020202020204" pitchFamily="34" charset="77"/>
              </a:defRPr>
            </a:lvl3pPr>
            <a:lvl4pPr marL="1371600" indent="0">
              <a:buFontTx/>
              <a:buNone/>
              <a:defRPr sz="6000" b="1" i="0">
                <a:latin typeface="Avenir Next LT Pro" panose="020B0504020202020204" pitchFamily="34" charset="77"/>
              </a:defRPr>
            </a:lvl4pPr>
            <a:lvl5pPr marL="1828800" indent="0">
              <a:buFontTx/>
              <a:buNone/>
              <a:defRPr sz="6000" b="1" i="0"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615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257594FB-56B6-2693-6284-C444A7A19DB7}"/>
              </a:ext>
            </a:extLst>
          </p:cNvPr>
          <p:cNvSpPr/>
          <p:nvPr userDrawn="1"/>
        </p:nvSpPr>
        <p:spPr>
          <a:xfrm>
            <a:off x="-6780" y="0"/>
            <a:ext cx="1219878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27038003-9A43-8B51-1085-EF75636F9A57}"/>
              </a:ext>
            </a:extLst>
          </p:cNvPr>
          <p:cNvSpPr txBox="1">
            <a:spLocks/>
          </p:cNvSpPr>
          <p:nvPr/>
        </p:nvSpPr>
        <p:spPr>
          <a:xfrm>
            <a:off x="665810" y="6433840"/>
            <a:ext cx="4114800" cy="27736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59324791-8BC0-9D68-BE01-1690847A095C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422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66CB4005-C12F-B1FA-5CC5-BB68BEC9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42" y="3219189"/>
            <a:ext cx="9092285" cy="814745"/>
          </a:xfr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4" name="Blue Line">
            <a:extLst>
              <a:ext uri="{FF2B5EF4-FFF2-40B4-BE49-F238E27FC236}">
                <a16:creationId xmlns:a16="http://schemas.microsoft.com/office/drawing/2014/main" id="{944D61B7-A8F8-96B0-E2E8-8E06896D2408}"/>
              </a:ext>
            </a:extLst>
          </p:cNvPr>
          <p:cNvCxnSpPr>
            <a:cxnSpLocks/>
          </p:cNvCxnSpPr>
          <p:nvPr userDrawn="1"/>
        </p:nvCxnSpPr>
        <p:spPr>
          <a:xfrm>
            <a:off x="1208762" y="4033935"/>
            <a:ext cx="8112520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Blue Rectangle">
            <a:extLst>
              <a:ext uri="{FF2B5EF4-FFF2-40B4-BE49-F238E27FC236}">
                <a16:creationId xmlns:a16="http://schemas.microsoft.com/office/drawing/2014/main" id="{C3BF3C31-CF35-6E52-0098-2AEA5F62B082}"/>
              </a:ext>
            </a:extLst>
          </p:cNvPr>
          <p:cNvSpPr/>
          <p:nvPr userDrawn="1"/>
        </p:nvSpPr>
        <p:spPr>
          <a:xfrm>
            <a:off x="-6780" y="1"/>
            <a:ext cx="25027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89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and Caption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D29869CD-2EE9-1469-B953-CF10D6C4E9AB}"/>
              </a:ext>
            </a:extLst>
          </p:cNvPr>
          <p:cNvSpPr/>
          <p:nvPr userDrawn="1"/>
        </p:nvSpPr>
        <p:spPr>
          <a:xfrm>
            <a:off x="-6780" y="-1"/>
            <a:ext cx="12207572" cy="69002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2F0F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rgbClr val="F2F0F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rgbClr val="F2F0F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3" name="Blue Rectangle">
            <a:extLst>
              <a:ext uri="{FF2B5EF4-FFF2-40B4-BE49-F238E27FC236}">
                <a16:creationId xmlns:a16="http://schemas.microsoft.com/office/drawing/2014/main" id="{6D4A8A27-D013-7FB4-BB0C-610020B270DE}"/>
              </a:ext>
            </a:extLst>
          </p:cNvPr>
          <p:cNvSpPr/>
          <p:nvPr userDrawn="1"/>
        </p:nvSpPr>
        <p:spPr>
          <a:xfrm>
            <a:off x="-6780" y="0"/>
            <a:ext cx="12198780" cy="45719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pic>
        <p:nvPicPr>
          <p:cNvPr id="4" name="Lumen Logo">
            <a:extLst>
              <a:ext uri="{FF2B5EF4-FFF2-40B4-BE49-F238E27FC236}">
                <a16:creationId xmlns:a16="http://schemas.microsoft.com/office/drawing/2014/main" id="{95671262-6EA7-5666-40BB-81898A0D91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21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 and Caption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rk Teal Rectangle">
            <a:extLst>
              <a:ext uri="{FF2B5EF4-FFF2-40B4-BE49-F238E27FC236}">
                <a16:creationId xmlns:a16="http://schemas.microsoft.com/office/drawing/2014/main" id="{D29869CD-2EE9-1469-B953-CF10D6C4E9AB}"/>
              </a:ext>
            </a:extLst>
          </p:cNvPr>
          <p:cNvSpPr/>
          <p:nvPr userDrawn="1"/>
        </p:nvSpPr>
        <p:spPr>
          <a:xfrm>
            <a:off x="-6780" y="-1"/>
            <a:ext cx="12198780" cy="69752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FA3318CA-DF78-D8E5-895B-848FDD27C887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2F0F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F272F53F-F924-6B70-C8E2-016B5D9C407D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rgbClr val="F2F0F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rgbClr val="F2F0F1"/>
              </a:solidFill>
              <a:latin typeface="Avenir Next LT Pro" panose="020B0504020202020204" pitchFamily="34" charset="77"/>
            </a:endParaRPr>
          </a:p>
        </p:txBody>
      </p:sp>
      <p:sp>
        <p:nvSpPr>
          <p:cNvPr id="3" name="Blue Rectangle">
            <a:extLst>
              <a:ext uri="{FF2B5EF4-FFF2-40B4-BE49-F238E27FC236}">
                <a16:creationId xmlns:a16="http://schemas.microsoft.com/office/drawing/2014/main" id="{6D4A8A27-D013-7FB4-BB0C-610020B270DE}"/>
              </a:ext>
            </a:extLst>
          </p:cNvPr>
          <p:cNvSpPr/>
          <p:nvPr userDrawn="1"/>
        </p:nvSpPr>
        <p:spPr>
          <a:xfrm>
            <a:off x="-6780" y="-14079"/>
            <a:ext cx="12198780" cy="257317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pic>
        <p:nvPicPr>
          <p:cNvPr id="4" name="Lumen Logo">
            <a:extLst>
              <a:ext uri="{FF2B5EF4-FFF2-40B4-BE49-F238E27FC236}">
                <a16:creationId xmlns:a16="http://schemas.microsoft.com/office/drawing/2014/main" id="{95671262-6EA7-5666-40BB-81898A0D91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Body Copy">
            <a:extLst>
              <a:ext uri="{FF2B5EF4-FFF2-40B4-BE49-F238E27FC236}">
                <a16:creationId xmlns:a16="http://schemas.microsoft.com/office/drawing/2014/main" id="{8C3BD903-A537-E3A0-0F35-C5E46F678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7" y="1374445"/>
            <a:ext cx="11440387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C909A1C-D352-0A28-4AC8-EF95F89A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471411"/>
            <a:ext cx="11436185" cy="69645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b="1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52397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Rectangle">
            <a:extLst>
              <a:ext uri="{FF2B5EF4-FFF2-40B4-BE49-F238E27FC236}">
                <a16:creationId xmlns:a16="http://schemas.microsoft.com/office/drawing/2014/main" id="{588400B6-E59B-8008-539E-DB4E4DB337E3}"/>
              </a:ext>
            </a:extLst>
          </p:cNvPr>
          <p:cNvSpPr/>
          <p:nvPr userDrawn="1"/>
        </p:nvSpPr>
        <p:spPr>
          <a:xfrm>
            <a:off x="0" y="0"/>
            <a:ext cx="12192000" cy="1005839"/>
          </a:xfrm>
          <a:prstGeom prst="rect">
            <a:avLst/>
          </a:prstGeom>
          <a:solidFill>
            <a:srgbClr val="B2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8429"/>
              </a:solidFill>
            </a:endParaRPr>
          </a:p>
        </p:txBody>
      </p:sp>
      <p:sp>
        <p:nvSpPr>
          <p:cNvPr id="5" name="Dark Teal Rectangle">
            <a:extLst>
              <a:ext uri="{FF2B5EF4-FFF2-40B4-BE49-F238E27FC236}">
                <a16:creationId xmlns:a16="http://schemas.microsoft.com/office/drawing/2014/main" id="{F31E3684-9BCC-BFED-7065-519146B5468D}"/>
              </a:ext>
            </a:extLst>
          </p:cNvPr>
          <p:cNvSpPr/>
          <p:nvPr/>
        </p:nvSpPr>
        <p:spPr>
          <a:xfrm>
            <a:off x="0" y="1005840"/>
            <a:ext cx="12191999" cy="5852160"/>
          </a:xfrm>
          <a:prstGeom prst="rect">
            <a:avLst/>
          </a:prstGeom>
          <a:solidFill>
            <a:srgbClr val="0F31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CC16F2-D514-99A0-DFE3-D2DA88971442}"/>
              </a:ext>
            </a:extLst>
          </p:cNvPr>
          <p:cNvSpPr txBox="1">
            <a:spLocks/>
          </p:cNvSpPr>
          <p:nvPr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© 2026 Lumen Technologies. All Rights Reserved.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9B468E7-7646-7D7C-4166-72C2F8BFE34F}"/>
              </a:ext>
            </a:extLst>
          </p:cNvPr>
          <p:cNvSpPr txBox="1">
            <a:spLocks/>
          </p:cNvSpPr>
          <p:nvPr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bg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3" name="Lumen Logo">
            <a:extLst>
              <a:ext uri="{FF2B5EF4-FFF2-40B4-BE49-F238E27FC236}">
                <a16:creationId xmlns:a16="http://schemas.microsoft.com/office/drawing/2014/main" id="{B18C066F-3413-CB81-9DD1-CF96B85447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5129" y="6279296"/>
            <a:ext cx="1603374" cy="425829"/>
          </a:xfrm>
          <a:prstGeom prst="rect">
            <a:avLst/>
          </a:prstGeom>
        </p:spPr>
      </p:pic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78999F1-EAD1-FC88-3C62-8A23B53DB6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8768" y="1503363"/>
            <a:ext cx="3316296" cy="4319587"/>
          </a:xfrm>
          <a:custGeom>
            <a:avLst/>
            <a:gdLst>
              <a:gd name="connsiteX0" fmla="*/ 576803 w 3967404"/>
              <a:gd name="connsiteY0" fmla="*/ 0 h 4319587"/>
              <a:gd name="connsiteX1" fmla="*/ 1265287 w 3967404"/>
              <a:gd name="connsiteY1" fmla="*/ 0 h 4319587"/>
              <a:gd name="connsiteX2" fmla="*/ 3426968 w 3967404"/>
              <a:gd name="connsiteY2" fmla="*/ 0 h 4319587"/>
              <a:gd name="connsiteX3" fmla="*/ 3460750 w 3967404"/>
              <a:gd name="connsiteY3" fmla="*/ 0 h 4319587"/>
              <a:gd name="connsiteX4" fmla="*/ 3460750 w 3967404"/>
              <a:gd name="connsiteY4" fmla="*/ 3406 h 4319587"/>
              <a:gd name="connsiteX5" fmla="*/ 3535885 w 3967404"/>
              <a:gd name="connsiteY5" fmla="*/ 10980 h 4319587"/>
              <a:gd name="connsiteX6" fmla="*/ 3967404 w 3967404"/>
              <a:gd name="connsiteY6" fmla="*/ 540436 h 4319587"/>
              <a:gd name="connsiteX7" fmla="*/ 3967404 w 3967404"/>
              <a:gd name="connsiteY7" fmla="*/ 3779151 h 4319587"/>
              <a:gd name="connsiteX8" fmla="*/ 3426968 w 3967404"/>
              <a:gd name="connsiteY8" fmla="*/ 4319587 h 4319587"/>
              <a:gd name="connsiteX9" fmla="*/ 2883947 w 3967404"/>
              <a:gd name="connsiteY9" fmla="*/ 4319587 h 4319587"/>
              <a:gd name="connsiteX10" fmla="*/ 1265287 w 3967404"/>
              <a:gd name="connsiteY10" fmla="*/ 4319587 h 4319587"/>
              <a:gd name="connsiteX11" fmla="*/ 0 w 3967404"/>
              <a:gd name="connsiteY11" fmla="*/ 4319587 h 4319587"/>
              <a:gd name="connsiteX12" fmla="*/ 0 w 3967404"/>
              <a:gd name="connsiteY12" fmla="*/ 576803 h 4319587"/>
              <a:gd name="connsiteX13" fmla="*/ 576803 w 3967404"/>
              <a:gd name="connsiteY13" fmla="*/ 0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67404" h="4319587">
                <a:moveTo>
                  <a:pt x="576803" y="0"/>
                </a:moveTo>
                <a:lnTo>
                  <a:pt x="1265287" y="0"/>
                </a:lnTo>
                <a:lnTo>
                  <a:pt x="3426968" y="0"/>
                </a:lnTo>
                <a:lnTo>
                  <a:pt x="3460750" y="0"/>
                </a:lnTo>
                <a:lnTo>
                  <a:pt x="3460750" y="3406"/>
                </a:lnTo>
                <a:lnTo>
                  <a:pt x="3535885" y="10980"/>
                </a:lnTo>
                <a:cubicBezTo>
                  <a:pt x="3782153" y="61373"/>
                  <a:pt x="3967404" y="279271"/>
                  <a:pt x="3967404" y="540436"/>
                </a:cubicBezTo>
                <a:lnTo>
                  <a:pt x="3967404" y="3779151"/>
                </a:lnTo>
                <a:cubicBezTo>
                  <a:pt x="3967404" y="4077626"/>
                  <a:pt x="3725443" y="4319587"/>
                  <a:pt x="3426968" y="4319587"/>
                </a:cubicBezTo>
                <a:lnTo>
                  <a:pt x="2883947" y="4319587"/>
                </a:lnTo>
                <a:lnTo>
                  <a:pt x="1265287" y="4319587"/>
                </a:lnTo>
                <a:lnTo>
                  <a:pt x="0" y="4319587"/>
                </a:lnTo>
                <a:lnTo>
                  <a:pt x="0" y="576803"/>
                </a:lnTo>
                <a:cubicBezTo>
                  <a:pt x="0" y="258243"/>
                  <a:pt x="258243" y="0"/>
                  <a:pt x="576803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FontTx/>
              <a:buNone/>
              <a:defRPr b="0" i="0"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3B3B1E2-4BF2-CB62-C198-61F88B67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 Copy">
            <a:extLst>
              <a:ext uri="{FF2B5EF4-FFF2-40B4-BE49-F238E27FC236}">
                <a16:creationId xmlns:a16="http://schemas.microsoft.com/office/drawing/2014/main" id="{DF8A00A2-6E2B-A4DD-71D5-1220EDCABD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798" y="1374445"/>
            <a:ext cx="7485036" cy="4448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1pPr>
            <a:lvl2pPr marL="50292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2pPr>
            <a:lvl3pPr marL="77724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3pPr>
            <a:lvl4pPr marL="105156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4pPr>
            <a:lvl5pPr marL="1325880">
              <a:buClr>
                <a:srgbClr val="B2FFF6"/>
              </a:buClr>
              <a:defRPr b="0" i="0">
                <a:solidFill>
                  <a:srgbClr val="F2F0F1"/>
                </a:solidFill>
                <a:latin typeface="Avenir Next LT Pro" panose="020B0504020202020204" pitchFamily="34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7118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ey Rectangle">
            <a:extLst>
              <a:ext uri="{FF2B5EF4-FFF2-40B4-BE49-F238E27FC236}">
                <a16:creationId xmlns:a16="http://schemas.microsoft.com/office/drawing/2014/main" id="{6BF4E0D4-0E7A-1EBC-D7AA-83DCB6998A5E}"/>
              </a:ext>
            </a:extLst>
          </p:cNvPr>
          <p:cNvSpPr/>
          <p:nvPr userDrawn="1"/>
        </p:nvSpPr>
        <p:spPr>
          <a:xfrm>
            <a:off x="0" y="0"/>
            <a:ext cx="6674069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rk Teal Rectangle">
            <a:extLst>
              <a:ext uri="{FF2B5EF4-FFF2-40B4-BE49-F238E27FC236}">
                <a16:creationId xmlns:a16="http://schemas.microsoft.com/office/drawing/2014/main" id="{9ADA8D84-288D-C08A-7C67-4FEABE8285E6}"/>
              </a:ext>
            </a:extLst>
          </p:cNvPr>
          <p:cNvSpPr/>
          <p:nvPr userDrawn="1"/>
        </p:nvSpPr>
        <p:spPr>
          <a:xfrm>
            <a:off x="6674069" y="0"/>
            <a:ext cx="5517931" cy="6858000"/>
          </a:xfrm>
          <a:prstGeom prst="rect">
            <a:avLst/>
          </a:prstGeom>
          <a:solidFill>
            <a:srgbClr val="0F31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E3A2CE8B-74D5-EEB4-B718-BAFE50566A9A}"/>
              </a:ext>
            </a:extLst>
          </p:cNvPr>
          <p:cNvSpPr txBox="1">
            <a:spLocks/>
          </p:cNvSpPr>
          <p:nvPr userDrawn="1"/>
        </p:nvSpPr>
        <p:spPr>
          <a:xfrm>
            <a:off x="665810" y="643383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bg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© 2026 Lumen Technologies. All Rights Reserved. 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3D0EFD52-CE38-04EE-A1EA-CFACFE225F36}"/>
              </a:ext>
            </a:extLst>
          </p:cNvPr>
          <p:cNvSpPr txBox="1">
            <a:spLocks/>
          </p:cNvSpPr>
          <p:nvPr userDrawn="1"/>
        </p:nvSpPr>
        <p:spPr>
          <a:xfrm>
            <a:off x="243497" y="6356350"/>
            <a:ext cx="59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E4F76F6-9FBB-F843-8B66-A93A8C73F9AD}" type="slidenum">
              <a:rPr lang="en-US" sz="800" b="0" i="0" smtClean="0">
                <a:solidFill>
                  <a:schemeClr val="tx1"/>
                </a:solidFill>
                <a:latin typeface="Avenir Next LT Pro" panose="020B0504020202020204" pitchFamily="34" charset="77"/>
              </a:rPr>
              <a:pPr algn="l"/>
              <a:t>‹#›</a:t>
            </a:fld>
            <a:endParaRPr lang="en-US" sz="800" b="0" i="0" dirty="0">
              <a:solidFill>
                <a:schemeClr val="tx1"/>
              </a:solidFill>
              <a:latin typeface="Avenir Next LT Pro" panose="020B0504020202020204" pitchFamily="34" charset="77"/>
            </a:endParaRPr>
          </a:p>
        </p:txBody>
      </p:sp>
      <p:pic>
        <p:nvPicPr>
          <p:cNvPr id="10" name="Lumen Logo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7B78B99-118F-86B0-6519-BA469FA2E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9084" y="6269524"/>
            <a:ext cx="1622323" cy="431960"/>
          </a:xfrm>
          <a:prstGeom prst="rect">
            <a:avLst/>
          </a:prstGeom>
        </p:spPr>
      </p:pic>
      <p:sp>
        <p:nvSpPr>
          <p:cNvPr id="9" name="Body Copy Right">
            <a:extLst>
              <a:ext uri="{FF2B5EF4-FFF2-40B4-BE49-F238E27FC236}">
                <a16:creationId xmlns:a16="http://schemas.microsoft.com/office/drawing/2014/main" id="{D59B2269-D88E-3FC3-859E-D7C4C896FF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1200" y="1374444"/>
            <a:ext cx="4758203" cy="4448506"/>
          </a:xfrm>
        </p:spPr>
        <p:txBody>
          <a:bodyPr/>
          <a:lstStyle>
            <a:lvl1pPr>
              <a:buClr>
                <a:schemeClr val="accent5"/>
              </a:buClr>
              <a:defRPr>
                <a:solidFill>
                  <a:srgbClr val="F2F0F1"/>
                </a:solidFill>
              </a:defRPr>
            </a:lvl1pPr>
            <a:lvl2pPr>
              <a:buClr>
                <a:schemeClr val="accent5"/>
              </a:buClr>
              <a:defRPr>
                <a:solidFill>
                  <a:srgbClr val="F2F0F1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rgbClr val="F2F0F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rgbClr val="F2F0F1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rgbClr val="F2F0F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Body Copy Left">
            <a:extLst>
              <a:ext uri="{FF2B5EF4-FFF2-40B4-BE49-F238E27FC236}">
                <a16:creationId xmlns:a16="http://schemas.microsoft.com/office/drawing/2014/main" id="{F378F601-4B61-BD32-42E7-C90A29A6C8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6798" y="1374445"/>
            <a:ext cx="5920473" cy="4448505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5E6012-FDB3-2B5A-33F4-39B57CE9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476449"/>
            <a:ext cx="5909398" cy="6914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5079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DCA09D2F-A779-F69F-53A9-D8230E75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43350" y="6359138"/>
            <a:ext cx="4114800" cy="365125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© 2026 Lumen Technologies. All Rights Reserved.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88B4B32-4B19-AC20-E557-227774CC1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5B2B1-06D0-E34F-A05D-8EE3570A0B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">
            <a:extLst>
              <a:ext uri="{FF2B5EF4-FFF2-40B4-BE49-F238E27FC236}">
                <a16:creationId xmlns:a16="http://schemas.microsoft.com/office/drawing/2014/main" id="{BAFF8E80-3225-E650-5F96-F5E32021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07" y="469426"/>
            <a:ext cx="11434203" cy="69141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75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643350" y="63694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© 2026 Lumen Technologies. All Rights Reserved.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278647" y="6371850"/>
            <a:ext cx="364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venir Next LT Pro" panose="020B0504020202020204" pitchFamily="34" charset="77"/>
              </a:defRPr>
            </a:lvl1pPr>
          </a:lstStyle>
          <a:p>
            <a:fld id="{5815B2B1-06D0-E34F-A05D-8EE3570A0B5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umen Logo" descr="A picture containing clock&#10;&#10;Description automatically generated">
            <a:extLst>
              <a:ext uri="{FF2B5EF4-FFF2-40B4-BE49-F238E27FC236}">
                <a16:creationId xmlns:a16="http://schemas.microsoft.com/office/drawing/2014/main" id="{FD7D3C2F-B871-1F91-2C09-EFC7DE14343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45129" y="6279637"/>
            <a:ext cx="1603374" cy="425385"/>
          </a:xfrm>
          <a:prstGeom prst="rect">
            <a:avLst/>
          </a:prstGeom>
        </p:spPr>
      </p:pic>
      <p:sp>
        <p:nvSpPr>
          <p:cNvPr id="3" name="Body Copy"/>
          <p:cNvSpPr>
            <a:spLocks noGrp="1"/>
          </p:cNvSpPr>
          <p:nvPr>
            <p:ph type="body" idx="1"/>
          </p:nvPr>
        </p:nvSpPr>
        <p:spPr>
          <a:xfrm>
            <a:off x="278647" y="1825625"/>
            <a:ext cx="116698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8647" y="365125"/>
            <a:ext cx="116698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173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13" r:id="rId2"/>
    <p:sldLayoutId id="2147483820" r:id="rId3"/>
    <p:sldLayoutId id="2147483811" r:id="rId4"/>
    <p:sldLayoutId id="2147483812" r:id="rId5"/>
    <p:sldLayoutId id="2147483864" r:id="rId6"/>
    <p:sldLayoutId id="2147483865" r:id="rId7"/>
    <p:sldLayoutId id="2147483792" r:id="rId8"/>
    <p:sldLayoutId id="2147483802" r:id="rId9"/>
    <p:sldLayoutId id="2147483793" r:id="rId10"/>
    <p:sldLayoutId id="2147483788" r:id="rId11"/>
    <p:sldLayoutId id="2147483789" r:id="rId12"/>
    <p:sldLayoutId id="2147483790" r:id="rId13"/>
    <p:sldLayoutId id="2147483791" r:id="rId14"/>
    <p:sldLayoutId id="2147483808" r:id="rId15"/>
    <p:sldLayoutId id="2147483794" r:id="rId16"/>
    <p:sldLayoutId id="2147483795" r:id="rId17"/>
    <p:sldLayoutId id="2147483860" r:id="rId18"/>
    <p:sldLayoutId id="2147483818" r:id="rId19"/>
    <p:sldLayoutId id="2147483819" r:id="rId20"/>
    <p:sldLayoutId id="2147483826" r:id="rId21"/>
    <p:sldLayoutId id="2147483816" r:id="rId22"/>
    <p:sldLayoutId id="2147483825" r:id="rId23"/>
    <p:sldLayoutId id="2147483817" r:id="rId24"/>
    <p:sldLayoutId id="2147483815" r:id="rId25"/>
    <p:sldLayoutId id="2147483805" r:id="rId2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B8429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46634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30000"/>
        <a:buFont typeface="System Font Regular"/>
        <a:buChar char="-"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74066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90000"/>
        <a:buFont typeface="Wingdings" pitchFamily="2" charset="2"/>
        <a:buChar char="§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01498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289304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B8429"/>
        </a:buClr>
        <a:buSzPct val="130000"/>
        <a:buFont typeface="System Font Regular"/>
        <a:buChar char="-"/>
        <a:defRPr sz="16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64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image" Target="../media/image19.jpg"/><Relationship Id="rId7" Type="http://schemas.openxmlformats.org/officeDocument/2006/relationships/hyperlink" Target="mailto:AI-Governance@lumen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enturylink.sharepoint.com/sites/AICoE-LumenBestPractices/SitePages/Approved-LLM's.aspx" TargetMode="External"/><Relationship Id="rId5" Type="http://schemas.openxmlformats.org/officeDocument/2006/relationships/hyperlink" Target="https://centurylink.sharepoint.com/sites/ILLegalCorpAdmin/SitePages/AI-Governance.aspx" TargetMode="External"/><Relationship Id="rId4" Type="http://schemas.openxmlformats.org/officeDocument/2006/relationships/hyperlink" Target="https://www.flickr.com/photos/zigazou76/3702501888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lama/ollama/blob/main/docs/api.md#create-a-model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llama/ollama-python" TargetMode="External"/><Relationship Id="rId3" Type="http://schemas.openxmlformats.org/officeDocument/2006/relationships/hyperlink" Target="https://ollama.com/" TargetMode="External"/><Relationship Id="rId7" Type="http://schemas.openxmlformats.org/officeDocument/2006/relationships/hyperlink" Target="https://github.com/ollama/ollama-js" TargetMode="External"/><Relationship Id="rId2" Type="http://schemas.openxmlformats.org/officeDocument/2006/relationships/hyperlink" Target="https://centurylink.sharepoint.com/sites/ILLegalCorpAdmin/SitePages/AI-Governance.aspx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ollama/ollama/blob/main/docs/modelfile.md" TargetMode="External"/><Relationship Id="rId5" Type="http://schemas.openxmlformats.org/officeDocument/2006/relationships/hyperlink" Target="https://ollama.readthedocs.io/en/" TargetMode="External"/><Relationship Id="rId10" Type="http://schemas.openxmlformats.org/officeDocument/2006/relationships/hyperlink" Target="https://python.langchain.com/docs/integrations/text_embedding/ollama/" TargetMode="External"/><Relationship Id="rId4" Type="http://schemas.openxmlformats.org/officeDocument/2006/relationships/hyperlink" Target="https://github.com/ollama/ollama" TargetMode="External"/><Relationship Id="rId9" Type="http://schemas.openxmlformats.org/officeDocument/2006/relationships/hyperlink" Target="https://python.langchain.com/docs/integrations/chat/ollama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playlist?list=PLcp6ZnH4WYlZOXUK-6V2iaZ6SeoxhC8Dg" TargetMode="External"/><Relationship Id="rId3" Type="http://schemas.openxmlformats.org/officeDocument/2006/relationships/hyperlink" Target="https://centurylink.sharepoint.com/:f:/r/sites/March2026AutomationSummit/Shared%20Documents/General/Breakout%20Presentations/Using%20Ollama%20as%20a%20Framework/SpringSummit26?csf=1&amp;web=1&amp;e=pNZ0Le" TargetMode="External"/><Relationship Id="rId7" Type="http://schemas.openxmlformats.org/officeDocument/2006/relationships/hyperlink" Target="https://www.youtube.com/watch?v=Tmdk_H2WDj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ggml-org/llama.cpp?tab=readme-ov-file#llamacpp" TargetMode="External"/><Relationship Id="rId5" Type="http://schemas.openxmlformats.org/officeDocument/2006/relationships/hyperlink" Target="https://en.wikipedia.org/wiki/Llama.cpp" TargetMode="External"/><Relationship Id="rId10" Type="http://schemas.openxmlformats.org/officeDocument/2006/relationships/hyperlink" Target="https://www.youtube.com/watch?v=Yhv19le0sBw" TargetMode="External"/><Relationship Id="rId4" Type="http://schemas.openxmlformats.org/officeDocument/2006/relationships/hyperlink" Target="https://github.com/molbal/llm-text-completion-finetune?tab=readme-ov-file" TargetMode="External"/><Relationship Id="rId9" Type="http://schemas.openxmlformats.org/officeDocument/2006/relationships/hyperlink" Target="https://www.youtube.com/watch?v=ZTOtxiWb2b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" TargetMode="External"/><Relationship Id="rId3" Type="http://schemas.openxmlformats.org/officeDocument/2006/relationships/hyperlink" Target="https://podman.io/" TargetMode="External"/><Relationship Id="rId7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jupyter.org/en/latest/" TargetMode="External"/><Relationship Id="rId5" Type="http://schemas.openxmlformats.org/officeDocument/2006/relationships/hyperlink" Target="https://marketplace.visualstudio.com/items?itemName=ms-toolsai.jupyter" TargetMode="External"/><Relationship Id="rId4" Type="http://schemas.openxmlformats.org/officeDocument/2006/relationships/hyperlink" Target="https://code.visualstudio.com/Downloa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character in llama clothing using laptops&#10;&#10;AI-generated content may be incorrect.">
            <a:extLst>
              <a:ext uri="{FF2B5EF4-FFF2-40B4-BE49-F238E27FC236}">
                <a16:creationId xmlns:a16="http://schemas.microsoft.com/office/drawing/2014/main" id="{6C980EDE-D0D1-B288-2AB5-5E5DD6DB45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2000"/>
                    </a14:imgEffect>
                    <a14:imgEffect>
                      <a14:brightnessContrast bright="14000" contrast="-2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371600"/>
            <a:ext cx="9039865" cy="4010533"/>
          </a:xfrm>
          <a:prstGeom prst="rect">
            <a:avLst/>
          </a:prstGeom>
          <a:ln w="34925">
            <a:noFill/>
          </a:ln>
          <a:effectLst>
            <a:softEdge rad="462197"/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D9AF54-3E5D-E758-71AB-8B9F42121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Spring Summit 2026</a:t>
            </a:r>
          </a:p>
          <a:p>
            <a:r>
              <a:rPr lang="en-US"/>
              <a:t>Tristan Roberts &amp; Gabrielle Maxey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61AE2-0E11-DDEE-494B-BDEEC0A534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Using Ollama as a Framework</a:t>
            </a:r>
          </a:p>
        </p:txBody>
      </p:sp>
    </p:spTree>
    <p:extLst>
      <p:ext uri="{BB962C8B-B14F-4D97-AF65-F5344CB8AC3E}">
        <p14:creationId xmlns:p14="http://schemas.microsoft.com/office/powerpoint/2010/main" val="370190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D07C-22F4-CF10-BED6-606AAD07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3B3-022A-95E7-22B4-7C58812D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032" y="533036"/>
            <a:ext cx="10412177" cy="1325563"/>
          </a:xfrm>
        </p:spPr>
        <p:txBody>
          <a:bodyPr/>
          <a:lstStyle/>
          <a:p>
            <a:r>
              <a:rPr lang="en-US" dirty="0"/>
              <a:t>Things We Will Cover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B73A9-EA2F-6778-5092-F7D717709ED6}"/>
              </a:ext>
            </a:extLst>
          </p:cNvPr>
          <p:cNvSpPr txBox="1"/>
          <p:nvPr/>
        </p:nvSpPr>
        <p:spPr>
          <a:xfrm>
            <a:off x="3915165" y="2457316"/>
            <a:ext cx="436166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cs typeface="Arial"/>
              </a:rPr>
              <a:t>How to ‘Train’ vs Tune</a:t>
            </a:r>
            <a:endParaRPr kumimoji="0" lang="en-US" sz="1800" i="0" u="none" kern="1200" cap="none" spc="0" normalizeH="0" noProof="0" dirty="0">
              <a:ln>
                <a:noFill/>
              </a:ln>
              <a:effectLst/>
              <a:uLnTx/>
              <a:uFillTx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D8E2-A2CF-DD31-93B1-7CEB1777D076}"/>
              </a:ext>
            </a:extLst>
          </p:cNvPr>
          <p:cNvSpPr txBox="1"/>
          <p:nvPr/>
        </p:nvSpPr>
        <p:spPr>
          <a:xfrm>
            <a:off x="5239671" y="3547329"/>
            <a:ext cx="171265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</a:rPr>
              <a:t>Questions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cs typeface="Arial"/>
                <a:sym typeface="Trebuchet MS" panose="020B0603020202020204" pitchFamily="34" charset="0"/>
              </a:rPr>
              <a:t>Expected throughout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70A66-9B6B-C438-7372-4E9C17391A35}"/>
              </a:ext>
            </a:extLst>
          </p:cNvPr>
          <p:cNvSpPr txBox="1"/>
          <p:nvPr/>
        </p:nvSpPr>
        <p:spPr>
          <a:xfrm>
            <a:off x="4737228" y="1973291"/>
            <a:ext cx="271754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defRPr/>
            </a:pPr>
            <a:r>
              <a:rPr lang="en-US" dirty="0">
                <a:cs typeface="Arial"/>
              </a:rPr>
              <a:t>Make a Model Yours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E3266-B187-6782-0468-EDB9138260F3}"/>
              </a:ext>
            </a:extLst>
          </p:cNvPr>
          <p:cNvSpPr txBox="1"/>
          <p:nvPr/>
        </p:nvSpPr>
        <p:spPr>
          <a:xfrm>
            <a:off x="4362202" y="2941340"/>
            <a:ext cx="346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Working With A Lora Adapter</a:t>
            </a:r>
          </a:p>
        </p:txBody>
      </p:sp>
    </p:spTree>
    <p:extLst>
      <p:ext uri="{BB962C8B-B14F-4D97-AF65-F5344CB8AC3E}">
        <p14:creationId xmlns:p14="http://schemas.microsoft.com/office/powerpoint/2010/main" val="425773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EBC5-A5CF-8C1C-947E-4A9798DD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artoon&#10;&#10;AI-generated content may be incorrect.">
            <a:extLst>
              <a:ext uri="{FF2B5EF4-FFF2-40B4-BE49-F238E27FC236}">
                <a16:creationId xmlns:a16="http://schemas.microsoft.com/office/drawing/2014/main" id="{83654A02-AF0E-7ED9-9668-41E0B5D32F2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982" t="13172" r="16080" b="8974"/>
          <a:stretch>
            <a:fillRect/>
          </a:stretch>
        </p:blipFill>
        <p:spPr>
          <a:xfrm>
            <a:off x="8115300" y="1405089"/>
            <a:ext cx="3543886" cy="4253394"/>
          </a:xfrm>
          <a:noFill/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9C454CB-80FE-2F92-0815-80D312CE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8" y="235419"/>
            <a:ext cx="11314038" cy="540749"/>
          </a:xfrm>
        </p:spPr>
        <p:txBody>
          <a:bodyPr anchor="ctr">
            <a:normAutofit/>
          </a:bodyPr>
          <a:lstStyle/>
          <a:p>
            <a:r>
              <a:rPr lang="en-US" dirty="0"/>
              <a:t>What is Ollama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939F7-FE7E-460D-FF98-149ABD4FC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183" y="1742508"/>
            <a:ext cx="7485036" cy="3578555"/>
          </a:xfrm>
        </p:spPr>
        <p:txBody>
          <a:bodyPr>
            <a:normAutofit/>
          </a:bodyPr>
          <a:lstStyle/>
          <a:p>
            <a:pPr marL="320040"/>
            <a:r>
              <a:rPr lang="en-US" dirty="0"/>
              <a:t>a lightweight, extensible framework for building and running language models on a local machine.</a:t>
            </a:r>
          </a:p>
          <a:p>
            <a:pPr marL="320040"/>
            <a:r>
              <a:rPr lang="en-US" dirty="0"/>
              <a:t>Supports many popular models such as OpenAI, gemma, mistral, and llama</a:t>
            </a:r>
          </a:p>
          <a:p>
            <a:pPr marL="320040"/>
            <a:r>
              <a:rPr lang="en-US" dirty="0"/>
              <a:t>Allows personalization of input data, interpretations, and response.</a:t>
            </a:r>
          </a:p>
          <a:p>
            <a:pPr marL="320040"/>
            <a:r>
              <a:rPr lang="en-US" dirty="0"/>
              <a:t>Now Includes the ability to run cloud models, eliminating the need for individuals to have massive GPUs.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0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4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E355963-FBE3-F028-1106-3774E5DC1393}"/>
              </a:ext>
            </a:extLst>
          </p:cNvPr>
          <p:cNvGrpSpPr/>
          <p:nvPr/>
        </p:nvGrpSpPr>
        <p:grpSpPr>
          <a:xfrm>
            <a:off x="252350" y="2252053"/>
            <a:ext cx="4953000" cy="1191490"/>
            <a:chOff x="252350" y="2252053"/>
            <a:chExt cx="4953000" cy="119149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E0C363F-48D8-1CD9-657C-499689864F31}"/>
                </a:ext>
              </a:extLst>
            </p:cNvPr>
            <p:cNvSpPr>
              <a:spLocks/>
            </p:cNvSpPr>
            <p:nvPr/>
          </p:nvSpPr>
          <p:spPr>
            <a:xfrm>
              <a:off x="252350" y="2252053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Multimodal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Visual-language fusion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Works with both image + text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3D2D02E-E911-216D-55A7-70CE479FCF19}"/>
                </a:ext>
              </a:extLst>
            </p:cNvPr>
            <p:cNvSpPr>
              <a:spLocks/>
            </p:cNvSpPr>
            <p:nvPr/>
          </p:nvSpPr>
          <p:spPr>
            <a:xfrm>
              <a:off x="276100" y="2264994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>
                  <a:alpha val="97000"/>
                </a:srgbClr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Vision</a:t>
              </a:r>
            </a:p>
          </p:txBody>
        </p:sp>
      </p:grpSp>
      <p:sp>
        <p:nvSpPr>
          <p:cNvPr id="8" name="Title 2">
            <a:extLst>
              <a:ext uri="{FF2B5EF4-FFF2-40B4-BE49-F238E27FC236}">
                <a16:creationId xmlns:a16="http://schemas.microsoft.com/office/drawing/2014/main" id="{AAB978B1-EBAA-527B-040E-4D18D41D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71" y="38100"/>
            <a:ext cx="11457657" cy="69141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Model Types Available for Use With Ollama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824CE-3AB1-8CFB-D045-10DAC835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78" y="1066340"/>
            <a:ext cx="6284983" cy="4270564"/>
          </a:xfrm>
          <a:prstGeom prst="rect">
            <a:avLst/>
          </a:prstGeom>
          <a:effectLst>
            <a:outerShdw blurRad="180253" dist="38100" dir="1740000" algn="tl" rotWithShape="0">
              <a:prstClr val="black">
                <a:alpha val="64240"/>
              </a:prstClr>
            </a:outerShdw>
            <a:reflection endPos="6248" dist="50800" dir="5400000" sy="-100000" algn="bl" rotWithShape="0"/>
          </a:effectLst>
          <a:scene3d>
            <a:camera prst="orthographicFront"/>
            <a:lightRig rig="threePt" dir="t"/>
          </a:scene3d>
          <a:sp3d extrusionH="146050">
            <a:bevelT w="44450" h="44450"/>
            <a:bevelB w="50800" h="50800"/>
            <a:extrusionClr>
              <a:schemeClr val="accent1">
                <a:lumMod val="75000"/>
                <a:lumOff val="25000"/>
              </a:schemeClr>
            </a:extrusionClr>
          </a:sp3d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2822708-9CBD-649F-C704-BE66F246327B}"/>
              </a:ext>
            </a:extLst>
          </p:cNvPr>
          <p:cNvGrpSpPr/>
          <p:nvPr/>
        </p:nvGrpSpPr>
        <p:grpSpPr>
          <a:xfrm>
            <a:off x="252350" y="869896"/>
            <a:ext cx="4953000" cy="1191490"/>
            <a:chOff x="252350" y="869896"/>
            <a:chExt cx="4953000" cy="119149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A659CA7-61DD-9CE0-1020-9E8CDC5B6C84}"/>
                </a:ext>
              </a:extLst>
            </p:cNvPr>
            <p:cNvSpPr>
              <a:spLocks/>
            </p:cNvSpPr>
            <p:nvPr/>
          </p:nvSpPr>
          <p:spPr>
            <a:xfrm>
              <a:off x="252350" y="869896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18729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Chain of thought prompting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Structured output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Reliable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48F2178-3C9C-E44E-0B8E-EF2CE690E1BD}"/>
                </a:ext>
              </a:extLst>
            </p:cNvPr>
            <p:cNvSpPr>
              <a:spLocks/>
            </p:cNvSpPr>
            <p:nvPr/>
          </p:nvSpPr>
          <p:spPr>
            <a:xfrm>
              <a:off x="276100" y="882837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>
                  <a:alpha val="97000"/>
                </a:srgbClr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Thinking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2FB2E75-46C8-AC7F-010F-0BFE28B0A763}"/>
              </a:ext>
            </a:extLst>
          </p:cNvPr>
          <p:cNvGrpSpPr/>
          <p:nvPr/>
        </p:nvGrpSpPr>
        <p:grpSpPr>
          <a:xfrm>
            <a:off x="252350" y="3634210"/>
            <a:ext cx="4953000" cy="1191490"/>
            <a:chOff x="252350" y="3634210"/>
            <a:chExt cx="4953000" cy="119149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B3870C9-8BE4-FAA4-EF25-AAB44241C16A}"/>
                </a:ext>
              </a:extLst>
            </p:cNvPr>
            <p:cNvSpPr>
              <a:spLocks/>
            </p:cNvSpPr>
            <p:nvPr/>
          </p:nvSpPr>
          <p:spPr>
            <a:xfrm>
              <a:off x="252350" y="3634210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Text -&gt; vectors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Semantic search + clustering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RAG over docs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B961274-51B3-FD29-5E3C-DF26BEE60591}"/>
                </a:ext>
              </a:extLst>
            </p:cNvPr>
            <p:cNvSpPr>
              <a:spLocks/>
            </p:cNvSpPr>
            <p:nvPr/>
          </p:nvSpPr>
          <p:spPr>
            <a:xfrm>
              <a:off x="276100" y="3647151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Embedding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EB1D4D-648F-92DE-E9C5-AED3F16EAEC5}"/>
              </a:ext>
            </a:extLst>
          </p:cNvPr>
          <p:cNvGrpSpPr/>
          <p:nvPr/>
        </p:nvGrpSpPr>
        <p:grpSpPr>
          <a:xfrm>
            <a:off x="252350" y="5016366"/>
            <a:ext cx="4953000" cy="1191490"/>
            <a:chOff x="252350" y="5016366"/>
            <a:chExt cx="4953000" cy="119149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66F60D91-780D-7E1A-0BCB-1905C1C1730F}"/>
                </a:ext>
              </a:extLst>
            </p:cNvPr>
            <p:cNvSpPr>
              <a:spLocks/>
            </p:cNvSpPr>
            <p:nvPr/>
          </p:nvSpPr>
          <p:spPr>
            <a:xfrm>
              <a:off x="252350" y="5016366"/>
              <a:ext cx="4953000" cy="1191490"/>
            </a:xfrm>
            <a:prstGeom prst="roundRect">
              <a:avLst>
                <a:gd name="adj" fmla="val 13677"/>
              </a:avLst>
            </a:prstGeom>
            <a:solidFill>
              <a:schemeClr val="bg2">
                <a:alpha val="25062"/>
              </a:schemeClr>
            </a:solidFill>
            <a:ln w="34925" cap="sq" cmpd="sng">
              <a:solidFill>
                <a:srgbClr val="003233"/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526128"/>
                        <a:gd name="csY0" fmla="*/ 283344 h 1700029"/>
                        <a:gd name="csX1" fmla="*/ 283344 w 4526128"/>
                        <a:gd name="csY1" fmla="*/ 0 h 1700029"/>
                        <a:gd name="csX2" fmla="*/ 4242784 w 4526128"/>
                        <a:gd name="csY2" fmla="*/ 0 h 1700029"/>
                        <a:gd name="csX3" fmla="*/ 4526128 w 4526128"/>
                        <a:gd name="csY3" fmla="*/ 283344 h 1700029"/>
                        <a:gd name="csX4" fmla="*/ 4526128 w 4526128"/>
                        <a:gd name="csY4" fmla="*/ 1416685 h 1700029"/>
                        <a:gd name="csX5" fmla="*/ 4242784 w 4526128"/>
                        <a:gd name="csY5" fmla="*/ 1700029 h 1700029"/>
                        <a:gd name="csX6" fmla="*/ 283344 w 4526128"/>
                        <a:gd name="csY6" fmla="*/ 1700029 h 1700029"/>
                        <a:gd name="csX7" fmla="*/ 0 w 4526128"/>
                        <a:gd name="csY7" fmla="*/ 1416685 h 1700029"/>
                        <a:gd name="csX8" fmla="*/ 0 w 4526128"/>
                        <a:gd name="csY8" fmla="*/ 283344 h 170002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526128" h="1700029" fill="none" extrusionOk="0">
                          <a:moveTo>
                            <a:pt x="0" y="283344"/>
                          </a:moveTo>
                          <a:cubicBezTo>
                            <a:pt x="-5561" y="125958"/>
                            <a:pt x="130962" y="3357"/>
                            <a:pt x="283344" y="0"/>
                          </a:cubicBezTo>
                          <a:cubicBezTo>
                            <a:pt x="1981902" y="130954"/>
                            <a:pt x="2726381" y="43574"/>
                            <a:pt x="4242784" y="0"/>
                          </a:cubicBezTo>
                          <a:cubicBezTo>
                            <a:pt x="4413611" y="22088"/>
                            <a:pt x="4537512" y="140801"/>
                            <a:pt x="4526128" y="283344"/>
                          </a:cubicBezTo>
                          <a:cubicBezTo>
                            <a:pt x="4460483" y="726848"/>
                            <a:pt x="4615930" y="956425"/>
                            <a:pt x="4526128" y="1416685"/>
                          </a:cubicBezTo>
                          <a:cubicBezTo>
                            <a:pt x="4522244" y="1573810"/>
                            <a:pt x="4374308" y="1682805"/>
                            <a:pt x="4242784" y="1700029"/>
                          </a:cubicBezTo>
                          <a:cubicBezTo>
                            <a:pt x="3301083" y="1855226"/>
                            <a:pt x="864968" y="1863049"/>
                            <a:pt x="283344" y="1700029"/>
                          </a:cubicBezTo>
                          <a:cubicBezTo>
                            <a:pt x="127922" y="1685624"/>
                            <a:pt x="-4065" y="1575546"/>
                            <a:pt x="0" y="1416685"/>
                          </a:cubicBezTo>
                          <a:cubicBezTo>
                            <a:pt x="56925" y="951358"/>
                            <a:pt x="-19480" y="712765"/>
                            <a:pt x="0" y="283344"/>
                          </a:cubicBezTo>
                          <a:close/>
                        </a:path>
                        <a:path w="4526128" h="1700029" stroke="0" extrusionOk="0">
                          <a:moveTo>
                            <a:pt x="0" y="283344"/>
                          </a:moveTo>
                          <a:cubicBezTo>
                            <a:pt x="-23576" y="112315"/>
                            <a:pt x="107746" y="7173"/>
                            <a:pt x="283344" y="0"/>
                          </a:cubicBezTo>
                          <a:cubicBezTo>
                            <a:pt x="2056104" y="132882"/>
                            <a:pt x="2313290" y="-84951"/>
                            <a:pt x="4242784" y="0"/>
                          </a:cubicBezTo>
                          <a:cubicBezTo>
                            <a:pt x="4394647" y="4515"/>
                            <a:pt x="4523710" y="140223"/>
                            <a:pt x="4526128" y="283344"/>
                          </a:cubicBezTo>
                          <a:cubicBezTo>
                            <a:pt x="4546387" y="813471"/>
                            <a:pt x="4481517" y="1297845"/>
                            <a:pt x="4526128" y="1416685"/>
                          </a:cubicBezTo>
                          <a:cubicBezTo>
                            <a:pt x="4546576" y="1575598"/>
                            <a:pt x="4402089" y="1694229"/>
                            <a:pt x="4242784" y="1700029"/>
                          </a:cubicBezTo>
                          <a:cubicBezTo>
                            <a:pt x="2332086" y="1787668"/>
                            <a:pt x="2156764" y="1627350"/>
                            <a:pt x="283344" y="1700029"/>
                          </a:cubicBezTo>
                          <a:cubicBezTo>
                            <a:pt x="126141" y="1693204"/>
                            <a:pt x="-9089" y="1585803"/>
                            <a:pt x="0" y="1416685"/>
                          </a:cubicBezTo>
                          <a:cubicBezTo>
                            <a:pt x="89728" y="1245856"/>
                            <a:pt x="-95631" y="684199"/>
                            <a:pt x="0" y="28334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Execute code, browse, query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Connect APIs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Add external capabilities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EB61046-372B-A368-A339-2C9C2F31229D}"/>
                </a:ext>
              </a:extLst>
            </p:cNvPr>
            <p:cNvSpPr>
              <a:spLocks/>
            </p:cNvSpPr>
            <p:nvPr/>
          </p:nvSpPr>
          <p:spPr>
            <a:xfrm>
              <a:off x="276100" y="5029307"/>
              <a:ext cx="4905500" cy="367007"/>
            </a:xfrm>
            <a:prstGeom prst="roundRect">
              <a:avLst>
                <a:gd name="adj" fmla="val 32975"/>
              </a:avLst>
            </a:prstGeom>
            <a:solidFill>
              <a:srgbClr val="003233"/>
            </a:solidFill>
            <a:ln w="28575" cap="flat" cmpd="sng">
              <a:solidFill>
                <a:srgbClr val="003233"/>
              </a:solidFill>
              <a:prstDash val="solid"/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4929250"/>
                        <a:gd name="csY0" fmla="*/ 56352 h 338106"/>
                        <a:gd name="csX1" fmla="*/ 56352 w 4929250"/>
                        <a:gd name="csY1" fmla="*/ 0 h 338106"/>
                        <a:gd name="csX2" fmla="*/ 4872898 w 4929250"/>
                        <a:gd name="csY2" fmla="*/ 0 h 338106"/>
                        <a:gd name="csX3" fmla="*/ 4929250 w 4929250"/>
                        <a:gd name="csY3" fmla="*/ 56352 h 338106"/>
                        <a:gd name="csX4" fmla="*/ 4929250 w 4929250"/>
                        <a:gd name="csY4" fmla="*/ 281754 h 338106"/>
                        <a:gd name="csX5" fmla="*/ 4872898 w 4929250"/>
                        <a:gd name="csY5" fmla="*/ 338106 h 338106"/>
                        <a:gd name="csX6" fmla="*/ 56352 w 4929250"/>
                        <a:gd name="csY6" fmla="*/ 338106 h 338106"/>
                        <a:gd name="csX7" fmla="*/ 0 w 4929250"/>
                        <a:gd name="csY7" fmla="*/ 281754 h 338106"/>
                        <a:gd name="csX8" fmla="*/ 0 w 4929250"/>
                        <a:gd name="csY8" fmla="*/ 56352 h 338106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4929250" h="338106" fill="none" extrusionOk="0">
                          <a:moveTo>
                            <a:pt x="0" y="56352"/>
                          </a:moveTo>
                          <a:cubicBezTo>
                            <a:pt x="-2661" y="24800"/>
                            <a:pt x="26618" y="1135"/>
                            <a:pt x="56352" y="0"/>
                          </a:cubicBezTo>
                          <a:cubicBezTo>
                            <a:pt x="1653443" y="130954"/>
                            <a:pt x="3530582" y="43574"/>
                            <a:pt x="4872898" y="0"/>
                          </a:cubicBezTo>
                          <a:cubicBezTo>
                            <a:pt x="4905361" y="2066"/>
                            <a:pt x="4932385" y="29070"/>
                            <a:pt x="4929250" y="56352"/>
                          </a:cubicBezTo>
                          <a:cubicBezTo>
                            <a:pt x="4911806" y="80091"/>
                            <a:pt x="4944440" y="192316"/>
                            <a:pt x="4929250" y="281754"/>
                          </a:cubicBezTo>
                          <a:cubicBezTo>
                            <a:pt x="4926354" y="313352"/>
                            <a:pt x="4898900" y="334573"/>
                            <a:pt x="4872898" y="338106"/>
                          </a:cubicBezTo>
                          <a:cubicBezTo>
                            <a:pt x="4280190" y="493303"/>
                            <a:pt x="645854" y="501126"/>
                            <a:pt x="56352" y="338106"/>
                          </a:cubicBezTo>
                          <a:cubicBezTo>
                            <a:pt x="25470" y="334857"/>
                            <a:pt x="-865" y="313381"/>
                            <a:pt x="0" y="281754"/>
                          </a:cubicBezTo>
                          <a:cubicBezTo>
                            <a:pt x="-9584" y="173748"/>
                            <a:pt x="-17200" y="117841"/>
                            <a:pt x="0" y="56352"/>
                          </a:cubicBezTo>
                          <a:close/>
                        </a:path>
                        <a:path w="4929250" h="338106" stroke="0" extrusionOk="0">
                          <a:moveTo>
                            <a:pt x="0" y="56352"/>
                          </a:moveTo>
                          <a:cubicBezTo>
                            <a:pt x="-2181" y="23885"/>
                            <a:pt x="24281" y="356"/>
                            <a:pt x="56352" y="0"/>
                          </a:cubicBezTo>
                          <a:cubicBezTo>
                            <a:pt x="970264" y="132882"/>
                            <a:pt x="3213345" y="-84951"/>
                            <a:pt x="4872898" y="0"/>
                          </a:cubicBezTo>
                          <a:cubicBezTo>
                            <a:pt x="4901358" y="2600"/>
                            <a:pt x="4929110" y="26002"/>
                            <a:pt x="4929250" y="56352"/>
                          </a:cubicBezTo>
                          <a:cubicBezTo>
                            <a:pt x="4930254" y="115552"/>
                            <a:pt x="4940607" y="222328"/>
                            <a:pt x="4929250" y="281754"/>
                          </a:cubicBezTo>
                          <a:cubicBezTo>
                            <a:pt x="4931443" y="313136"/>
                            <a:pt x="4904531" y="337054"/>
                            <a:pt x="4872898" y="338106"/>
                          </a:cubicBezTo>
                          <a:cubicBezTo>
                            <a:pt x="3463253" y="425745"/>
                            <a:pt x="1665968" y="265427"/>
                            <a:pt x="56352" y="338106"/>
                          </a:cubicBezTo>
                          <a:cubicBezTo>
                            <a:pt x="24996" y="335872"/>
                            <a:pt x="-3110" y="317198"/>
                            <a:pt x="0" y="281754"/>
                          </a:cubicBezTo>
                          <a:cubicBezTo>
                            <a:pt x="-9829" y="208397"/>
                            <a:pt x="8240" y="88955"/>
                            <a:pt x="0" y="56352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Tools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8315223-518B-BF98-3F18-C536911C60E7}"/>
              </a:ext>
            </a:extLst>
          </p:cNvPr>
          <p:cNvSpPr txBox="1"/>
          <p:nvPr/>
        </p:nvSpPr>
        <p:spPr>
          <a:xfrm>
            <a:off x="5765278" y="5499272"/>
            <a:ext cx="6072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Ollama lets you run models locally and extend them with vision, embedding and tool use.</a:t>
            </a:r>
          </a:p>
        </p:txBody>
      </p:sp>
    </p:spTree>
    <p:extLst>
      <p:ext uri="{BB962C8B-B14F-4D97-AF65-F5344CB8AC3E}">
        <p14:creationId xmlns:p14="http://schemas.microsoft.com/office/powerpoint/2010/main" val="339649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EA317-B017-523E-EFD0-0FB16AFA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22A315B-26E0-0494-B227-24092E1C56FB}"/>
              </a:ext>
            </a:extLst>
          </p:cNvPr>
          <p:cNvGrpSpPr/>
          <p:nvPr/>
        </p:nvGrpSpPr>
        <p:grpSpPr>
          <a:xfrm>
            <a:off x="-163666" y="430187"/>
            <a:ext cx="12444947" cy="5927267"/>
            <a:chOff x="-163666" y="430187"/>
            <a:chExt cx="12444947" cy="592726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E1F0337-DE2E-BBFF-98D5-93D91F38D07C}"/>
                </a:ext>
              </a:extLst>
            </p:cNvPr>
            <p:cNvGrpSpPr/>
            <p:nvPr/>
          </p:nvGrpSpPr>
          <p:grpSpPr>
            <a:xfrm>
              <a:off x="616939" y="3633031"/>
              <a:ext cx="3674054" cy="2385335"/>
              <a:chOff x="575451" y="3802538"/>
              <a:chExt cx="3365500" cy="2214869"/>
            </a:xfrm>
          </p:grpSpPr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84173958-B312-BC2B-7145-147E19796334}"/>
                  </a:ext>
                </a:extLst>
              </p:cNvPr>
              <p:cNvSpPr/>
              <p:nvPr/>
            </p:nvSpPr>
            <p:spPr>
              <a:xfrm>
                <a:off x="575451" y="3802538"/>
                <a:ext cx="3352800" cy="2214869"/>
              </a:xfrm>
              <a:prstGeom prst="roundRect">
                <a:avLst/>
              </a:prstGeom>
              <a:gradFill flip="none" rotWithShape="1">
                <a:gsLst>
                  <a:gs pos="87000">
                    <a:srgbClr val="CDF1F1">
                      <a:alpha val="94399"/>
                      <a:lumMod val="90000"/>
                      <a:lumOff val="10000"/>
                    </a:srgbClr>
                  </a:gs>
                  <a:gs pos="20000">
                    <a:schemeClr val="accent6">
                      <a:lumMod val="0"/>
                      <a:lumOff val="100000"/>
                      <a:alpha val="29055"/>
                    </a:schemeClr>
                  </a:gs>
                </a:gsLst>
                <a:lin ang="135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Local-only by default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Redact before indexing/prompting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Allow-list source &amp; file types</a:t>
                </a:r>
              </a:p>
              <a:p>
                <a:pPr marL="285750" indent="-285750">
                  <a:buFont typeface="Wingdings" pitchFamily="2" charset="2"/>
                  <a:buChar char="ü"/>
                </a:pPr>
                <a:r>
                  <a:rPr lang="en-US" sz="1600" dirty="0">
                    <a:solidFill>
                      <a:schemeClr val="tx1"/>
                    </a:solidFill>
                  </a:rPr>
                  <a:t>Keep citations to show provenance</a:t>
                </a:r>
              </a:p>
            </p:txBody>
          </p: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1647F98B-5CAA-06B7-4C50-58A10EAE1BAE}"/>
                  </a:ext>
                </a:extLst>
              </p:cNvPr>
              <p:cNvSpPr/>
              <p:nvPr/>
            </p:nvSpPr>
            <p:spPr>
              <a:xfrm>
                <a:off x="588151" y="3802538"/>
                <a:ext cx="3352800" cy="360530"/>
              </a:xfrm>
              <a:prstGeom prst="roundRect">
                <a:avLst/>
              </a:prstGeom>
              <a:solidFill>
                <a:schemeClr val="accent6">
                  <a:lumMod val="75000"/>
                  <a:alpha val="84701"/>
                </a:schemeClr>
              </a:solidFill>
              <a:ln w="19050" cmpd="sng">
                <a:noFill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3352800"/>
                          <a:gd name="csY0" fmla="*/ 60090 h 360530"/>
                          <a:gd name="csX1" fmla="*/ 60090 w 3352800"/>
                          <a:gd name="csY1" fmla="*/ 0 h 360530"/>
                          <a:gd name="csX2" fmla="*/ 641962 w 3352800"/>
                          <a:gd name="csY2" fmla="*/ 0 h 360530"/>
                          <a:gd name="csX3" fmla="*/ 1288486 w 3352800"/>
                          <a:gd name="csY3" fmla="*/ 0 h 360530"/>
                          <a:gd name="csX4" fmla="*/ 1870357 w 3352800"/>
                          <a:gd name="csY4" fmla="*/ 0 h 360530"/>
                          <a:gd name="csX5" fmla="*/ 2516881 w 3352800"/>
                          <a:gd name="csY5" fmla="*/ 0 h 360530"/>
                          <a:gd name="csX6" fmla="*/ 3292710 w 3352800"/>
                          <a:gd name="csY6" fmla="*/ 0 h 360530"/>
                          <a:gd name="csX7" fmla="*/ 3352800 w 3352800"/>
                          <a:gd name="csY7" fmla="*/ 60090 h 360530"/>
                          <a:gd name="csX8" fmla="*/ 3352800 w 3352800"/>
                          <a:gd name="csY8" fmla="*/ 300440 h 360530"/>
                          <a:gd name="csX9" fmla="*/ 3292710 w 3352800"/>
                          <a:gd name="csY9" fmla="*/ 360530 h 360530"/>
                          <a:gd name="csX10" fmla="*/ 2678512 w 3352800"/>
                          <a:gd name="csY10" fmla="*/ 360530 h 360530"/>
                          <a:gd name="csX11" fmla="*/ 2128967 w 3352800"/>
                          <a:gd name="csY11" fmla="*/ 360530 h 360530"/>
                          <a:gd name="csX12" fmla="*/ 1450117 w 3352800"/>
                          <a:gd name="csY12" fmla="*/ 360530 h 360530"/>
                          <a:gd name="csX13" fmla="*/ 868245 w 3352800"/>
                          <a:gd name="csY13" fmla="*/ 360530 h 360530"/>
                          <a:gd name="csX14" fmla="*/ 60090 w 3352800"/>
                          <a:gd name="csY14" fmla="*/ 360530 h 360530"/>
                          <a:gd name="csX15" fmla="*/ 0 w 3352800"/>
                          <a:gd name="csY15" fmla="*/ 300440 h 360530"/>
                          <a:gd name="csX16" fmla="*/ 0 w 3352800"/>
                          <a:gd name="csY16" fmla="*/ 60090 h 36053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</a:cxnLst>
                        <a:rect l="l" t="t" r="r" b="b"/>
                        <a:pathLst>
                          <a:path w="3352800" h="360530" fill="none" extrusionOk="0">
                            <a:moveTo>
                              <a:pt x="0" y="60090"/>
                            </a:moveTo>
                            <a:cubicBezTo>
                              <a:pt x="-1413" y="29430"/>
                              <a:pt x="30867" y="2945"/>
                              <a:pt x="60090" y="0"/>
                            </a:cubicBezTo>
                            <a:cubicBezTo>
                              <a:pt x="335251" y="12521"/>
                              <a:pt x="438793" y="-11385"/>
                              <a:pt x="641962" y="0"/>
                            </a:cubicBezTo>
                            <a:cubicBezTo>
                              <a:pt x="845131" y="11385"/>
                              <a:pt x="1078841" y="-5248"/>
                              <a:pt x="1288486" y="0"/>
                            </a:cubicBezTo>
                            <a:cubicBezTo>
                              <a:pt x="1498131" y="5248"/>
                              <a:pt x="1594183" y="1466"/>
                              <a:pt x="1870357" y="0"/>
                            </a:cubicBezTo>
                            <a:cubicBezTo>
                              <a:pt x="2146531" y="-1466"/>
                              <a:pt x="2255082" y="9112"/>
                              <a:pt x="2516881" y="0"/>
                            </a:cubicBezTo>
                            <a:cubicBezTo>
                              <a:pt x="2778680" y="-9112"/>
                              <a:pt x="3019876" y="-30002"/>
                              <a:pt x="3292710" y="0"/>
                            </a:cubicBezTo>
                            <a:cubicBezTo>
                              <a:pt x="3326421" y="-1611"/>
                              <a:pt x="3355961" y="30321"/>
                              <a:pt x="3352800" y="60090"/>
                            </a:cubicBezTo>
                            <a:cubicBezTo>
                              <a:pt x="3356661" y="166676"/>
                              <a:pt x="3350009" y="243175"/>
                              <a:pt x="3352800" y="300440"/>
                            </a:cubicBezTo>
                            <a:cubicBezTo>
                              <a:pt x="3352641" y="330326"/>
                              <a:pt x="3329573" y="362846"/>
                              <a:pt x="3292710" y="360530"/>
                            </a:cubicBezTo>
                            <a:cubicBezTo>
                              <a:pt x="3156853" y="362195"/>
                              <a:pt x="2810212" y="349455"/>
                              <a:pt x="2678512" y="360530"/>
                            </a:cubicBezTo>
                            <a:cubicBezTo>
                              <a:pt x="2546812" y="371605"/>
                              <a:pt x="2342209" y="351378"/>
                              <a:pt x="2128967" y="360530"/>
                            </a:cubicBezTo>
                            <a:cubicBezTo>
                              <a:pt x="1915725" y="369682"/>
                              <a:pt x="1591014" y="351429"/>
                              <a:pt x="1450117" y="360530"/>
                            </a:cubicBezTo>
                            <a:cubicBezTo>
                              <a:pt x="1309220" y="369632"/>
                              <a:pt x="1056724" y="360472"/>
                              <a:pt x="868245" y="360530"/>
                            </a:cubicBezTo>
                            <a:cubicBezTo>
                              <a:pt x="679766" y="360588"/>
                              <a:pt x="283439" y="337250"/>
                              <a:pt x="60090" y="360530"/>
                            </a:cubicBezTo>
                            <a:cubicBezTo>
                              <a:pt x="28324" y="354330"/>
                              <a:pt x="-2757" y="333538"/>
                              <a:pt x="0" y="300440"/>
                            </a:cubicBezTo>
                            <a:cubicBezTo>
                              <a:pt x="-8127" y="229599"/>
                              <a:pt x="9952" y="113831"/>
                              <a:pt x="0" y="60090"/>
                            </a:cubicBezTo>
                            <a:close/>
                          </a:path>
                          <a:path w="3352800" h="360530" stroke="0" extrusionOk="0">
                            <a:moveTo>
                              <a:pt x="0" y="60090"/>
                            </a:moveTo>
                            <a:cubicBezTo>
                              <a:pt x="-919" y="26336"/>
                              <a:pt x="26168" y="276"/>
                              <a:pt x="60090" y="0"/>
                            </a:cubicBezTo>
                            <a:cubicBezTo>
                              <a:pt x="244166" y="-32957"/>
                              <a:pt x="601971" y="-4821"/>
                              <a:pt x="771266" y="0"/>
                            </a:cubicBezTo>
                            <a:cubicBezTo>
                              <a:pt x="940561" y="4821"/>
                              <a:pt x="1225176" y="-13407"/>
                              <a:pt x="1385464" y="0"/>
                            </a:cubicBezTo>
                            <a:cubicBezTo>
                              <a:pt x="1545752" y="13407"/>
                              <a:pt x="1717894" y="-14639"/>
                              <a:pt x="1967336" y="0"/>
                            </a:cubicBezTo>
                            <a:cubicBezTo>
                              <a:pt x="2216778" y="14639"/>
                              <a:pt x="2348226" y="-27766"/>
                              <a:pt x="2646186" y="0"/>
                            </a:cubicBezTo>
                            <a:cubicBezTo>
                              <a:pt x="2944146" y="27766"/>
                              <a:pt x="3113526" y="12479"/>
                              <a:pt x="3292710" y="0"/>
                            </a:cubicBezTo>
                            <a:cubicBezTo>
                              <a:pt x="3326780" y="-1437"/>
                              <a:pt x="3349741" y="29591"/>
                              <a:pt x="3352800" y="60090"/>
                            </a:cubicBezTo>
                            <a:cubicBezTo>
                              <a:pt x="3350963" y="108793"/>
                              <a:pt x="3345214" y="192170"/>
                              <a:pt x="3352800" y="300440"/>
                            </a:cubicBezTo>
                            <a:cubicBezTo>
                              <a:pt x="3354743" y="334094"/>
                              <a:pt x="3319271" y="359458"/>
                              <a:pt x="3292710" y="360530"/>
                            </a:cubicBezTo>
                            <a:cubicBezTo>
                              <a:pt x="3071866" y="391442"/>
                              <a:pt x="2931023" y="366965"/>
                              <a:pt x="2646186" y="360530"/>
                            </a:cubicBezTo>
                            <a:cubicBezTo>
                              <a:pt x="2361349" y="354095"/>
                              <a:pt x="2257075" y="385601"/>
                              <a:pt x="2031988" y="360530"/>
                            </a:cubicBezTo>
                            <a:cubicBezTo>
                              <a:pt x="1806901" y="335459"/>
                              <a:pt x="1643298" y="335048"/>
                              <a:pt x="1320812" y="360530"/>
                            </a:cubicBezTo>
                            <a:cubicBezTo>
                              <a:pt x="998326" y="386012"/>
                              <a:pt x="872235" y="363458"/>
                              <a:pt x="609635" y="360530"/>
                            </a:cubicBezTo>
                            <a:cubicBezTo>
                              <a:pt x="347035" y="357602"/>
                              <a:pt x="290345" y="358424"/>
                              <a:pt x="60090" y="360530"/>
                            </a:cubicBezTo>
                            <a:cubicBezTo>
                              <a:pt x="23819" y="357625"/>
                              <a:pt x="-1343" y="331619"/>
                              <a:pt x="0" y="300440"/>
                            </a:cubicBezTo>
                            <a:cubicBezTo>
                              <a:pt x="10307" y="249440"/>
                              <a:pt x="9818" y="119987"/>
                              <a:pt x="0" y="6009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glow rad="53488">
                  <a:schemeClr val="accent1"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>
                <a:bevelB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 Control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E62390-2FC1-F69A-3E8D-041D65F2FED7}"/>
                </a:ext>
              </a:extLst>
            </p:cNvPr>
            <p:cNvSpPr>
              <a:spLocks/>
            </p:cNvSpPr>
            <p:nvPr/>
          </p:nvSpPr>
          <p:spPr>
            <a:xfrm rot="455338">
              <a:off x="3517058" y="5002222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2">
                    <a:lumMod val="52050"/>
                    <a:lumOff val="4795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8017243" lon="3464539" rev="18437403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chemeClr val="accent3">
                  <a:lumMod val="75000"/>
                </a:schemeClr>
              </a:extrusionClr>
              <a:contourClr>
                <a:schemeClr val="bg1">
                  <a:lumMod val="85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61AE726-C9C9-E21F-4911-205799CD95C0}"/>
                </a:ext>
              </a:extLst>
            </p:cNvPr>
            <p:cNvSpPr>
              <a:spLocks/>
            </p:cNvSpPr>
            <p:nvPr/>
          </p:nvSpPr>
          <p:spPr>
            <a:xfrm rot="240616">
              <a:off x="6131244" y="631475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F4582F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A04ED2-A2E3-6D44-1A90-E948C02A6979}"/>
                </a:ext>
              </a:extLst>
            </p:cNvPr>
            <p:cNvSpPr>
              <a:spLocks/>
            </p:cNvSpPr>
            <p:nvPr/>
          </p:nvSpPr>
          <p:spPr>
            <a:xfrm rot="240616">
              <a:off x="4067685" y="4063653"/>
              <a:ext cx="3626384" cy="1218867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4000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chemeClr val="accent6">
                  <a:lumMod val="60000"/>
                  <a:lumOff val="40000"/>
                </a:schemeClr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D2C7A02-E41F-BF45-9645-4AB592562EC9}"/>
                </a:ext>
              </a:extLst>
            </p:cNvPr>
            <p:cNvSpPr>
              <a:spLocks/>
            </p:cNvSpPr>
            <p:nvPr/>
          </p:nvSpPr>
          <p:spPr>
            <a:xfrm rot="240616">
              <a:off x="4558372" y="3218491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7381CD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9E638A9-53FC-91C5-1C06-857CE11BD755}"/>
                </a:ext>
              </a:extLst>
            </p:cNvPr>
            <p:cNvSpPr>
              <a:spLocks/>
            </p:cNvSpPr>
            <p:nvPr/>
          </p:nvSpPr>
          <p:spPr>
            <a:xfrm rot="240616">
              <a:off x="5075191" y="2374352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92D050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80128C2-C574-1E4B-C851-36DD983F467F}"/>
                </a:ext>
              </a:extLst>
            </p:cNvPr>
            <p:cNvSpPr>
              <a:spLocks/>
            </p:cNvSpPr>
            <p:nvPr/>
          </p:nvSpPr>
          <p:spPr>
            <a:xfrm rot="240616">
              <a:off x="5607398" y="1502913"/>
              <a:ext cx="3603566" cy="1134059"/>
            </a:xfrm>
            <a:prstGeom prst="rect">
              <a:avLst/>
            </a:prstGeom>
            <a:gradFill flip="none" rotWithShape="1">
              <a:gsLst>
                <a:gs pos="35000">
                  <a:schemeClr val="bg1">
                    <a:lumMod val="95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57150" cap="sq" cmpd="dbl">
              <a:gradFill flip="none" rotWithShape="1">
                <a:gsLst>
                  <a:gs pos="0">
                    <a:schemeClr val="accent3">
                      <a:lumMod val="67000"/>
                    </a:schemeClr>
                  </a:gs>
                  <a:gs pos="48000">
                    <a:schemeClr val="accent3">
                      <a:lumMod val="97000"/>
                      <a:lumOff val="3000"/>
                    </a:schemeClr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miter lim="800000"/>
            </a:ln>
            <a:effectLst>
              <a:outerShdw blurRad="658642" dist="78945" sx="106780" sy="106780" algn="l" rotWithShape="0">
                <a:schemeClr val="bg1">
                  <a:lumMod val="75000"/>
                  <a:alpha val="74000"/>
                </a:schemeClr>
              </a:outerShdw>
            </a:effectLst>
            <a:scene3d>
              <a:camera prst="perspectiveRelaxed" fov="0">
                <a:rot lat="17595885" lon="3606833" rev="18022688"/>
              </a:camera>
              <a:lightRig rig="glow" dir="t">
                <a:rot lat="0" lon="0" rev="10200000"/>
              </a:lightRig>
            </a:scene3d>
            <a:sp3d z="6350" extrusionH="635000" contourW="38100" prstMaterial="powder">
              <a:bevelT w="63500" h="44450" prst="convex"/>
              <a:bevelB w="88900" h="12700" prst="cross"/>
              <a:extrusionClr>
                <a:srgbClr val="DA8600"/>
              </a:extrusionClr>
              <a:contourClr>
                <a:schemeClr val="bg2">
                  <a:lumMod val="90000"/>
                </a:schemeClr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rmAutofit/>
              <a:flatTx/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Up Arrow 71">
              <a:extLst>
                <a:ext uri="{FF2B5EF4-FFF2-40B4-BE49-F238E27FC236}">
                  <a16:creationId xmlns:a16="http://schemas.microsoft.com/office/drawing/2014/main" id="{8C0A2097-572B-9750-CF19-6B7AF91A7284}"/>
                </a:ext>
              </a:extLst>
            </p:cNvPr>
            <p:cNvSpPr/>
            <p:nvPr/>
          </p:nvSpPr>
          <p:spPr>
            <a:xfrm>
              <a:off x="9532488" y="2388439"/>
              <a:ext cx="582528" cy="3422214"/>
            </a:xfrm>
            <a:prstGeom prst="upArrow">
              <a:avLst>
                <a:gd name="adj1" fmla="val 33030"/>
                <a:gd name="adj2" fmla="val 95818"/>
              </a:avLst>
            </a:prstGeom>
            <a:gradFill flip="none" rotWithShape="1">
              <a:gsLst>
                <a:gs pos="70000">
                  <a:schemeClr val="accent2">
                    <a:alpha val="33508"/>
                    <a:lumMod val="30000"/>
                    <a:lumOff val="70000"/>
                  </a:schemeClr>
                </a:gs>
                <a:gs pos="17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31750" cap="rnd" cmpd="dbl">
              <a:solidFill>
                <a:schemeClr val="tx1">
                  <a:lumMod val="65000"/>
                  <a:lumOff val="35000"/>
                  <a:alpha val="39450"/>
                </a:schemeClr>
              </a:solidFill>
              <a:round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748400"/>
                        <a:gd name="csY0" fmla="*/ 869506 h 4201435"/>
                        <a:gd name="csX1" fmla="*/ 179616 w 748400"/>
                        <a:gd name="csY1" fmla="*/ 452143 h 4201435"/>
                        <a:gd name="csX2" fmla="*/ 374200 w 748400"/>
                        <a:gd name="csY2" fmla="*/ 0 h 4201435"/>
                        <a:gd name="csX3" fmla="*/ 557558 w 748400"/>
                        <a:gd name="csY3" fmla="*/ 426058 h 4201435"/>
                        <a:gd name="csX4" fmla="*/ 748400 w 748400"/>
                        <a:gd name="csY4" fmla="*/ 869506 h 4201435"/>
                        <a:gd name="csX5" fmla="*/ 510499 w 748400"/>
                        <a:gd name="csY5" fmla="*/ 869506 h 4201435"/>
                        <a:gd name="csX6" fmla="*/ 510499 w 748400"/>
                        <a:gd name="csY6" fmla="*/ 1435934 h 4201435"/>
                        <a:gd name="csX7" fmla="*/ 510499 w 748400"/>
                        <a:gd name="csY7" fmla="*/ 2135639 h 4201435"/>
                        <a:gd name="csX8" fmla="*/ 510499 w 748400"/>
                        <a:gd name="csY8" fmla="*/ 2702067 h 4201435"/>
                        <a:gd name="csX9" fmla="*/ 510499 w 748400"/>
                        <a:gd name="csY9" fmla="*/ 3335133 h 4201435"/>
                        <a:gd name="csX10" fmla="*/ 510499 w 748400"/>
                        <a:gd name="csY10" fmla="*/ 4201435 h 4201435"/>
                        <a:gd name="csX11" fmla="*/ 237901 w 748400"/>
                        <a:gd name="csY11" fmla="*/ 4201435 h 4201435"/>
                        <a:gd name="csX12" fmla="*/ 237901 w 748400"/>
                        <a:gd name="csY12" fmla="*/ 3601688 h 4201435"/>
                        <a:gd name="csX13" fmla="*/ 237901 w 748400"/>
                        <a:gd name="csY13" fmla="*/ 2868663 h 4201435"/>
                        <a:gd name="csX14" fmla="*/ 237901 w 748400"/>
                        <a:gd name="csY14" fmla="*/ 2235597 h 4201435"/>
                        <a:gd name="csX15" fmla="*/ 237901 w 748400"/>
                        <a:gd name="csY15" fmla="*/ 1502573 h 4201435"/>
                        <a:gd name="csX16" fmla="*/ 237901 w 748400"/>
                        <a:gd name="csY16" fmla="*/ 869506 h 4201435"/>
                        <a:gd name="csX17" fmla="*/ 0 w 748400"/>
                        <a:gd name="csY17" fmla="*/ 869506 h 420143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</a:cxnLst>
                      <a:rect l="l" t="t" r="r" b="b"/>
                      <a:pathLst>
                        <a:path w="748400" h="4201435" fill="none" extrusionOk="0">
                          <a:moveTo>
                            <a:pt x="0" y="869506"/>
                          </a:moveTo>
                          <a:cubicBezTo>
                            <a:pt x="79815" y="738278"/>
                            <a:pt x="110095" y="635366"/>
                            <a:pt x="179616" y="452143"/>
                          </a:cubicBezTo>
                          <a:cubicBezTo>
                            <a:pt x="249137" y="268920"/>
                            <a:pt x="311095" y="102758"/>
                            <a:pt x="374200" y="0"/>
                          </a:cubicBezTo>
                          <a:cubicBezTo>
                            <a:pt x="412850" y="131584"/>
                            <a:pt x="498768" y="312054"/>
                            <a:pt x="557558" y="426058"/>
                          </a:cubicBezTo>
                          <a:cubicBezTo>
                            <a:pt x="616348" y="540062"/>
                            <a:pt x="688264" y="695063"/>
                            <a:pt x="748400" y="869506"/>
                          </a:cubicBezTo>
                          <a:cubicBezTo>
                            <a:pt x="652401" y="874159"/>
                            <a:pt x="605696" y="879390"/>
                            <a:pt x="510499" y="869506"/>
                          </a:cubicBezTo>
                          <a:cubicBezTo>
                            <a:pt x="524233" y="988510"/>
                            <a:pt x="529995" y="1195259"/>
                            <a:pt x="510499" y="1435934"/>
                          </a:cubicBezTo>
                          <a:cubicBezTo>
                            <a:pt x="491003" y="1676609"/>
                            <a:pt x="529211" y="1981881"/>
                            <a:pt x="510499" y="2135639"/>
                          </a:cubicBezTo>
                          <a:cubicBezTo>
                            <a:pt x="491787" y="2289398"/>
                            <a:pt x="493110" y="2538705"/>
                            <a:pt x="510499" y="2702067"/>
                          </a:cubicBezTo>
                          <a:cubicBezTo>
                            <a:pt x="527888" y="2865429"/>
                            <a:pt x="487835" y="3202557"/>
                            <a:pt x="510499" y="3335133"/>
                          </a:cubicBezTo>
                          <a:cubicBezTo>
                            <a:pt x="533163" y="3467709"/>
                            <a:pt x="519488" y="3853352"/>
                            <a:pt x="510499" y="4201435"/>
                          </a:cubicBezTo>
                          <a:cubicBezTo>
                            <a:pt x="426662" y="4209126"/>
                            <a:pt x="366294" y="4195905"/>
                            <a:pt x="237901" y="4201435"/>
                          </a:cubicBezTo>
                          <a:cubicBezTo>
                            <a:pt x="254340" y="3910683"/>
                            <a:pt x="257098" y="3847675"/>
                            <a:pt x="237901" y="3601688"/>
                          </a:cubicBezTo>
                          <a:cubicBezTo>
                            <a:pt x="218704" y="3355701"/>
                            <a:pt x="214314" y="3181378"/>
                            <a:pt x="237901" y="2868663"/>
                          </a:cubicBezTo>
                          <a:cubicBezTo>
                            <a:pt x="261488" y="2555948"/>
                            <a:pt x="243582" y="2499492"/>
                            <a:pt x="237901" y="2235597"/>
                          </a:cubicBezTo>
                          <a:cubicBezTo>
                            <a:pt x="232220" y="1971702"/>
                            <a:pt x="220927" y="1708693"/>
                            <a:pt x="237901" y="1502573"/>
                          </a:cubicBezTo>
                          <a:cubicBezTo>
                            <a:pt x="254875" y="1296453"/>
                            <a:pt x="249305" y="1127032"/>
                            <a:pt x="237901" y="869506"/>
                          </a:cubicBezTo>
                          <a:cubicBezTo>
                            <a:pt x="184009" y="859055"/>
                            <a:pt x="50115" y="869618"/>
                            <a:pt x="0" y="869506"/>
                          </a:cubicBezTo>
                          <a:close/>
                        </a:path>
                        <a:path w="748400" h="4201435" stroke="0" extrusionOk="0">
                          <a:moveTo>
                            <a:pt x="0" y="869506"/>
                          </a:moveTo>
                          <a:cubicBezTo>
                            <a:pt x="71956" y="681294"/>
                            <a:pt x="106541" y="658484"/>
                            <a:pt x="183358" y="443448"/>
                          </a:cubicBezTo>
                          <a:cubicBezTo>
                            <a:pt x="260175" y="228412"/>
                            <a:pt x="315927" y="154036"/>
                            <a:pt x="374200" y="0"/>
                          </a:cubicBezTo>
                          <a:cubicBezTo>
                            <a:pt x="465846" y="173734"/>
                            <a:pt x="493159" y="284089"/>
                            <a:pt x="568784" y="452143"/>
                          </a:cubicBezTo>
                          <a:cubicBezTo>
                            <a:pt x="644409" y="620197"/>
                            <a:pt x="668654" y="729105"/>
                            <a:pt x="748400" y="869506"/>
                          </a:cubicBezTo>
                          <a:cubicBezTo>
                            <a:pt x="700377" y="861950"/>
                            <a:pt x="582242" y="867572"/>
                            <a:pt x="510499" y="869506"/>
                          </a:cubicBezTo>
                          <a:cubicBezTo>
                            <a:pt x="517982" y="1055484"/>
                            <a:pt x="506538" y="1434705"/>
                            <a:pt x="510499" y="1602530"/>
                          </a:cubicBezTo>
                          <a:cubicBezTo>
                            <a:pt x="514460" y="1770355"/>
                            <a:pt x="489315" y="2021941"/>
                            <a:pt x="510499" y="2335555"/>
                          </a:cubicBezTo>
                          <a:cubicBezTo>
                            <a:pt x="531683" y="2649170"/>
                            <a:pt x="500256" y="2780210"/>
                            <a:pt x="510499" y="3001941"/>
                          </a:cubicBezTo>
                          <a:cubicBezTo>
                            <a:pt x="520742" y="3223672"/>
                            <a:pt x="460439" y="3725751"/>
                            <a:pt x="510499" y="4201435"/>
                          </a:cubicBezTo>
                          <a:cubicBezTo>
                            <a:pt x="407514" y="4212255"/>
                            <a:pt x="327317" y="4198886"/>
                            <a:pt x="237901" y="4201435"/>
                          </a:cubicBezTo>
                          <a:cubicBezTo>
                            <a:pt x="222136" y="4056072"/>
                            <a:pt x="214073" y="3845167"/>
                            <a:pt x="237901" y="3635007"/>
                          </a:cubicBezTo>
                          <a:cubicBezTo>
                            <a:pt x="261729" y="3424847"/>
                            <a:pt x="236689" y="3231050"/>
                            <a:pt x="237901" y="2901983"/>
                          </a:cubicBezTo>
                          <a:cubicBezTo>
                            <a:pt x="239113" y="2572916"/>
                            <a:pt x="239468" y="2515634"/>
                            <a:pt x="237901" y="2302235"/>
                          </a:cubicBezTo>
                          <a:cubicBezTo>
                            <a:pt x="236334" y="2088836"/>
                            <a:pt x="239060" y="1821461"/>
                            <a:pt x="237901" y="1635850"/>
                          </a:cubicBezTo>
                          <a:cubicBezTo>
                            <a:pt x="236742" y="1450240"/>
                            <a:pt x="225087" y="1055010"/>
                            <a:pt x="237901" y="869506"/>
                          </a:cubicBezTo>
                          <a:cubicBezTo>
                            <a:pt x="142489" y="869730"/>
                            <a:pt x="49694" y="878309"/>
                            <a:pt x="0" y="869506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scene3d>
              <a:camera prst="perspectiveRight">
                <a:rot lat="0" lon="19799998" rev="0"/>
              </a:camera>
              <a:lightRig rig="glow" dir="t"/>
            </a:scene3d>
            <a:sp3d extrusionH="12700" contourW="6350" prstMaterial="flat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0B1E9A0-B395-D2A6-9B7A-CD51A071F4B6}"/>
                </a:ext>
              </a:extLst>
            </p:cNvPr>
            <p:cNvSpPr txBox="1"/>
            <p:nvPr/>
          </p:nvSpPr>
          <p:spPr>
            <a:xfrm>
              <a:off x="9980620" y="3292008"/>
              <a:ext cx="23006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a:rPr>
                <a:t>More capability</a:t>
              </a:r>
            </a:p>
            <a:p>
              <a:r>
                <a:rPr lang="en-US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a:rPr>
                <a:t>More engineering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22FAEDF-839A-FEF0-5F15-3534C29410D5}"/>
                </a:ext>
              </a:extLst>
            </p:cNvPr>
            <p:cNvSpPr txBox="1"/>
            <p:nvPr/>
          </p:nvSpPr>
          <p:spPr>
            <a:xfrm>
              <a:off x="-163666" y="430187"/>
              <a:ext cx="576696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</a:rPr>
                <a:t>Train Your Dragon: </a:t>
              </a:r>
            </a:p>
            <a:p>
              <a:pPr algn="ctr"/>
              <a:r>
                <a:rPr lang="en-US" sz="28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+mj-lt"/>
                </a:rPr>
                <a:t>Ways to Make it Work for You</a:t>
              </a:r>
              <a:endPara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2DCE8E-1B09-461D-77EB-FCB811059D0A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3150660" y="5784887"/>
              <a:ext cx="3381828" cy="572567"/>
            </a:xfrm>
            <a:prstGeom prst="rect">
              <a:avLst/>
            </a:prstGeom>
            <a:noFill/>
            <a:scene3d>
              <a:camera prst="perspectiveAbove" fov="7200000">
                <a:rot lat="599836" lon="16149" rev="50622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System Prompt (Modelfile)</a:t>
              </a:r>
            </a:p>
            <a:p>
              <a:pPr algn="ctr"/>
              <a:r>
                <a:rPr lang="en-US" sz="1400" i="1" dirty="0"/>
                <a:t>Role, tone, rules,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5B8E7A8-C984-3B49-D5E6-A7A7EE463A87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3904189" y="4853256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4000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Task Prompt / Output Contract</a:t>
              </a:r>
            </a:p>
            <a:p>
              <a:pPr algn="ctr"/>
              <a:r>
                <a:rPr lang="en-US" sz="1400" i="1" dirty="0"/>
                <a:t>Summary , Findings, Actions, Verify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6ACA00E-1934-C5B5-8E43-86DC1C9FC163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4231705" y="3914200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Few- Shot Examples</a:t>
              </a:r>
            </a:p>
            <a:p>
              <a:pPr algn="ctr"/>
              <a:r>
                <a:rPr lang="en-US" sz="1400" i="1" dirty="0"/>
                <a:t>1-3 examples: input -&gt; ideal output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8D894C6-D776-289A-D816-DE2BF5E1BB0A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4862290" y="3065565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RAG (Retrieve + Augment)</a:t>
              </a:r>
            </a:p>
            <a:p>
              <a:pPr algn="ctr"/>
              <a:r>
                <a:rPr lang="en-US" sz="1400" i="1" dirty="0"/>
                <a:t>Top-K chunks + citations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8FB2C17-647D-0FD2-7D85-D4C9E1852276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5279718" y="2145897"/>
              <a:ext cx="3381828" cy="886723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Tool / Internal APIs</a:t>
              </a:r>
            </a:p>
            <a:p>
              <a:pPr algn="ctr"/>
              <a:r>
                <a:rPr lang="en-US" sz="1400" i="1" dirty="0"/>
                <a:t>Allowed list lookups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8B61DD-70BC-BE64-EF16-5A41B93AE41E}"/>
                </a:ext>
              </a:extLst>
            </p:cNvPr>
            <p:cNvSpPr txBox="1">
              <a:spLocks/>
            </p:cNvSpPr>
            <p:nvPr/>
          </p:nvSpPr>
          <p:spPr>
            <a:xfrm rot="361708">
              <a:off x="5961708" y="1290936"/>
              <a:ext cx="3381828" cy="922469"/>
            </a:xfrm>
            <a:prstGeom prst="rect">
              <a:avLst/>
            </a:prstGeom>
            <a:noFill/>
            <a:scene3d>
              <a:camera prst="perspectiveAbove" fov="5100000">
                <a:rot lat="20702286" lon="21595298" rev="53230"/>
              </a:camera>
              <a:lightRig rig="threePt" dir="t"/>
            </a:scene3d>
          </p:spPr>
          <p:txBody>
            <a:bodyPr wrap="square" rtlCol="0">
              <a:normAutofit/>
            </a:bodyPr>
            <a:lstStyle/>
            <a:p>
              <a:pPr algn="ctr"/>
              <a:r>
                <a:rPr lang="en-US" sz="1600" b="1" dirty="0"/>
                <a:t>Lora Adapters</a:t>
              </a:r>
            </a:p>
            <a:p>
              <a:pPr algn="ctr"/>
              <a:r>
                <a:rPr lang="en-US" sz="1400" i="1" dirty="0"/>
                <a:t>Lightweight fine-tuning adapter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93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4F21-DF5A-8293-5DAE-7C7CD6776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ABD140AA-4996-EB3B-7729-AE5AB35A1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356142"/>
              </p:ext>
            </p:extLst>
          </p:nvPr>
        </p:nvGraphicFramePr>
        <p:xfrm>
          <a:off x="474718" y="381000"/>
          <a:ext cx="11242565" cy="5852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48513">
                  <a:extLst>
                    <a:ext uri="{9D8B030D-6E8A-4147-A177-3AD203B41FA5}">
                      <a16:colId xmlns:a16="http://schemas.microsoft.com/office/drawing/2014/main" val="2189174563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67284015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985092549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429439576"/>
                    </a:ext>
                  </a:extLst>
                </a:gridCol>
                <a:gridCol w="2248513">
                  <a:extLst>
                    <a:ext uri="{9D8B030D-6E8A-4147-A177-3AD203B41FA5}">
                      <a16:colId xmlns:a16="http://schemas.microsoft.com/office/drawing/2014/main" val="3122025988"/>
                    </a:ext>
                  </a:extLst>
                </a:gridCol>
              </a:tblGrid>
              <a:tr h="510044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How is it Tuned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What Changes / What Doesn’t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Pros / 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010379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Instructions &amp; examples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No learning, memory, or persistence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Tone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Output format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Role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Reasoning style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Model knowledge &amp; instincts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Long-term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No infrastructure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Fast iteration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Safe &amp; reversible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Brittle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Can require verbose prompts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Can be inconsistent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Prototyping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Demos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One-off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168648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RAG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/>
                        <a:t>Retrieval–Augmented Generation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Inject external data at runtime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Docs, API response, DB queries etc.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Model reasons over supplied data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Available knowledge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Model behavior, reasoning, instincts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No ‘training’ required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 stays external to the model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Good for internal systems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Auditable &amp; Controllable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Context window limits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Latency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Still needs good prompting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Internal APIs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Knowledge bases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Live system interpretation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Air-gapped enterprise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32781"/>
                  </a:ext>
                </a:extLst>
              </a:tr>
              <a:tr h="835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Adapter Based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/>
                        <a:t>Lora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Small trained parameter layers added to a base model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Base model remains frozen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Permanently biases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How the model interprets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Domain instincts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Output consistency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Generalization within domain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Base model weights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Core language 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Persistent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Short prompts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Consistent outputs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Cheaper than full training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------------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Requires training pipeline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Harder to iterate than prompts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Needs curated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Stable domain logic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Structured outputs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Compliance workflows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Repeatable 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69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722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74D0-C86E-2266-F209-AEEB13BB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yellow triangle sign with a black silhouette of a person with lightning bolt&#10;&#10;AI-generated content may be incorrect.">
            <a:extLst>
              <a:ext uri="{FF2B5EF4-FFF2-40B4-BE49-F238E27FC236}">
                <a16:creationId xmlns:a16="http://schemas.microsoft.com/office/drawing/2014/main" id="{33C7C94A-5680-CDCB-00EC-8E81FF543DB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3610" r="23610"/>
          <a:stretch>
            <a:fillRect/>
          </a:stretch>
        </p:blipFill>
        <p:spPr>
          <a:effectLst>
            <a:glow rad="551065">
              <a:srgbClr val="FF0000">
                <a:alpha val="81646"/>
              </a:srgbClr>
            </a:glow>
          </a:effec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496E2-8476-C9EA-068B-B9EFFB260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Before you download a model, be sure to check the company’s </a:t>
            </a:r>
            <a:r>
              <a:rPr lang="en-US" dirty="0">
                <a:hlinkClick r:id="rId5"/>
              </a:rPr>
              <a:t>AI Governance Page </a:t>
            </a:r>
            <a:endParaRPr lang="en-US" dirty="0"/>
          </a:p>
          <a:p>
            <a:r>
              <a:rPr lang="en-US" dirty="0"/>
              <a:t>Only use </a:t>
            </a:r>
            <a:r>
              <a:rPr lang="en-US" dirty="0">
                <a:hlinkClick r:id="rId6"/>
              </a:rPr>
              <a:t>approved models </a:t>
            </a:r>
            <a:endParaRPr lang="en-US" dirty="0"/>
          </a:p>
          <a:p>
            <a:r>
              <a:rPr lang="en-US" dirty="0"/>
              <a:t>Ensure the model and your application isn’t performing any prohibited actions, like sending Lumen data outside our network. </a:t>
            </a:r>
          </a:p>
          <a:p>
            <a:r>
              <a:rPr lang="en-US" dirty="0"/>
              <a:t>If you are unsure, </a:t>
            </a:r>
            <a:r>
              <a:rPr lang="en-US" sz="2400" b="1" dirty="0">
                <a:solidFill>
                  <a:srgbClr val="FF0000"/>
                </a:solidFill>
              </a:rPr>
              <a:t>stop</a:t>
            </a:r>
            <a:r>
              <a:rPr lang="en-US" dirty="0"/>
              <a:t> and ask your friendly AI Ambassador or contact the Ambassador  team at the email below.</a:t>
            </a:r>
          </a:p>
          <a:p>
            <a:pPr marL="0" indent="0">
              <a:buNone/>
            </a:pPr>
            <a:r>
              <a:rPr lang="en-US" dirty="0"/>
              <a:t>  </a:t>
            </a:r>
            <a:r>
              <a:rPr lang="en-US" i="1" u="sng" dirty="0">
                <a:hlinkClick r:id="rId7"/>
              </a:rPr>
              <a:t>AI-Governance@lumen.com</a:t>
            </a:r>
            <a:r>
              <a:rPr lang="en-US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6DF89F-6A65-B8DA-8731-2C31BFCB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9685"/>
            <a:ext cx="6262396" cy="67704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ADLaM Display" panose="020F0502020204030204" pitchFamily="34" charset="0"/>
                <a:cs typeface="ADLaM Display" panose="020F0502020204030204" pitchFamily="34" charset="0"/>
              </a:rPr>
              <a:t>CHECK HERE FIRST!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CEFFF6-07DC-741A-DC26-11DC47906818}"/>
              </a:ext>
            </a:extLst>
          </p:cNvPr>
          <p:cNvSpPr txBox="1"/>
          <p:nvPr/>
        </p:nvSpPr>
        <p:spPr>
          <a:xfrm>
            <a:off x="7611036" y="5822950"/>
            <a:ext cx="3476065" cy="230832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flickr.com/photos/zigazou76/3702501888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8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5758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2000" accel="50000" autoRev="1" fill="remove" nodeType="after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50000">
                                          <p:cBhvr>
                                            <p:cTn id="6" dur="2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2000" accel="50000" autoRev="1" fill="remove" nodeType="after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2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25000" y="12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1F91A-E0A4-715C-ECFF-C006558D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4D92E-A280-D35E-6569-4C78FAF20B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A036-B513-5419-0419-7FAA743500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597" y="1090447"/>
            <a:ext cx="5920473" cy="500555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Notebook_prompting:</a:t>
            </a:r>
          </a:p>
          <a:p>
            <a:pPr lvl="1"/>
            <a:r>
              <a:rPr lang="en-US" i="1" dirty="0"/>
              <a:t>promptEngineering_example.ipynb:</a:t>
            </a:r>
          </a:p>
          <a:p>
            <a:pPr lvl="2"/>
            <a:r>
              <a:rPr lang="en-US" dirty="0"/>
              <a:t>Modelfile Manipulation</a:t>
            </a:r>
          </a:p>
          <a:p>
            <a:pPr lvl="2"/>
            <a:r>
              <a:rPr lang="en-US" dirty="0"/>
              <a:t>Environment setup/verification</a:t>
            </a:r>
          </a:p>
          <a:p>
            <a:pPr lvl="2"/>
            <a:r>
              <a:rPr lang="en-US" dirty="0"/>
              <a:t>Chat interaction using sample data</a:t>
            </a:r>
          </a:p>
          <a:p>
            <a:pPr lvl="2"/>
            <a:r>
              <a:rPr lang="en-US" dirty="0"/>
              <a:t>Adding interpretation instructions and using files</a:t>
            </a:r>
          </a:p>
          <a:p>
            <a:pPr lvl="2"/>
            <a:r>
              <a:rPr lang="en-US" dirty="0"/>
              <a:t>Image analysis (vision)</a:t>
            </a:r>
          </a:p>
          <a:p>
            <a:pPr marL="512064" lvl="2" indent="0">
              <a:buNone/>
            </a:pPr>
            <a:endParaRPr lang="en-US" dirty="0"/>
          </a:p>
          <a:p>
            <a:r>
              <a:rPr lang="en-US" b="1" dirty="0"/>
              <a:t>Notebook_rag:</a:t>
            </a:r>
          </a:p>
          <a:p>
            <a:pPr lvl="1"/>
            <a:r>
              <a:rPr lang="en-US" i="1" dirty="0"/>
              <a:t>rag_example.ipynb:</a:t>
            </a:r>
          </a:p>
          <a:p>
            <a:pPr lvl="2"/>
            <a:r>
              <a:rPr lang="en-US" dirty="0"/>
              <a:t>Introducing an embedding model</a:t>
            </a:r>
          </a:p>
          <a:p>
            <a:pPr lvl="2"/>
            <a:r>
              <a:rPr lang="en-US" dirty="0"/>
              <a:t>Add vectors via chunking</a:t>
            </a:r>
          </a:p>
          <a:p>
            <a:pPr lvl="2"/>
            <a:r>
              <a:rPr lang="en-US" dirty="0"/>
              <a:t>Build vector index</a:t>
            </a:r>
          </a:p>
          <a:p>
            <a:pPr lvl="2"/>
            <a:r>
              <a:rPr lang="en-US" dirty="0"/>
              <a:t>Retrieval of relevant chunks</a:t>
            </a:r>
          </a:p>
          <a:p>
            <a:pPr lvl="2"/>
            <a:r>
              <a:rPr lang="en-US" dirty="0"/>
              <a:t>Generating a response</a:t>
            </a:r>
          </a:p>
          <a:p>
            <a:pPr lvl="1"/>
            <a:r>
              <a:rPr lang="en-US" i="1" dirty="0"/>
              <a:t>rag_w_redaction_ex.ipynb:</a:t>
            </a:r>
          </a:p>
          <a:p>
            <a:pPr lvl="2"/>
            <a:r>
              <a:rPr lang="en-US" dirty="0"/>
              <a:t>Add redaction to output and input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82E51A-4BF7-932B-564B-724768D1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98" y="228600"/>
            <a:ext cx="5909398" cy="691414"/>
          </a:xfrm>
        </p:spPr>
        <p:txBody>
          <a:bodyPr/>
          <a:lstStyle/>
          <a:p>
            <a:r>
              <a:rPr lang="en-US" dirty="0"/>
              <a:t>Jupyter Notebooks</a:t>
            </a:r>
          </a:p>
        </p:txBody>
      </p:sp>
      <p:pic>
        <p:nvPicPr>
          <p:cNvPr id="6" name="Picture 5" descr="A generated image of a person sitting at a table with a computer with cat and a llama. There is a dragon sticker on the computer lid. They are excited to begin training.">
            <a:extLst>
              <a:ext uri="{FF2B5EF4-FFF2-40B4-BE49-F238E27FC236}">
                <a16:creationId xmlns:a16="http://schemas.microsoft.com/office/drawing/2014/main" id="{D21453CB-A7EE-577E-2427-FA9D7D92B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7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56400" y="1524000"/>
            <a:ext cx="53721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DCE2C0-5DBA-A321-5F2F-F05A5E81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47" y="365125"/>
            <a:ext cx="11669856" cy="1325563"/>
          </a:xfrm>
        </p:spPr>
        <p:txBody>
          <a:bodyPr anchor="ctr">
            <a:normAutofit/>
          </a:bodyPr>
          <a:lstStyle/>
          <a:p>
            <a:r>
              <a:rPr lang="en-US"/>
              <a:t>What variables make a model yours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829EA4-2DCD-B442-90F0-4D43F14C6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38" r="1" b="12993"/>
          <a:stretch>
            <a:fillRect/>
          </a:stretch>
        </p:blipFill>
        <p:spPr>
          <a:xfrm>
            <a:off x="278647" y="1690688"/>
            <a:ext cx="11669856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408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Item 6">
            <a:extLst>
              <a:ext uri="{FF2B5EF4-FFF2-40B4-BE49-F238E27FC236}">
                <a16:creationId xmlns:a16="http://schemas.microsoft.com/office/drawing/2014/main" id="{3B8503E6-DB7E-2D0A-AA15-A8455E5D67F0}"/>
              </a:ext>
            </a:extLst>
          </p:cNvPr>
          <p:cNvGrpSpPr/>
          <p:nvPr/>
        </p:nvGrpSpPr>
        <p:grpSpPr>
          <a:xfrm>
            <a:off x="6387278" y="4466390"/>
            <a:ext cx="5062663" cy="1251074"/>
            <a:chOff x="616464" y="4466390"/>
            <a:chExt cx="5062663" cy="1251074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F546EEE5-7827-D4DB-44B0-AFBC7BD20988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51074"/>
              <a:chOff x="1114543" y="1593985"/>
              <a:chExt cx="4572000" cy="1251074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14F2B09-DA48-FE45-C4F1-C52A1017E311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3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1A49AD96-FDCD-384F-1667-5ECF231F034C}"/>
                  </a:ext>
                </a:extLst>
              </p:cNvPr>
              <p:cNvSpPr txBox="1"/>
              <p:nvPr/>
            </p:nvSpPr>
            <p:spPr>
              <a:xfrm flipH="1">
                <a:off x="1891338" y="2170160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model metadata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To see detailed parameters</a:t>
                </a:r>
              </a:p>
            </p:txBody>
          </p:sp>
          <p:sp>
            <p:nvSpPr>
              <p:cNvPr id="133" name=".01">
                <a:extLst>
                  <a:ext uri="{FF2B5EF4-FFF2-40B4-BE49-F238E27FC236}">
                    <a16:creationId xmlns:a16="http://schemas.microsoft.com/office/drawing/2014/main" id="{B5608512-ECA5-572F-A2A2-BC1C7D301686}"/>
                  </a:ext>
                </a:extLst>
              </p:cNvPr>
              <p:cNvSpPr txBox="1"/>
              <p:nvPr/>
            </p:nvSpPr>
            <p:spPr>
              <a:xfrm flipH="1">
                <a:off x="1891339" y="1755215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/show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43E65638-4648-6028-3BB9-83B9D65D8C4E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B425FB58-49E2-1629-3888-3A69D941E528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7F43D804-AC49-BF6C-A85C-71AB151A69B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50A461E2-6F17-6258-9B29-C7D093E669C0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0DB359E-AD71-78F4-290A-74A2D9E88A35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6</a:t>
                </a:r>
              </a:p>
            </p:txBody>
          </p:sp>
        </p:grpSp>
      </p:grpSp>
      <p:grpSp>
        <p:nvGrpSpPr>
          <p:cNvPr id="114" name="Item 5">
            <a:extLst>
              <a:ext uri="{FF2B5EF4-FFF2-40B4-BE49-F238E27FC236}">
                <a16:creationId xmlns:a16="http://schemas.microsoft.com/office/drawing/2014/main" id="{E6334101-0024-F244-44AD-6D47FC2666FE}"/>
              </a:ext>
            </a:extLst>
          </p:cNvPr>
          <p:cNvGrpSpPr/>
          <p:nvPr/>
        </p:nvGrpSpPr>
        <p:grpSpPr>
          <a:xfrm>
            <a:off x="6387278" y="2996960"/>
            <a:ext cx="5062663" cy="1286428"/>
            <a:chOff x="616464" y="2996960"/>
            <a:chExt cx="5062663" cy="1286428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041382C3-C4BB-3611-103A-35E262108C91}"/>
                </a:ext>
              </a:extLst>
            </p:cNvPr>
            <p:cNvGrpSpPr/>
            <p:nvPr/>
          </p:nvGrpSpPr>
          <p:grpSpPr>
            <a:xfrm>
              <a:off x="1107127" y="2996960"/>
              <a:ext cx="4572000" cy="1286428"/>
              <a:chOff x="1114543" y="1563577"/>
              <a:chExt cx="4572000" cy="1286428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6FE59AF-C828-3586-B477-D81C4E03D5BD}"/>
                  </a:ext>
                </a:extLst>
              </p:cNvPr>
              <p:cNvSpPr/>
              <p:nvPr/>
            </p:nvSpPr>
            <p:spPr>
              <a:xfrm>
                <a:off x="1114543" y="1563577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2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1D28D2CA-68F0-0501-FB4D-1354E0D0BC61}"/>
                  </a:ext>
                </a:extLst>
              </p:cNvPr>
              <p:cNvSpPr txBox="1"/>
              <p:nvPr/>
            </p:nvSpPr>
            <p:spPr>
              <a:xfrm flipH="1">
                <a:off x="1891337" y="2099928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GET – list local models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want a list of models on your machine</a:t>
                </a:r>
              </a:p>
            </p:txBody>
          </p:sp>
          <p:sp>
            <p:nvSpPr>
              <p:cNvPr id="123" name=".01">
                <a:extLst>
                  <a:ext uri="{FF2B5EF4-FFF2-40B4-BE49-F238E27FC236}">
                    <a16:creationId xmlns:a16="http://schemas.microsoft.com/office/drawing/2014/main" id="{FB171D1A-E0B7-EBAA-A613-5A4FE21DB18E}"/>
                  </a:ext>
                </a:extLst>
              </p:cNvPr>
              <p:cNvSpPr txBox="1"/>
              <p:nvPr/>
            </p:nvSpPr>
            <p:spPr>
              <a:xfrm flipH="1">
                <a:off x="1891337" y="1667939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/tags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7DFCD84-571B-D68D-2054-9191B52FDF6B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C3082E7A-D59C-6BF0-F8E5-9D58953D260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279D08EC-A2FB-4976-0E7F-A8A87DE184C4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44054C8-1CA8-355C-123E-17AFEAA4B98F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5EF88E0-9A4B-8DD0-C1D0-229405742631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5</a:t>
                </a:r>
              </a:p>
            </p:txBody>
          </p:sp>
        </p:grpSp>
      </p:grpSp>
      <p:grpSp>
        <p:nvGrpSpPr>
          <p:cNvPr id="104" name="Item 4">
            <a:extLst>
              <a:ext uri="{FF2B5EF4-FFF2-40B4-BE49-F238E27FC236}">
                <a16:creationId xmlns:a16="http://schemas.microsoft.com/office/drawing/2014/main" id="{FBF7DFDA-3F6C-14E2-FA5D-8EDE0EE0444E}"/>
              </a:ext>
            </a:extLst>
          </p:cNvPr>
          <p:cNvGrpSpPr/>
          <p:nvPr/>
        </p:nvGrpSpPr>
        <p:grpSpPr>
          <a:xfrm>
            <a:off x="6387278" y="1555262"/>
            <a:ext cx="5062663" cy="1270278"/>
            <a:chOff x="616464" y="1555262"/>
            <a:chExt cx="5062663" cy="1270278"/>
          </a:xfrm>
          <a:effectLst/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F69E0D7-BD5F-81F5-2C7B-89D69DF94411}"/>
                </a:ext>
              </a:extLst>
            </p:cNvPr>
            <p:cNvGrpSpPr/>
            <p:nvPr/>
          </p:nvGrpSpPr>
          <p:grpSpPr>
            <a:xfrm>
              <a:off x="1107127" y="1555262"/>
              <a:ext cx="4572000" cy="1270278"/>
              <a:chOff x="1107127" y="1555262"/>
              <a:chExt cx="4572000" cy="1270278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AC8BBBF1-6124-3CA2-F970-8A82736807AB}"/>
                  </a:ext>
                </a:extLst>
              </p:cNvPr>
              <p:cNvSpPr/>
              <p:nvPr/>
            </p:nvSpPr>
            <p:spPr>
              <a:xfrm>
                <a:off x="1107127" y="1555262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112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C7371986-8981-F595-086C-EB26DE2E7E04}"/>
                  </a:ext>
                </a:extLst>
              </p:cNvPr>
              <p:cNvSpPr txBox="1"/>
              <p:nvPr/>
            </p:nvSpPr>
            <p:spPr>
              <a:xfrm flipH="1">
                <a:off x="1883921" y="2075463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builds from a Modelfile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want pinned params/templates.</a:t>
                </a:r>
              </a:p>
            </p:txBody>
          </p:sp>
          <p:sp>
            <p:nvSpPr>
              <p:cNvPr id="113" name=".01">
                <a:extLst>
                  <a:ext uri="{FF2B5EF4-FFF2-40B4-BE49-F238E27FC236}">
                    <a16:creationId xmlns:a16="http://schemas.microsoft.com/office/drawing/2014/main" id="{A5E23DE5-14E2-87F5-56BF-A30E3148ECEA}"/>
                  </a:ext>
                </a:extLst>
              </p:cNvPr>
              <p:cNvSpPr txBox="1"/>
              <p:nvPr/>
            </p:nvSpPr>
            <p:spPr>
              <a:xfrm flipH="1">
                <a:off x="1883921" y="1642107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/create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7F9BDEC6-B204-19A9-94A2-1EC584D40169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46AB498-FACB-F98C-C37F-4DD48D6329F4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A234BC5-61D2-8513-F0A4-5A996C7DA188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06CEB468-5E18-5381-FDC5-51A793CF2948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5CD8CE2-DBB6-11AB-55C7-4989737D8E75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4</a:t>
                </a:r>
              </a:p>
            </p:txBody>
          </p:sp>
        </p:grpSp>
      </p:grpSp>
      <p:grpSp>
        <p:nvGrpSpPr>
          <p:cNvPr id="103" name="Item 3">
            <a:extLst>
              <a:ext uri="{FF2B5EF4-FFF2-40B4-BE49-F238E27FC236}">
                <a16:creationId xmlns:a16="http://schemas.microsoft.com/office/drawing/2014/main" id="{0DEF7DDB-058A-8BD0-2588-2AD1C2677C30}"/>
              </a:ext>
            </a:extLst>
          </p:cNvPr>
          <p:cNvGrpSpPr/>
          <p:nvPr/>
        </p:nvGrpSpPr>
        <p:grpSpPr>
          <a:xfrm>
            <a:off x="616464" y="4466390"/>
            <a:ext cx="5062663" cy="1289304"/>
            <a:chOff x="616464" y="4466390"/>
            <a:chExt cx="5062663" cy="1290898"/>
          </a:xfrm>
          <a:effectLst/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9C512F6-181A-2172-ED6E-BC3A281EDFAB}"/>
                </a:ext>
              </a:extLst>
            </p:cNvPr>
            <p:cNvGrpSpPr/>
            <p:nvPr/>
          </p:nvGrpSpPr>
          <p:grpSpPr>
            <a:xfrm>
              <a:off x="1107127" y="4466390"/>
              <a:ext cx="4572000" cy="1290898"/>
              <a:chOff x="1114543" y="1593985"/>
              <a:chExt cx="4572000" cy="129089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7DDC0F2-82F1-BF92-458F-236F6B88C684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65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B5447035-89A9-B5F2-CDDB-7109E6CEA2B8}"/>
                  </a:ext>
                </a:extLst>
              </p:cNvPr>
              <p:cNvSpPr txBox="1"/>
              <p:nvPr/>
            </p:nvSpPr>
            <p:spPr>
              <a:xfrm flipH="1">
                <a:off x="1905511" y="2134806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vector embedding, chunks text into numeric vectors for search/RAG.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</a:rPr>
                  <a:t>When to use: Searching documentation</a:t>
                </a:r>
                <a:endParaRPr lang="en-US" sz="1200" dirty="0"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66" name=".01">
                <a:extLst>
                  <a:ext uri="{FF2B5EF4-FFF2-40B4-BE49-F238E27FC236}">
                    <a16:creationId xmlns:a16="http://schemas.microsoft.com/office/drawing/2014/main" id="{3C179A1E-1783-7D7F-4429-E1191B5FD5CA}"/>
                  </a:ext>
                </a:extLst>
              </p:cNvPr>
              <p:cNvSpPr txBox="1"/>
              <p:nvPr/>
            </p:nvSpPr>
            <p:spPr>
              <a:xfrm flipH="1">
                <a:off x="1891338" y="1715391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/embed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907043C-6431-D9F7-F0A6-0A6B97088CE4}"/>
                </a:ext>
              </a:extLst>
            </p:cNvPr>
            <p:cNvGrpSpPr/>
            <p:nvPr/>
          </p:nvGrpSpPr>
          <p:grpSpPr>
            <a:xfrm>
              <a:off x="616464" y="4584853"/>
              <a:ext cx="1029508" cy="1029508"/>
              <a:chOff x="616464" y="1728923"/>
              <a:chExt cx="1029508" cy="1029508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BFB802CF-FCA8-1FCF-5314-49F8B1E9C31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E6856D4A-4A03-5625-0F12-1795A2C2C440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D7797ED6-D897-3402-50B0-C905BCBAE40D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1BF39F7-3139-3FD0-0719-157B3351994A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3</a:t>
                </a:r>
              </a:p>
            </p:txBody>
          </p:sp>
        </p:grpSp>
      </p:grpSp>
      <p:grpSp>
        <p:nvGrpSpPr>
          <p:cNvPr id="102" name="Item 2">
            <a:extLst>
              <a:ext uri="{FF2B5EF4-FFF2-40B4-BE49-F238E27FC236}">
                <a16:creationId xmlns:a16="http://schemas.microsoft.com/office/drawing/2014/main" id="{1A17033F-22CE-34AC-B6CE-976DC2426EFF}"/>
              </a:ext>
            </a:extLst>
          </p:cNvPr>
          <p:cNvGrpSpPr/>
          <p:nvPr/>
        </p:nvGrpSpPr>
        <p:grpSpPr>
          <a:xfrm>
            <a:off x="616464" y="2989334"/>
            <a:ext cx="5070079" cy="1251074"/>
            <a:chOff x="616464" y="2989334"/>
            <a:chExt cx="5070079" cy="1251074"/>
          </a:xfrm>
          <a:effectLst/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E43A06F-DD27-F0FE-0FA6-F61B6B28A605}"/>
                </a:ext>
              </a:extLst>
            </p:cNvPr>
            <p:cNvGrpSpPr/>
            <p:nvPr/>
          </p:nvGrpSpPr>
          <p:grpSpPr>
            <a:xfrm>
              <a:off x="1114543" y="2989334"/>
              <a:ext cx="4572000" cy="1251074"/>
              <a:chOff x="1121959" y="1555951"/>
              <a:chExt cx="4572000" cy="125107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8A5751F-DFB0-496C-9EA8-F1DF9C75543E}"/>
                  </a:ext>
                </a:extLst>
              </p:cNvPr>
              <p:cNvSpPr/>
              <p:nvPr/>
            </p:nvSpPr>
            <p:spPr>
              <a:xfrm>
                <a:off x="1121959" y="1555951"/>
                <a:ext cx="4572000" cy="125107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60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F5F1BA9F-0CB6-DE6D-0D40-96423BC115FC}"/>
                  </a:ext>
                </a:extLst>
              </p:cNvPr>
              <p:cNvSpPr txBox="1"/>
              <p:nvPr/>
            </p:nvSpPr>
            <p:spPr>
              <a:xfrm flipH="1">
                <a:off x="1891338" y="2043654"/>
                <a:ext cx="3640881" cy="7500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role based messages 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Conversation, retrieval and reasoning, built in history</a:t>
                </a:r>
              </a:p>
            </p:txBody>
          </p:sp>
          <p:sp>
            <p:nvSpPr>
              <p:cNvPr id="61" name=".01">
                <a:extLst>
                  <a:ext uri="{FF2B5EF4-FFF2-40B4-BE49-F238E27FC236}">
                    <a16:creationId xmlns:a16="http://schemas.microsoft.com/office/drawing/2014/main" id="{6CB3C3A5-9835-582D-50BE-3B39E87DEC62}"/>
                  </a:ext>
                </a:extLst>
              </p:cNvPr>
              <p:cNvSpPr txBox="1"/>
              <p:nvPr/>
            </p:nvSpPr>
            <p:spPr>
              <a:xfrm flipH="1">
                <a:off x="1891339" y="1702727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/chat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10E0D6-1599-CFEF-0860-B04A975C33E1}"/>
                </a:ext>
              </a:extLst>
            </p:cNvPr>
            <p:cNvGrpSpPr/>
            <p:nvPr/>
          </p:nvGrpSpPr>
          <p:grpSpPr>
            <a:xfrm>
              <a:off x="616464" y="3145831"/>
              <a:ext cx="1029508" cy="1029508"/>
              <a:chOff x="616464" y="1728923"/>
              <a:chExt cx="1029508" cy="102950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A31E748-737B-87E1-6F80-D12EEC746B5C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C50CC08-9571-5E48-0BA9-03C75E9CCF7B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E3EE217-4D75-D8A8-FDA2-19034F753340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A846E01-F43A-FE9B-4D3E-F0A5D77CE6C4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2</a:t>
                </a:r>
              </a:p>
            </p:txBody>
          </p:sp>
        </p:grpSp>
      </p:grpSp>
      <p:grpSp>
        <p:nvGrpSpPr>
          <p:cNvPr id="62" name="Item 1">
            <a:extLst>
              <a:ext uri="{FF2B5EF4-FFF2-40B4-BE49-F238E27FC236}">
                <a16:creationId xmlns:a16="http://schemas.microsoft.com/office/drawing/2014/main" id="{E59641C6-7DBF-0570-4380-F81CA4E7A366}"/>
              </a:ext>
            </a:extLst>
          </p:cNvPr>
          <p:cNvGrpSpPr/>
          <p:nvPr/>
        </p:nvGrpSpPr>
        <p:grpSpPr>
          <a:xfrm>
            <a:off x="616465" y="1593985"/>
            <a:ext cx="5070078" cy="1231555"/>
            <a:chOff x="616464" y="1593985"/>
            <a:chExt cx="5207138" cy="1287896"/>
          </a:xfrm>
          <a:effectLst/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D2CEA5A-49B7-A6DA-EB77-37CF11A0FD90}"/>
                </a:ext>
              </a:extLst>
            </p:cNvPr>
            <p:cNvGrpSpPr/>
            <p:nvPr/>
          </p:nvGrpSpPr>
          <p:grpSpPr>
            <a:xfrm>
              <a:off x="1114543" y="1593985"/>
              <a:ext cx="4709059" cy="1287896"/>
              <a:chOff x="1114543" y="1593985"/>
              <a:chExt cx="4709059" cy="128789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6AD7F16-51FF-EEB1-FDAD-8D50C8315C35}"/>
                  </a:ext>
                </a:extLst>
              </p:cNvPr>
              <p:cNvSpPr/>
              <p:nvPr/>
            </p:nvSpPr>
            <p:spPr>
              <a:xfrm>
                <a:off x="1114543" y="1593985"/>
                <a:ext cx="4709059" cy="12878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j-lt"/>
                </a:endParaRPr>
              </a:p>
            </p:txBody>
          </p:sp>
          <p:sp>
            <p:nvSpPr>
              <p:cNvPr id="9" name="Lorem ipsum dolor sit amet, consectetur adipiscing elit, sed do eiusmod tempor incididunt ut labore et dolore magna reprehenderit in voluptate velit esse cillum.">
                <a:extLst>
                  <a:ext uri="{FF2B5EF4-FFF2-40B4-BE49-F238E27FC236}">
                    <a16:creationId xmlns:a16="http://schemas.microsoft.com/office/drawing/2014/main" id="{36C15B7B-2D86-EA37-8D7A-DC8AE699B7BD}"/>
                  </a:ext>
                </a:extLst>
              </p:cNvPr>
              <p:cNvSpPr txBox="1"/>
              <p:nvPr/>
            </p:nvSpPr>
            <p:spPr>
              <a:xfrm flipH="1">
                <a:off x="1898096" y="2123229"/>
                <a:ext cx="3640881" cy="5284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/>
              <a:p>
                <a:pPr eaLnBrk="1" fontAlgn="auto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dirty="0">
                    <a:latin typeface="+mj-lt"/>
                    <a:ea typeface="+mn-ea"/>
                    <a:cs typeface="+mn-cs"/>
                  </a:rPr>
                  <a:t>POST – single-turn completion (Prompt-&gt;return)</a:t>
                </a:r>
                <a:br>
                  <a:rPr lang="en-US" sz="1200" dirty="0">
                    <a:latin typeface="+mj-lt"/>
                    <a:ea typeface="+mn-ea"/>
                    <a:cs typeface="+mn-cs"/>
                  </a:rPr>
                </a:br>
                <a:r>
                  <a:rPr lang="en-US" sz="1200" dirty="0">
                    <a:latin typeface="+mj-lt"/>
                    <a:ea typeface="+mn-ea"/>
                    <a:cs typeface="+mn-cs"/>
                  </a:rPr>
                  <a:t>When to use: When you don’t need role/history</a:t>
                </a:r>
              </a:p>
            </p:txBody>
          </p:sp>
          <p:sp>
            <p:nvSpPr>
              <p:cNvPr id="10" name=".01">
                <a:extLst>
                  <a:ext uri="{FF2B5EF4-FFF2-40B4-BE49-F238E27FC236}">
                    <a16:creationId xmlns:a16="http://schemas.microsoft.com/office/drawing/2014/main" id="{869C2E9A-F64D-FF3C-4A6D-885A26A7377C}"/>
                  </a:ext>
                </a:extLst>
              </p:cNvPr>
              <p:cNvSpPr txBox="1"/>
              <p:nvPr/>
            </p:nvSpPr>
            <p:spPr>
              <a:xfrm flipH="1">
                <a:off x="1883922" y="1709954"/>
                <a:ext cx="3402268" cy="37959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>
                  <a:lnSpc>
                    <a:spcPct val="90000"/>
                  </a:lnSpc>
                  <a:defRPr sz="4000" baseline="0">
                    <a:solidFill>
                      <a:srgbClr val="2F3235"/>
                    </a:solidFill>
                    <a:latin typeface="Roboto Medium"/>
                    <a:ea typeface="Roboto Medium"/>
                    <a:cs typeface="Roboto Medium"/>
                    <a:sym typeface="Roboto Medium"/>
                  </a:defRPr>
                </a:lvl1pPr>
              </a:lstStyle>
              <a:p>
                <a:r>
                  <a:rPr lang="en-US" sz="2000" b="1" dirty="0" err="1">
                    <a:solidFill>
                      <a:schemeClr val="tx1"/>
                    </a:solidFill>
                    <a:latin typeface="+mj-lt"/>
                  </a:rPr>
                  <a:t>api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/generate</a:t>
                </a:r>
                <a:endParaRPr sz="2000" b="1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C176DB5-8083-289A-A0C8-20533A908853}"/>
                </a:ext>
              </a:extLst>
            </p:cNvPr>
            <p:cNvGrpSpPr/>
            <p:nvPr/>
          </p:nvGrpSpPr>
          <p:grpSpPr>
            <a:xfrm>
              <a:off x="616464" y="1728923"/>
              <a:ext cx="1029508" cy="1029508"/>
              <a:chOff x="616464" y="1728923"/>
              <a:chExt cx="1029508" cy="102950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C966229-0020-5E63-5FCA-2BB21A6BB54E}"/>
                  </a:ext>
                </a:extLst>
              </p:cNvPr>
              <p:cNvGrpSpPr/>
              <p:nvPr/>
            </p:nvGrpSpPr>
            <p:grpSpPr>
              <a:xfrm>
                <a:off x="616464" y="1728923"/>
                <a:ext cx="1029508" cy="1029508"/>
                <a:chOff x="701158" y="1674992"/>
                <a:chExt cx="1029508" cy="1029508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E0D4BF3-1B57-7485-2FCD-3583F09C0A69}"/>
                    </a:ext>
                  </a:extLst>
                </p:cNvPr>
                <p:cNvSpPr/>
                <p:nvPr/>
              </p:nvSpPr>
              <p:spPr>
                <a:xfrm>
                  <a:off x="701158" y="1674992"/>
                  <a:ext cx="1029508" cy="102950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90FE9709-BC5A-BA85-B59A-552ADA271CD1}"/>
                    </a:ext>
                  </a:extLst>
                </p:cNvPr>
                <p:cNvSpPr/>
                <p:nvPr/>
              </p:nvSpPr>
              <p:spPr>
                <a:xfrm>
                  <a:off x="792380" y="1768048"/>
                  <a:ext cx="837743" cy="837743"/>
                </a:xfrm>
                <a:prstGeom prst="ellipse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B3640-430B-6AAC-A6EB-9826FCFBF83C}"/>
                  </a:ext>
                </a:extLst>
              </p:cNvPr>
              <p:cNvSpPr txBox="1"/>
              <p:nvPr/>
            </p:nvSpPr>
            <p:spPr>
              <a:xfrm>
                <a:off x="734643" y="1995689"/>
                <a:ext cx="776798" cy="4770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>
                    <a:solidFill>
                      <a:schemeClr val="accent5"/>
                    </a:solidFill>
                    <a:latin typeface="+mj-lt"/>
                  </a:rPr>
                  <a:t>1</a:t>
                </a:r>
              </a:p>
            </p:txBody>
          </p:sp>
        </p:grp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06BE9D92-BB09-8754-0523-6EB4295A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Frequently used Ollama API Endpoints</a:t>
            </a:r>
            <a:br>
              <a:rPr lang="en-US" sz="1000" i="1" dirty="0"/>
            </a:br>
            <a:endParaRPr lang="en-US" sz="10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715AD-BF9A-B30D-E59E-E9FFAF2DB43B}"/>
              </a:ext>
            </a:extLst>
          </p:cNvPr>
          <p:cNvSpPr txBox="1"/>
          <p:nvPr/>
        </p:nvSpPr>
        <p:spPr>
          <a:xfrm>
            <a:off x="731533" y="5818242"/>
            <a:ext cx="8519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hlinkClick r:id="rId2"/>
              </a:rPr>
              <a:t>https://github.com/ollama/ollama/blob/main/docs/api.md#create-a-model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5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075876-DF50-8080-9F6B-0C0E27752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Links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5E9468-7C7F-E235-1BB8-D9A6454E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5922"/>
              </p:ext>
            </p:extLst>
          </p:nvPr>
        </p:nvGraphicFramePr>
        <p:xfrm>
          <a:off x="381000" y="727498"/>
          <a:ext cx="9933878" cy="538865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69207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364671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Lumen 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https://centurylink.sharepoint.com/sites/ILLegalCorpAdmin/SitePages/AI-Governance.aspx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email: DL-AI-Governance &lt;</a:t>
                      </a:r>
                      <a:r>
                        <a:rPr lang="en-US" dirty="0" err="1"/>
                        <a:t>DL-AI-Governance@lumen.com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Ollama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https://ollama.com/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54871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Ollama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https://github.com/ollama/ollama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Ollama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https://ollama.readthedocs.io/en/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900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Ollama Model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https://github.com/ollama/ollama/blob/main/docs/modelfile.md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JavaScript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https://github.com/ollama/ollama-js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18009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Python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linkClick r:id="rId8"/>
                        </a:rPr>
                        <a:t>https://github.com/ollama/ollama-python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85420"/>
                  </a:ext>
                </a:extLst>
              </a:tr>
              <a:tr h="450895">
                <a:tc>
                  <a:txBody>
                    <a:bodyPr/>
                    <a:lstStyle/>
                    <a:p>
                      <a:r>
                        <a:rPr lang="en-US" dirty="0" err="1"/>
                        <a:t>LangChan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https://python.langchain.com/docs/integrations/chat/ollama/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97082"/>
                  </a:ext>
                </a:extLst>
              </a:tr>
              <a:tr h="450895">
                <a:tc>
                  <a:txBody>
                    <a:bodyPr/>
                    <a:lstStyle/>
                    <a:p>
                      <a:r>
                        <a:rPr lang="en-US" dirty="0" err="1"/>
                        <a:t>LangChan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Embeding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10"/>
                        </a:rPr>
                        <a:t>https://python.langchain.com/docs/integrations/text_embedding/ollama/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27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41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EDF5-0C56-B338-DA35-0A2E8066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AA256D-FBF8-2B6B-1534-D48AD40D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Links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699757-D519-AE36-99FC-4CB8D4D2C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734017"/>
              </p:ext>
            </p:extLst>
          </p:nvPr>
        </p:nvGraphicFramePr>
        <p:xfrm>
          <a:off x="381000" y="727498"/>
          <a:ext cx="10003854" cy="516638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108254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Link to Jupyter Notebooks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hlinkClick r:id="rId3"/>
                        </a:rPr>
                        <a:t>SpringSummit26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Fine Tuned Model Used in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https://github.com/molbal/llm-text-completion-finetune?tab=readme-ov-file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r>
                        <a:rPr lang="en-US" dirty="0"/>
                        <a:t>Learn about </a:t>
                      </a:r>
                      <a:r>
                        <a:rPr lang="en-US" dirty="0" err="1"/>
                        <a:t>llama.cpp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https://en.wikipedia.org/wiki/Llama.cpp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 err="1"/>
                        <a:t>Llama.cpp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github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https://github.com/ggml-org/llama.cpp?tab=readme-ov-file - llamacpp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3884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Meta explanation of updated Tokenization using </a:t>
                      </a:r>
                      <a:r>
                        <a:rPr lang="en-US" dirty="0" err="1"/>
                        <a:t>Tiktoken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https://www.youtube.com/watch?v=Tmdk_H2WDj4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18009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Walk thru &amp; explanation of quantization.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8"/>
                        </a:rPr>
                        <a:t>https://www.youtube.com/playlist?list=PLcp6ZnH4WYlZOXUK-6V2iaZ6SeoxhC8Dg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005859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Chunking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https://www.youtube.com/watch?v=ZTOtxiWb2bE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96256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What is a vector </a:t>
                      </a:r>
                      <a:r>
                        <a:rPr lang="en-US" dirty="0" err="1"/>
                        <a:t>db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10"/>
                        </a:rPr>
                        <a:t>https://www.youtube.com/watch?v=Yhv19le0sBw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84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81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5F33-A23F-FF34-5EBA-9275D476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9F569A-57E3-8197-0980-E1214BDC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Links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B5E353-5C8B-D748-2C0A-17F43A4E4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08336"/>
              </p:ext>
            </p:extLst>
          </p:nvPr>
        </p:nvGraphicFramePr>
        <p:xfrm>
          <a:off x="381000" y="727498"/>
          <a:ext cx="10003854" cy="347476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108254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 err="1"/>
                        <a:t>Podman</a:t>
                      </a:r>
                      <a:endParaRPr lang="en-US" dirty="0"/>
                    </a:p>
                    <a:p>
                      <a:r>
                        <a:rPr lang="en-US" sz="1200" i="1" dirty="0"/>
                        <a:t>(container)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https://podman.io/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r>
                        <a:rPr lang="en-US" dirty="0"/>
                        <a:t>Visual Studio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https://code.visualstudio.com/Download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900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r>
                        <a:rPr lang="en-US" sz="1800" i="0" dirty="0"/>
                        <a:t>VS Code Jupyter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https://marketplace.visualstudio.com/items?itemName=ms-toolsai.jupyter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76637"/>
                  </a:ext>
                </a:extLst>
              </a:tr>
              <a:tr h="594381">
                <a:tc>
                  <a:txBody>
                    <a:bodyPr/>
                    <a:lstStyle/>
                    <a:p>
                      <a:r>
                        <a:rPr lang="en-US" sz="1800" i="0" dirty="0"/>
                        <a:t>Jupyter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https://</a:t>
                      </a:r>
                      <a:r>
                        <a:rPr lang="en-US" dirty="0" err="1">
                          <a:hlinkClick r:id="rId6"/>
                        </a:rPr>
                        <a:t>docs.jupyter.org</a:t>
                      </a:r>
                      <a:r>
                        <a:rPr lang="en-US" dirty="0">
                          <a:hlinkClick r:id="rId6"/>
                        </a:rPr>
                        <a:t>/</a:t>
                      </a:r>
                      <a:r>
                        <a:rPr lang="en-US" dirty="0" err="1">
                          <a:hlinkClick r:id="rId6"/>
                        </a:rPr>
                        <a:t>en</a:t>
                      </a:r>
                      <a:r>
                        <a:rPr lang="en-US" dirty="0">
                          <a:hlinkClick r:id="rId6"/>
                        </a:rPr>
                        <a:t>/latest/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https://www.python.org/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3884"/>
                  </a:ext>
                </a:extLst>
              </a:tr>
              <a:tr h="356629">
                <a:tc>
                  <a:txBody>
                    <a:bodyPr/>
                    <a:lstStyle/>
                    <a:p>
                      <a:r>
                        <a:rPr lang="en-US" dirty="0"/>
                        <a:t>Hugging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8"/>
                        </a:rPr>
                        <a:t>https://huggingface.co/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1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405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8E50-304E-EAF0-F617-C6EC24DB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DA5B444-96F6-1F95-0E62-0A6F0D74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Recording Highlights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D9C8C0-D7ED-83C6-6501-98C2AC6FC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899790"/>
              </p:ext>
            </p:extLst>
          </p:nvPr>
        </p:nvGraphicFramePr>
        <p:xfrm>
          <a:off x="381000" y="727498"/>
          <a:ext cx="9933878" cy="398019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266878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Prerequisites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00:00 - 08:00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What is Ollama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8:00 -15:45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54871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Downloading &amp; Exploring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15:46 - 30:46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92241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30:46 - 36:00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900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What’s in the Notebooks, some definitions, and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36:00 - 40:22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86572"/>
                  </a:ext>
                </a:extLst>
              </a:tr>
              <a:tr h="4508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97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039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CF4E4-404A-CC29-2475-3776BE9F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8EC111D-283F-6B74-7AD0-8AE93940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6087"/>
            <a:ext cx="6262396" cy="315289"/>
          </a:xfrm>
        </p:spPr>
        <p:txBody>
          <a:bodyPr>
            <a:noAutofit/>
          </a:bodyPr>
          <a:lstStyle/>
          <a:p>
            <a:r>
              <a:rPr lang="en-US" sz="2000" dirty="0"/>
              <a:t>Recording Highlights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5D48F7-DAF1-2B10-DC03-F10D63C1B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285512"/>
              </p:ext>
            </p:extLst>
          </p:nvPr>
        </p:nvGraphicFramePr>
        <p:xfrm>
          <a:off x="381000" y="727498"/>
          <a:ext cx="9933878" cy="3566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16267787"/>
                    </a:ext>
                  </a:extLst>
                </a:gridCol>
                <a:gridCol w="7266878">
                  <a:extLst>
                    <a:ext uri="{9D8B030D-6E8A-4147-A177-3AD203B41FA5}">
                      <a16:colId xmlns:a16="http://schemas.microsoft.com/office/drawing/2014/main" val="130508754"/>
                    </a:ext>
                  </a:extLst>
                </a:gridCol>
              </a:tblGrid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308296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r>
                        <a:rPr lang="en-US" dirty="0"/>
                        <a:t>Demo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Notebook</a:t>
                      </a:r>
                      <a:br>
                        <a:rPr lang="en-US" dirty="0"/>
                      </a:br>
                      <a:r>
                        <a:rPr lang="en-US" i="1" dirty="0" err="1"/>
                        <a:t>promptEngineering_example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40:22-01:07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Prompt comparisons: 40:22 - 47:15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API call – tags: 51:10 - 52:15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API call – chat: 52:15 – 54:45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Interpretation Instructions w/ sample logs: 54:45 – 01:01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Working with an image: 01:01 – 01:04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Few-Shot example: 01:04 – 01:07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83372"/>
                  </a:ext>
                </a:extLst>
              </a:tr>
              <a:tr h="355230">
                <a:tc>
                  <a:txBody>
                    <a:bodyPr/>
                    <a:lstStyle/>
                    <a:p>
                      <a:r>
                        <a:rPr lang="en-US" dirty="0"/>
                        <a:t>Demo 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Notebook</a:t>
                      </a:r>
                    </a:p>
                    <a:p>
                      <a:r>
                        <a:rPr lang="en-US" i="1" dirty="0" err="1"/>
                        <a:t>rag_example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01:07-01:19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Adding the embedding model and Chunking: 01:07 – 01:08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Vector Indexing: 01:09 – 01:10</a:t>
                      </a:r>
                    </a:p>
                    <a:p>
                      <a:pPr marL="285750" indent="-285750">
                        <a:buFont typeface="Wingdings" pitchFamily="2" charset="2"/>
                        <a:buChar char="Ø"/>
                      </a:pPr>
                      <a:r>
                        <a:rPr lang="en-US" dirty="0"/>
                        <a:t>Redacting: 01:12 – 01:19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54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94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1E7BF-3957-B764-6A49-9614D5DE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457200"/>
            <a:ext cx="83058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12827"/>
      </p:ext>
    </p:extLst>
  </p:cSld>
  <p:clrMapOvr>
    <a:masterClrMapping/>
  </p:clrMapOvr>
</p:sld>
</file>

<file path=ppt/theme/theme1.xml><?xml version="1.0" encoding="utf-8"?>
<a:theme xmlns:a="http://schemas.openxmlformats.org/drawingml/2006/main" name="4_Lumen24">
  <a:themeElements>
    <a:clrScheme name="Lumen24v2 2">
      <a:dk1>
        <a:srgbClr val="000000"/>
      </a:dk1>
      <a:lt1>
        <a:srgbClr val="FFFFFF"/>
      </a:lt1>
      <a:dk2>
        <a:srgbClr val="0F3033"/>
      </a:dk2>
      <a:lt2>
        <a:srgbClr val="E7E6E6"/>
      </a:lt2>
      <a:accent1>
        <a:srgbClr val="0E3033"/>
      </a:accent1>
      <a:accent2>
        <a:srgbClr val="FB8328"/>
      </a:accent2>
      <a:accent3>
        <a:srgbClr val="CFD3D9"/>
      </a:accent3>
      <a:accent4>
        <a:srgbClr val="F85E48"/>
      </a:accent4>
      <a:accent5>
        <a:srgbClr val="B2FFF6"/>
      </a:accent5>
      <a:accent6>
        <a:srgbClr val="36C6C6"/>
      </a:accent6>
      <a:hlink>
        <a:srgbClr val="0563C1"/>
      </a:hlink>
      <a:folHlink>
        <a:srgbClr val="954F72"/>
      </a:folHlink>
    </a:clrScheme>
    <a:fontScheme name="Avena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umen24" id="{5CE95256-FB4C-B744-B262-25F8CC9FA428}" vid="{31F9C14B-1DC9-824F-9A28-06D0A3D6F3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92d33a7-ad4f-4d10-b52e-e5eb792ba797">
      <UserInfo>
        <DisplayName>Allison, Katharine</DisplayName>
        <AccountId>122</AccountId>
        <AccountType/>
      </UserInfo>
      <UserInfo>
        <DisplayName>Labbe, Andrew</DisplayName>
        <AccountId>74</AccountId>
        <AccountType/>
      </UserInfo>
      <UserInfo>
        <DisplayName>Scheer, Jenny</DisplayName>
        <AccountId>67</AccountId>
        <AccountType/>
      </UserInfo>
      <UserInfo>
        <DisplayName>Davis, Craig</DisplayName>
        <AccountId>107</AccountId>
        <AccountType/>
      </UserInfo>
      <UserInfo>
        <DisplayName>Povirk, Kim J</DisplayName>
        <AccountId>110</AccountId>
        <AccountType/>
      </UserInfo>
      <UserInfo>
        <DisplayName>Johnson, Joshua</DisplayName>
        <AccountId>105</AccountId>
        <AccountType/>
      </UserInfo>
      <UserInfo>
        <DisplayName>Hutchins, Steve C</DisplayName>
        <AccountId>125</AccountId>
        <AccountType/>
      </UserInfo>
      <UserInfo>
        <DisplayName>Barrows, Jay</DisplayName>
        <AccountId>89</AccountId>
        <AccountType/>
      </UserInfo>
      <UserInfo>
        <DisplayName>Shazab, Shanil</DisplayName>
        <AccountId>51</AccountId>
        <AccountType/>
      </UserInfo>
      <UserInfo>
        <DisplayName>Figueroa, LaGina</DisplayName>
        <AccountId>128</AccountId>
        <AccountType/>
      </UserInfo>
      <UserInfo>
        <DisplayName>Boeggeman, Brian</DisplayName>
        <AccountId>84</AccountId>
        <AccountType/>
      </UserInfo>
      <UserInfo>
        <DisplayName>Haynes-Gaspar, Ashley</DisplayName>
        <AccountId>15</AccountId>
        <AccountType/>
      </UserInfo>
      <UserInfo>
        <DisplayName>Redding, Erin</DisplayName>
        <AccountId>10</AccountId>
        <AccountType/>
      </UserInfo>
      <UserInfo>
        <DisplayName>Crews, Carey Leigh</DisplayName>
        <AccountId>28</AccountId>
        <AccountType/>
      </UserInfo>
      <UserInfo>
        <DisplayName>Bandar, Anne</DisplayName>
        <AccountId>11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0F7A955F56E46AC1272FAA0B8ADB6" ma:contentTypeVersion="11" ma:contentTypeDescription="Create a new document." ma:contentTypeScope="" ma:versionID="315b24d9dd272892108d24d986ecd767">
  <xsd:schema xmlns:xsd="http://www.w3.org/2001/XMLSchema" xmlns:xs="http://www.w3.org/2001/XMLSchema" xmlns:p="http://schemas.microsoft.com/office/2006/metadata/properties" xmlns:ns2="006f29d7-22ce-4f85-a41b-3cfd3457d55e" xmlns:ns3="792d33a7-ad4f-4d10-b52e-e5eb792ba797" targetNamespace="http://schemas.microsoft.com/office/2006/metadata/properties" ma:root="true" ma:fieldsID="b278361e8229966e16cabc8b73c4eea1" ns2:_="" ns3:_="">
    <xsd:import namespace="006f29d7-22ce-4f85-a41b-3cfd3457d55e"/>
    <xsd:import namespace="792d33a7-ad4f-4d10-b52e-e5eb792ba7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6f29d7-22ce-4f85-a41b-3cfd3457d5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d33a7-ad4f-4d10-b52e-e5eb792ba79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58AC84-0742-41EF-9CFC-0011BE4BD831}">
  <ds:schemaRefs>
    <ds:schemaRef ds:uri="792d33a7-ad4f-4d10-b52e-e5eb792ba797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006f29d7-22ce-4f85-a41b-3cfd3457d55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64D1736-BF41-4F70-A805-9FF15E1049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12D4B6-0164-4583-920F-893357ED7CEC}">
  <ds:schemaRefs>
    <ds:schemaRef ds:uri="006f29d7-22ce-4f85-a41b-3cfd3457d55e"/>
    <ds:schemaRef ds:uri="792d33a7-ad4f-4d10-b52e-e5eb792ba79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7bd1f64-4ecb-43d7-94b5-4669091ae21c}" enabled="1" method="Privileged" siteId="{72b17115-9915-42c0-9f1b-4f98e5a4bcd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30364</TotalTime>
  <Words>1567</Words>
  <Application>Microsoft Macintosh PowerPoint</Application>
  <PresentationFormat>Widescreen</PresentationFormat>
  <Paragraphs>287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ADLaM Display</vt:lpstr>
      <vt:lpstr>Arial</vt:lpstr>
      <vt:lpstr>Avenir Next LT Pro</vt:lpstr>
      <vt:lpstr>Avenir Next LT Pro Demi</vt:lpstr>
      <vt:lpstr>System Font Regular</vt:lpstr>
      <vt:lpstr>Wingdings</vt:lpstr>
      <vt:lpstr>4_Lumen24</vt:lpstr>
      <vt:lpstr>PowerPoint Presentation</vt:lpstr>
      <vt:lpstr>Things We Will Cover</vt:lpstr>
      <vt:lpstr>What is Ollama</vt:lpstr>
      <vt:lpstr>Model Types Available for Use With Ollama</vt:lpstr>
      <vt:lpstr>PowerPoint Presentation</vt:lpstr>
      <vt:lpstr>PowerPoint Presentation</vt:lpstr>
      <vt:lpstr>CHECK HERE FIRST!</vt:lpstr>
      <vt:lpstr>Jupyter Notebooks</vt:lpstr>
      <vt:lpstr>What variables make a model yours</vt:lpstr>
      <vt:lpstr>Frequently used Ollama API Endpoints </vt:lpstr>
      <vt:lpstr>Links</vt:lpstr>
      <vt:lpstr>Links</vt:lpstr>
      <vt:lpstr>Links</vt:lpstr>
      <vt:lpstr>Recording Highlights</vt:lpstr>
      <vt:lpstr>Recording Highlights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Lumen25 PowerPoint Presentation</dc:title>
  <dc:subject/>
  <dc:creator>Lumen Brand Team</dc:creator>
  <cp:keywords/>
  <dc:description/>
  <cp:lastModifiedBy>Maxey, Gabrielle</cp:lastModifiedBy>
  <cp:revision>36</cp:revision>
  <dcterms:created xsi:type="dcterms:W3CDTF">2024-01-11T21:16:32Z</dcterms:created>
  <dcterms:modified xsi:type="dcterms:W3CDTF">2026-03-09T16:24:38Z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0x0101002E50F7A955F56E46AC1272FAA0B8ADB6</vt:lpwstr>
  </property>
</Properties>
</file>